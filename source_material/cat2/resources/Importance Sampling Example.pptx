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5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Importance Sampling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 1</a:t>
            </a:r>
            <a:endParaRPr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Let’s assume:𝑝(𝑥) is a standard normal distribution 𝑁(0,1), 𝑞(𝑥) is a normal distribution 𝑁(1,1). We want to estimate 𝐸</a:t>
                </a:r>
                <a:r>
                  <a:rPr lang="en-US" baseline="-25000" dirty="0"/>
                  <a:t>𝑝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] meaning 𝑓(𝑥)=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baseline="30000" dirty="0"/>
              </a:p>
              <a:p>
                <a:pPr marL="0" indent="0">
                  <a:buNone/>
                </a:pPr>
                <a:r>
                  <a:rPr lang="en-US" dirty="0" smtClean="0">
                    <a:solidFill>
                      <a:srgbClr val="FF0000"/>
                    </a:solidFill>
                  </a:rPr>
                  <a:t>Solution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dirty="0" smtClean="0"/>
                  <a:t>Target </a:t>
                </a:r>
                <a:r>
                  <a:rPr dirty="0"/>
                  <a:t>distribution: p(x) = N(0,1)</a:t>
                </a:r>
              </a:p>
              <a:p>
                <a:r>
                  <a:rPr dirty="0"/>
                  <a:t>Proposal distribution: q(x) = N(1,1)</a:t>
                </a:r>
              </a:p>
              <a:p>
                <a:r>
                  <a:rPr dirty="0"/>
                  <a:t>Function: f(x)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dirty="0" smtClean="0"/>
              </a:p>
              <a:p>
                <a:r>
                  <a:rPr dirty="0" smtClean="0"/>
                  <a:t>Estimate Ep[f(X</a:t>
                </a:r>
                <a:r>
                  <a:rPr dirty="0"/>
                  <a:t>)] using Importance Sampling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100" b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/>
              <a:t>Step 1: </a:t>
            </a:r>
            <a:r>
              <a:rPr lang="en-US" sz="2800" b="1" dirty="0"/>
              <a:t>Write the probability density functions</a:t>
            </a:r>
            <a:endParaRPr sz="28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024" y="1734407"/>
            <a:ext cx="3026013" cy="2190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/>
              <a:t>Step 2: </a:t>
            </a:r>
            <a:r>
              <a:rPr lang="en-IN" sz="2800" b="1" dirty="0"/>
              <a:t>Compute </a:t>
            </a:r>
            <a:r>
              <a:rPr lang="en-IN" sz="2800" b="1" dirty="0" smtClean="0"/>
              <a:t>the </a:t>
            </a:r>
            <a:r>
              <a:rPr sz="2800" b="1" dirty="0" smtClean="0"/>
              <a:t>Importance </a:t>
            </a:r>
            <a:r>
              <a:rPr sz="2800" b="1" dirty="0"/>
              <a:t>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Importance weight definition</a:t>
            </a:r>
          </a:p>
          <a:p>
            <a:r>
              <a:rPr dirty="0"/>
              <a:t>w(x) = p(x) / q(x</a:t>
            </a:r>
            <a:r>
              <a:rPr dirty="0" smtClean="0"/>
              <a:t>)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604" y="2166425"/>
            <a:ext cx="3704589" cy="4691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523"/>
            <a:ext cx="8229600" cy="623647"/>
          </a:xfrm>
        </p:spPr>
        <p:txBody>
          <a:bodyPr>
            <a:normAutofit/>
          </a:bodyPr>
          <a:lstStyle/>
          <a:p>
            <a:r>
              <a:rPr sz="2800" b="1" dirty="0"/>
              <a:t>Step 3: Draw Samples from q(x)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6437"/>
            <a:ext cx="8229600" cy="5000747"/>
          </a:xfrm>
        </p:spPr>
        <p:txBody>
          <a:bodyPr/>
          <a:lstStyle/>
          <a:p>
            <a:r>
              <a:rPr lang="en-US" dirty="0" smtClean="0"/>
              <a:t>use</a:t>
            </a:r>
            <a:r>
              <a:rPr dirty="0" smtClean="0"/>
              <a:t> </a:t>
            </a:r>
            <a:r>
              <a:rPr dirty="0"/>
              <a:t>N = 5 samples from q(x) = N(1,1)</a:t>
            </a:r>
          </a:p>
          <a:p>
            <a:r>
              <a:rPr dirty="0"/>
              <a:t>Example samples: 0.5, 1.2, 0.8, 1.5, 2.0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637" y="1731782"/>
            <a:ext cx="84560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Step 4: Compute Function Values, Importance </a:t>
            </a:r>
            <a:r>
              <a:rPr lang="en-IN" sz="2800" b="1" dirty="0" smtClean="0"/>
              <a:t>Weights,</a:t>
            </a:r>
            <a:r>
              <a:rPr lang="en-IN" sz="2800" dirty="0"/>
              <a:t> </a:t>
            </a:r>
            <a:endParaRPr lang="en-IN" sz="2800" dirty="0" smtClean="0"/>
          </a:p>
          <a:p>
            <a:r>
              <a:rPr lang="en-IN" sz="2800" b="1" dirty="0"/>
              <a:t> </a:t>
            </a:r>
            <a:r>
              <a:rPr lang="en-IN" sz="2800" b="1" dirty="0" smtClean="0"/>
              <a:t>             Weighted </a:t>
            </a:r>
            <a:r>
              <a:rPr lang="en-IN" sz="2800" b="1" dirty="0"/>
              <a:t>Values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11944"/>
              </p:ext>
            </p:extLst>
          </p:nvPr>
        </p:nvGraphicFramePr>
        <p:xfrm>
          <a:off x="1252026" y="3389911"/>
          <a:ext cx="6344528" cy="3404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6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7397">
                <a:tc>
                  <a:txBody>
                    <a:bodyPr/>
                    <a:lstStyle/>
                    <a:p>
                      <a:r>
                        <a:rPr dirty="0"/>
                        <a:t>xᵢ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f(xᵢ</a:t>
                      </a:r>
                      <a:r>
                        <a:rPr dirty="0" smtClean="0"/>
                        <a:t>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w(xᵢ)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f(xᵢ)w(xᵢ)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397"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0.7788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397">
                <a:tc>
                  <a:txBody>
                    <a:bodyPr/>
                    <a:lstStyle/>
                    <a:p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0.2369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397"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1.3499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397">
                <a:tc>
                  <a:txBody>
                    <a:bodyPr/>
                    <a:lstStyle/>
                    <a:p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2.7183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397">
                <a:tc>
                  <a:txBody>
                    <a:bodyPr/>
                    <a:lstStyle/>
                    <a:p>
                      <a:r>
                        <a:rPr dirty="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4.4817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0.0821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655" y="2839266"/>
            <a:ext cx="1238423" cy="4191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057" y="2813139"/>
            <a:ext cx="1438476" cy="4382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096" y="2881706"/>
            <a:ext cx="2114845" cy="4477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/>
              <a:t>Step 5: Estimate Expectation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9595"/>
            <a:ext cx="8229600" cy="4525963"/>
          </a:xfrm>
        </p:spPr>
        <p:txBody>
          <a:bodyPr/>
          <a:lstStyle/>
          <a:p>
            <a:r>
              <a:rPr dirty="0"/>
              <a:t>Importance sampling estimator</a:t>
            </a:r>
          </a:p>
          <a:p>
            <a:r>
              <a:rPr dirty="0" smtClean="0"/>
              <a:t>Sum </a:t>
            </a:r>
            <a:r>
              <a:rPr dirty="0"/>
              <a:t>of weighted values = </a:t>
            </a:r>
            <a:r>
              <a:rPr dirty="0" smtClean="0"/>
              <a:t>3</a:t>
            </a:r>
            <a:r>
              <a:rPr lang="en-US" dirty="0" smtClean="0"/>
              <a:t>.170</a:t>
            </a:r>
          </a:p>
          <a:p>
            <a:r>
              <a:rPr dirty="0" smtClean="0"/>
              <a:t>Estimated </a:t>
            </a:r>
            <a:r>
              <a:rPr dirty="0"/>
              <a:t>expectation ≈ </a:t>
            </a:r>
            <a:r>
              <a:rPr dirty="0" smtClean="0"/>
              <a:t>0.</a:t>
            </a:r>
            <a:r>
              <a:rPr lang="en-US" dirty="0" smtClean="0"/>
              <a:t>634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90" y="2954338"/>
            <a:ext cx="3747679" cy="22700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5224401"/>
            <a:ext cx="5845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Importance sampling successfully estimates the expectation under N(0,1</a:t>
            </a:r>
            <a:r>
              <a:rPr lang="en-US" dirty="0" smtClean="0"/>
              <a:t>) using </a:t>
            </a:r>
            <a:r>
              <a:rPr lang="en-US" dirty="0"/>
              <a:t>samples drawn from N(1,1</a:t>
            </a:r>
            <a:r>
              <a:rPr lang="en-US" dirty="0" smtClean="0"/>
              <a:t>), </a:t>
            </a:r>
            <a:r>
              <a:rPr lang="en-US" dirty="0"/>
              <a:t>giving an approximate value of 0.634.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5612"/>
            <a:ext cx="8229600" cy="65301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Example 2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1121" y="768626"/>
            <a:ext cx="9090694" cy="69865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Suppose we have one episode with the following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trajectory: </a:t>
            </a:r>
          </a:p>
          <a:p>
            <a:r>
              <a:rPr lang="en-IN" dirty="0" smtClean="0"/>
              <a:t>S</a:t>
            </a:r>
            <a:r>
              <a:rPr lang="en-IN" dirty="0"/>
              <a:t>₀ = s₁ , A₀ = a₁ , R₁ = 2</a:t>
            </a:r>
            <a:br>
              <a:rPr lang="en-IN" dirty="0"/>
            </a:br>
            <a:r>
              <a:rPr lang="en-IN" dirty="0"/>
              <a:t>S₁ = s₂ , A₁ = a₂ , R₂ = </a:t>
            </a:r>
            <a:r>
              <a:rPr lang="en-IN" dirty="0" smtClean="0"/>
              <a:t>5</a:t>
            </a:r>
          </a:p>
          <a:p>
            <a:r>
              <a:rPr lang="en-IN" b="1" dirty="0" err="1"/>
              <a:t>Behavior</a:t>
            </a:r>
            <a:r>
              <a:rPr lang="en-IN" b="1" dirty="0"/>
              <a:t> Policy (b):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b(a₁|s₁) = 0.4</a:t>
            </a:r>
          </a:p>
          <a:p>
            <a:pPr marL="0" indent="0">
              <a:buNone/>
            </a:pPr>
            <a:r>
              <a:rPr lang="en-IN" dirty="0"/>
              <a:t>b(a₂|s₂) = 0.3</a:t>
            </a:r>
          </a:p>
          <a:p>
            <a:r>
              <a:rPr lang="en-IN" b="1" dirty="0"/>
              <a:t>Target Policy (</a:t>
            </a:r>
            <a:r>
              <a:rPr lang="el-GR" b="1" dirty="0"/>
              <a:t>π):</a:t>
            </a:r>
            <a:endParaRPr lang="el-GR" dirty="0"/>
          </a:p>
          <a:p>
            <a:pPr marL="0" indent="0">
              <a:buNone/>
            </a:pPr>
            <a:r>
              <a:rPr lang="el-GR" dirty="0"/>
              <a:t>π(</a:t>
            </a:r>
            <a:r>
              <a:rPr lang="en-IN" dirty="0"/>
              <a:t>a₁|s₁) = 0.6</a:t>
            </a:r>
          </a:p>
          <a:p>
            <a:pPr marL="0" indent="0">
              <a:buNone/>
            </a:pPr>
            <a:r>
              <a:rPr lang="el-GR" dirty="0"/>
              <a:t>π(</a:t>
            </a:r>
            <a:r>
              <a:rPr lang="en-IN" dirty="0"/>
              <a:t>a₂|s₂) = 0.5</a:t>
            </a:r>
          </a:p>
          <a:p>
            <a:pPr marL="0" indent="0">
              <a:buNone/>
            </a:pPr>
            <a:r>
              <a:rPr lang="en-IN" sz="2800" dirty="0" smtClean="0"/>
              <a:t>Estimate </a:t>
            </a:r>
            <a:r>
              <a:rPr lang="en-IN" sz="2800" dirty="0"/>
              <a:t>the </a:t>
            </a:r>
            <a:r>
              <a:rPr lang="en-IN" sz="2800" b="1" dirty="0"/>
              <a:t>return using Importance Sampling</a:t>
            </a:r>
            <a:r>
              <a:rPr lang="en-IN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6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1310"/>
          </a:xfrm>
        </p:spPr>
        <p:txBody>
          <a:bodyPr>
            <a:normAutofit/>
          </a:bodyPr>
          <a:lstStyle/>
          <a:p>
            <a:r>
              <a:rPr lang="en-US" sz="2800" b="1" dirty="0"/>
              <a:t>Step 1 – Compute the Return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return of an episode is:</a:t>
            </a:r>
          </a:p>
          <a:p>
            <a:pPr marL="0" indent="0">
              <a:buNone/>
            </a:pPr>
            <a:r>
              <a:rPr lang="en-US" dirty="0" smtClean="0"/>
              <a:t>             G </a:t>
            </a:r>
            <a:r>
              <a:rPr lang="en-US" dirty="0"/>
              <a:t>= R₁ + </a:t>
            </a:r>
            <a:r>
              <a:rPr lang="en-US" dirty="0" err="1"/>
              <a:t>γR</a:t>
            </a:r>
            <a:r>
              <a:rPr lang="en-US" dirty="0"/>
              <a:t>₂</a:t>
            </a:r>
          </a:p>
          <a:p>
            <a:pPr marL="0" indent="0">
              <a:buNone/>
            </a:pPr>
            <a:r>
              <a:rPr lang="en-US" dirty="0" smtClean="0"/>
              <a:t>             Where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               γ </a:t>
            </a:r>
            <a:r>
              <a:rPr lang="en-US" dirty="0"/>
              <a:t>= discount factor = 0.9</a:t>
            </a:r>
          </a:p>
          <a:p>
            <a:r>
              <a:rPr lang="en-US" dirty="0"/>
              <a:t>Substitute the </a:t>
            </a:r>
            <a:r>
              <a:rPr lang="en-US" dirty="0" smtClean="0"/>
              <a:t>values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G </a:t>
            </a:r>
            <a:r>
              <a:rPr lang="en-US" dirty="0"/>
              <a:t>= 2 + 0.9 × 5</a:t>
            </a:r>
          </a:p>
          <a:p>
            <a:pPr marL="0" indent="0">
              <a:buNone/>
            </a:pPr>
            <a:r>
              <a:rPr lang="en-US" dirty="0" smtClean="0"/>
              <a:t>               G </a:t>
            </a:r>
            <a:r>
              <a:rPr lang="en-US" dirty="0"/>
              <a:t>= 2 + </a:t>
            </a:r>
            <a:r>
              <a:rPr lang="en-US" dirty="0" smtClean="0"/>
              <a:t>4.5</a:t>
            </a:r>
          </a:p>
          <a:p>
            <a:pPr marL="0" indent="0">
              <a:buNone/>
            </a:pPr>
            <a:r>
              <a:rPr lang="en-US" dirty="0"/>
              <a:t>Episode return under the behavior policy</a:t>
            </a:r>
          </a:p>
          <a:p>
            <a:pPr marL="0" indent="0">
              <a:buNone/>
            </a:pPr>
            <a:r>
              <a:rPr lang="en-US" dirty="0" smtClean="0"/>
              <a:t>               G </a:t>
            </a:r>
            <a:r>
              <a:rPr lang="en-US" dirty="0"/>
              <a:t>= </a:t>
            </a:r>
            <a:r>
              <a:rPr lang="en-US" b="1" dirty="0"/>
              <a:t>6.5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9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20492"/>
          </a:xfrm>
        </p:spPr>
        <p:txBody>
          <a:bodyPr>
            <a:normAutofit/>
          </a:bodyPr>
          <a:lstStyle/>
          <a:p>
            <a:r>
              <a:rPr lang="en-IN" sz="2800" b="1" dirty="0"/>
              <a:t>Step 2 – Importance Sampling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6436"/>
            <a:ext cx="8229600" cy="4999728"/>
          </a:xfrm>
        </p:spPr>
        <p:txBody>
          <a:bodyPr/>
          <a:lstStyle/>
          <a:p>
            <a:r>
              <a:rPr lang="en-IN" dirty="0" smtClean="0"/>
              <a:t>The </a:t>
            </a:r>
            <a:r>
              <a:rPr lang="en-IN" dirty="0"/>
              <a:t>importance sampling ratio is: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l-GR" dirty="0" smtClean="0"/>
              <a:t>ρ </a:t>
            </a:r>
            <a:r>
              <a:rPr lang="el-GR" dirty="0"/>
              <a:t>= ∏ ( π(</a:t>
            </a:r>
            <a:r>
              <a:rPr lang="en-IN" dirty="0"/>
              <a:t>Aₜ|Sₜ) / b(Aₜ|Sₜ) )</a:t>
            </a:r>
          </a:p>
          <a:p>
            <a:r>
              <a:rPr lang="en-IN" dirty="0"/>
              <a:t>For this </a:t>
            </a:r>
            <a:r>
              <a:rPr lang="en-IN" dirty="0" smtClean="0"/>
              <a:t>episode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l-GR" dirty="0" smtClean="0"/>
              <a:t>ρ </a:t>
            </a:r>
            <a:r>
              <a:rPr lang="el-GR" dirty="0"/>
              <a:t>= ( π(</a:t>
            </a:r>
            <a:r>
              <a:rPr lang="en-IN" dirty="0"/>
              <a:t>a₁|s₁) / b(a₁|s₁) ) × ( </a:t>
            </a:r>
            <a:r>
              <a:rPr lang="el-GR" dirty="0"/>
              <a:t>π(</a:t>
            </a:r>
            <a:r>
              <a:rPr lang="en-IN" dirty="0"/>
              <a:t>a₂|s₂) / b(a₂|s₂) 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65021"/>
            <a:ext cx="54532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/>
              <a:t>First ratio:</a:t>
            </a:r>
          </a:p>
          <a:p>
            <a:r>
              <a:rPr lang="el-GR"/>
              <a:t>π(</a:t>
            </a:r>
            <a:r>
              <a:rPr lang="en-IN"/>
              <a:t>a₁|s₁) / b(a₁|s₁)</a:t>
            </a:r>
            <a:br>
              <a:rPr lang="en-IN"/>
            </a:br>
            <a:r>
              <a:rPr lang="en-IN"/>
              <a:t>= 0.6 / 0.4</a:t>
            </a:r>
            <a:br>
              <a:rPr lang="en-IN"/>
            </a:br>
            <a:r>
              <a:rPr lang="en-IN"/>
              <a:t>= </a:t>
            </a:r>
            <a:r>
              <a:rPr lang="en-IN" b="1"/>
              <a:t>1.5</a:t>
            </a:r>
            <a:endParaRPr lang="en-IN"/>
          </a:p>
          <a:p>
            <a:r>
              <a:rPr lang="en-IN"/>
              <a:t>Second ratio:</a:t>
            </a:r>
          </a:p>
          <a:p>
            <a:r>
              <a:rPr lang="el-GR"/>
              <a:t>π(</a:t>
            </a:r>
            <a:r>
              <a:rPr lang="en-IN"/>
              <a:t>a₂|s₂) / b(a₂|s₂)</a:t>
            </a:r>
            <a:br>
              <a:rPr lang="en-IN"/>
            </a:br>
            <a:r>
              <a:rPr lang="en-IN"/>
              <a:t>= 0.5 / 0.3</a:t>
            </a:r>
            <a:br>
              <a:rPr lang="en-IN"/>
            </a:br>
            <a:r>
              <a:rPr lang="en-IN"/>
              <a:t>≈ </a:t>
            </a:r>
            <a:r>
              <a:rPr lang="en-IN" b="1"/>
              <a:t>1.67</a:t>
            </a:r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796748" y="501918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Total importance ratio:</a:t>
            </a:r>
          </a:p>
          <a:p>
            <a:r>
              <a:rPr lang="fr-FR" dirty="0"/>
              <a:t>ρ = 1.5 × 1.67</a:t>
            </a:r>
          </a:p>
          <a:p>
            <a:r>
              <a:rPr lang="fr-FR" dirty="0"/>
              <a:t>ρ ≈ </a:t>
            </a:r>
            <a:r>
              <a:rPr lang="fr-FR" b="1" dirty="0"/>
              <a:t>2.5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3642151" y="4679668"/>
            <a:ext cx="2654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Importance sampling ratio</a:t>
            </a:r>
          </a:p>
        </p:txBody>
      </p:sp>
    </p:spTree>
    <p:extLst>
      <p:ext uri="{BB962C8B-B14F-4D97-AF65-F5344CB8AC3E}">
        <p14:creationId xmlns:p14="http://schemas.microsoft.com/office/powerpoint/2010/main" val="292389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Off-Policy Return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off-policy value estimate is:</a:t>
            </a:r>
          </a:p>
          <a:p>
            <a:pPr marL="0" indent="0">
              <a:buNone/>
            </a:pPr>
            <a:r>
              <a:rPr lang="en-US" dirty="0" smtClean="0"/>
              <a:t>               V</a:t>
            </a:r>
            <a:r>
              <a:rPr lang="en-US" dirty="0"/>
              <a:t>̂ = ρ × G</a:t>
            </a:r>
          </a:p>
          <a:p>
            <a:r>
              <a:rPr lang="en-US" dirty="0"/>
              <a:t>Substitute the </a:t>
            </a:r>
            <a:r>
              <a:rPr lang="en-US" dirty="0" smtClean="0"/>
              <a:t>values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V</a:t>
            </a:r>
            <a:r>
              <a:rPr lang="en-US" dirty="0"/>
              <a:t>̂ = 2.5 × 6.5</a:t>
            </a:r>
          </a:p>
          <a:p>
            <a:pPr marL="0" indent="0">
              <a:buNone/>
            </a:pPr>
            <a:r>
              <a:rPr lang="en-US" dirty="0" smtClean="0"/>
              <a:t>  Estimated </a:t>
            </a:r>
            <a:r>
              <a:rPr lang="en-US" dirty="0"/>
              <a:t>return under the </a:t>
            </a:r>
            <a:r>
              <a:rPr lang="en-US" b="1" dirty="0"/>
              <a:t>target policy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V</a:t>
            </a:r>
            <a:r>
              <a:rPr lang="en-US" dirty="0"/>
              <a:t>̂ = </a:t>
            </a:r>
            <a:r>
              <a:rPr lang="en-US" b="1" dirty="0"/>
              <a:t>16.25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92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C1750496BA842B8CDF8D980297702" ma:contentTypeVersion="3" ma:contentTypeDescription="Create a new document." ma:contentTypeScope="" ma:versionID="25b4117b7e7c52874fef60ba29814e78">
  <xsd:schema xmlns:xsd="http://www.w3.org/2001/XMLSchema" xmlns:xs="http://www.w3.org/2001/XMLSchema" xmlns:p="http://schemas.microsoft.com/office/2006/metadata/properties" xmlns:ns2="6b7f7ae6-7a87-4d3a-a44f-b1b75ae19df5" targetNamespace="http://schemas.microsoft.com/office/2006/metadata/properties" ma:root="true" ma:fieldsID="92331ed16946a6a4687e51e0b4ac930e" ns2:_="">
    <xsd:import namespace="6b7f7ae6-7a87-4d3a-a44f-b1b75ae19d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f7ae6-7a87-4d3a-a44f-b1b75ae19d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BCC83D-DDE4-4AF9-8205-3A9E5DF790CB}"/>
</file>

<file path=customXml/itemProps2.xml><?xml version="1.0" encoding="utf-8"?>
<ds:datastoreItem xmlns:ds="http://schemas.openxmlformats.org/officeDocument/2006/customXml" ds:itemID="{61936A80-CE38-4BED-8B82-38D5970986D5}"/>
</file>

<file path=customXml/itemProps3.xml><?xml version="1.0" encoding="utf-8"?>
<ds:datastoreItem xmlns:ds="http://schemas.openxmlformats.org/officeDocument/2006/customXml" ds:itemID="{5DBE51D0-C5A0-4447-B7E1-97AA52E63DCD}"/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570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Importance Sampling Example</vt:lpstr>
      <vt:lpstr>Example 1</vt:lpstr>
      <vt:lpstr>Step 1: Write the probability density functions</vt:lpstr>
      <vt:lpstr>Step 2: Compute the Importance Weight</vt:lpstr>
      <vt:lpstr>Step 3: Draw Samples from q(x)</vt:lpstr>
      <vt:lpstr>Step 5: Estimate Expectation</vt:lpstr>
      <vt:lpstr>Example 2</vt:lpstr>
      <vt:lpstr>Step 1 – Compute the Return</vt:lpstr>
      <vt:lpstr>Step 2 – Importance Sampling Ratio</vt:lpstr>
      <vt:lpstr>Off-Policy Return Estimate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Sampling Example</dc:title>
  <dc:subject/>
  <dc:creator>delll</dc:creator>
  <cp:keywords/>
  <dc:description>generated using python-pptx</dc:description>
  <cp:lastModifiedBy>delll</cp:lastModifiedBy>
  <cp:revision>11</cp:revision>
  <dcterms:created xsi:type="dcterms:W3CDTF">2013-01-27T09:14:16Z</dcterms:created>
  <dcterms:modified xsi:type="dcterms:W3CDTF">2026-03-18T05:14:23Z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0x01010004FC1750496BA842B8CDF8D980297702</vt:lpwstr>
  </property>
</Properties>
</file>
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3"/>
  </p:notesMasterIdLst>
  <p:sldIdLst>
    <p:sldId id="585" r:id="rId5"/>
    <p:sldId id="259" r:id="rId6"/>
    <p:sldId id="586" r:id="rId7"/>
    <p:sldId id="587" r:id="rId8"/>
    <p:sldId id="619" r:id="rId9"/>
    <p:sldId id="594" r:id="rId10"/>
    <p:sldId id="595" r:id="rId11"/>
    <p:sldId id="609" r:id="rId12"/>
    <p:sldId id="610" r:id="rId13"/>
    <p:sldId id="596" r:id="rId14"/>
    <p:sldId id="597" r:id="rId15"/>
    <p:sldId id="614" r:id="rId16"/>
    <p:sldId id="613" r:id="rId17"/>
    <p:sldId id="620" r:id="rId18"/>
    <p:sldId id="618" r:id="rId19"/>
    <p:sldId id="621" r:id="rId20"/>
    <p:sldId id="622" r:id="rId21"/>
    <p:sldId id="59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3F091-54B8-4C54-A889-837C3D11187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6096A8-260D-4569-A24C-A710FFFEEE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17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B3DD3EA-5372-5F45-9EB0-1B41863C701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BD522E6-407B-3141-A6A0-805FAD6796A0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53456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DD3EA-5372-5F45-9EB0-1B41863C701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22E6-407B-3141-A6A0-805FAD67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47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3DD3EA-5372-5F45-9EB0-1B41863C701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D522E6-407B-3141-A6A0-805FAD6796A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408036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DD3EA-5372-5F45-9EB0-1B41863C701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22E6-407B-3141-A6A0-805FAD67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3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DD3EA-5372-5F45-9EB0-1B41863C701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22E6-407B-3141-A6A0-805FAD67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40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DD3EA-5372-5F45-9EB0-1B41863C701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22E6-407B-3141-A6A0-805FAD67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5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DD3EA-5372-5F45-9EB0-1B41863C701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22E6-407B-3141-A6A0-805FAD67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0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3DD3EA-5372-5F45-9EB0-1B41863C701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D522E6-407B-3141-A6A0-805FAD6796A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49773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3DD3EA-5372-5F45-9EB0-1B41863C701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D522E6-407B-3141-A6A0-805FAD6796A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06448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DD3EA-5372-5F45-9EB0-1B41863C701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22E6-407B-3141-A6A0-805FAD67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78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DD3EA-5372-5F45-9EB0-1B41863C701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22E6-407B-3141-A6A0-805FAD67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8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2B3DD3EA-5372-5F45-9EB0-1B41863C701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BD522E6-407B-3141-A6A0-805FAD6796A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1484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6B1D31-C4E7-8A73-DE3F-694072EBD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0800" y="1341120"/>
            <a:ext cx="10454640" cy="3142597"/>
          </a:xfrm>
        </p:spPr>
        <p:txBody>
          <a:bodyPr>
            <a:noAutofit/>
          </a:bodyPr>
          <a:lstStyle/>
          <a:p>
            <a:pPr algn="l"/>
            <a:r>
              <a:rPr lang="en-US" sz="4000" b="1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CSE4037 </a:t>
            </a:r>
          </a:p>
          <a:p>
            <a:pPr algn="l"/>
            <a:r>
              <a:rPr lang="en-US" sz="4000" b="1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REINFORCEMENT LEARNING</a:t>
            </a:r>
          </a:p>
          <a:p>
            <a:pPr algn="l"/>
            <a:endParaRPr lang="en-US" sz="3000" b="1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en-IN" sz="3200" b="1" dirty="0">
                <a:solidFill>
                  <a:srgbClr val="FF0000"/>
                </a:solidFill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MONTE CARLO</a:t>
            </a:r>
          </a:p>
          <a:p>
            <a:pPr algn="just"/>
            <a:r>
              <a:rPr lang="en-IN" sz="3200" b="1" dirty="0">
                <a:solidFill>
                  <a:srgbClr val="FF0000"/>
                </a:solidFill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COMPONENTS</a:t>
            </a:r>
          </a:p>
          <a:p>
            <a:pPr algn="just"/>
            <a:endParaRPr lang="en-IN" sz="3200" b="1" dirty="0">
              <a:solidFill>
                <a:srgbClr val="FF0000"/>
              </a:solidFill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146" name="Picture 2" descr="GIPHY Engineering | » Part 2: Computer Vision @ GIPHY: How we Created an  AutoTagging Model Using Deep Learning » Part 2: Computer Vision @ GIPHY:  How we Created an AutoTagging Model Using Deep Learning">
            <a:extLst>
              <a:ext uri="{FF2B5EF4-FFF2-40B4-BE49-F238E27FC236}">
                <a16:creationId xmlns:a16="http://schemas.microsoft.com/office/drawing/2014/main" id="{BAC11B92-7D2F-1D38-29A5-997E2829E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360" y="96520"/>
            <a:ext cx="3738880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02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446B-C04B-6AE3-530E-0FF5E11F6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2720"/>
            <a:ext cx="10403840" cy="1998980"/>
          </a:xfrm>
        </p:spPr>
        <p:txBody>
          <a:bodyPr/>
          <a:lstStyle/>
          <a:p>
            <a:pPr algn="ctr"/>
            <a:r>
              <a:rPr lang="en-US" dirty="0"/>
              <a:t>Module No. 3 </a:t>
            </a:r>
            <a:br>
              <a:rPr lang="en-US" dirty="0"/>
            </a:br>
            <a:r>
              <a:rPr lang="en-IN" dirty="0"/>
              <a:t>Deep Reinforcement Learning – 8 Hours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B5889-C715-DE89-F8F4-3E6322765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66240"/>
            <a:ext cx="10210800" cy="4201160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Dynamic Programming</a:t>
            </a:r>
          </a:p>
          <a:p>
            <a:pPr algn="just"/>
            <a:r>
              <a:rPr lang="en-IN" sz="24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Monte Carlo</a:t>
            </a:r>
          </a:p>
          <a:p>
            <a:pPr algn="just"/>
            <a:r>
              <a:rPr lang="en-IN" sz="24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Components</a:t>
            </a:r>
          </a:p>
          <a:p>
            <a:pPr algn="just"/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Control in Monte Carlo</a:t>
            </a:r>
          </a:p>
          <a:p>
            <a:pPr algn="just"/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LPI Convergence</a:t>
            </a:r>
          </a:p>
          <a:p>
            <a:pPr algn="just"/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Value Iteration</a:t>
            </a:r>
          </a:p>
          <a:p>
            <a:pPr algn="just"/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Policy Iteration</a:t>
            </a:r>
          </a:p>
          <a:p>
            <a:pPr algn="just"/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Q-Learning</a:t>
            </a:r>
          </a:p>
          <a:p>
            <a:pPr algn="just"/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Q-learning with deep networks, Double Q learning, replay memory, Deep NN Architectures for RL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906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A319-6AE5-DA38-2A32-DD7ED363A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b="1" dirty="0">
                <a:solidFill>
                  <a:srgbClr val="242424"/>
                </a:solidFill>
                <a:latin typeface="sohne"/>
              </a:rPr>
              <a:t>Monte Carlo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C3217-5BF2-26F0-863C-0E11CDA4F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0" i="0" dirty="0">
                <a:solidFill>
                  <a:srgbClr val="202124"/>
                </a:solidFill>
                <a:effectLst/>
                <a:latin typeface="Google Sans"/>
              </a:rPr>
              <a:t>The Monte Carlo method for reinforcement learning </a:t>
            </a:r>
            <a:r>
              <a:rPr lang="en-US" sz="2800" b="0" i="0" dirty="0">
                <a:solidFill>
                  <a:srgbClr val="040C28"/>
                </a:solidFill>
                <a:effectLst/>
                <a:latin typeface="Google Sans"/>
              </a:rPr>
              <a:t>learns directly from episodes of experience without any prior knowledge of MDP transitions</a:t>
            </a:r>
            <a:r>
              <a:rPr lang="en-US" sz="2800" b="0" i="0" dirty="0">
                <a:solidFill>
                  <a:srgbClr val="202124"/>
                </a:solidFill>
                <a:effectLst/>
                <a:latin typeface="Google Sans"/>
              </a:rPr>
              <a:t>. Here, the random component is the return or reward. </a:t>
            </a:r>
          </a:p>
          <a:p>
            <a:pPr algn="just"/>
            <a:endParaRPr lang="en-US" sz="2800" dirty="0">
              <a:solidFill>
                <a:srgbClr val="202124"/>
              </a:solidFill>
              <a:latin typeface="Google Sans"/>
            </a:endParaRPr>
          </a:p>
          <a:p>
            <a:pPr algn="just"/>
            <a:r>
              <a:rPr lang="en-US" sz="2800" i="1" dirty="0">
                <a:solidFill>
                  <a:srgbClr val="383838"/>
                </a:solidFill>
                <a:latin typeface="Inter"/>
              </a:rPr>
              <a:t>I</a:t>
            </a:r>
            <a:r>
              <a:rPr lang="en-US" sz="2800" b="0" i="1" dirty="0">
                <a:solidFill>
                  <a:srgbClr val="383838"/>
                </a:solidFill>
                <a:effectLst/>
                <a:latin typeface="Inter"/>
              </a:rPr>
              <a:t>t can only be applied to episodic MDPs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159541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49640-6CDA-2A2C-2C7F-48B3B9A2C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b="1" dirty="0">
                <a:solidFill>
                  <a:srgbClr val="242424"/>
                </a:solidFill>
                <a:latin typeface="sohne"/>
              </a:rPr>
              <a:t>Monte Carlo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2342B-FE82-60D3-5BA0-49C499CCC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3680"/>
            <a:ext cx="9601200" cy="5019040"/>
          </a:xfrm>
        </p:spPr>
        <p:txBody>
          <a:bodyPr>
            <a:normAutofit/>
          </a:bodyPr>
          <a:lstStyle/>
          <a:p>
            <a:pPr algn="just"/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The reason is that the episode has to terminate </a:t>
            </a:r>
            <a:r>
              <a:rPr lang="en-US" sz="2500" b="0" i="1" dirty="0">
                <a:solidFill>
                  <a:srgbClr val="383838"/>
                </a:solidFill>
                <a:effectLst/>
                <a:latin typeface="Inter"/>
              </a:rPr>
              <a:t>before</a:t>
            </a: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 we can calculate any returns. Here, </a:t>
            </a:r>
            <a:r>
              <a:rPr lang="en-US" sz="2500" b="0" i="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Inter"/>
              </a:rPr>
              <a:t>we don’t do an update after every action, but rather after every episode</a:t>
            </a: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. It uses the simplest idea – </a:t>
            </a:r>
            <a:r>
              <a:rPr lang="en-US" sz="2500" b="0" i="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Inter"/>
              </a:rPr>
              <a:t>the value is the mean return of all sample trajectories for each state</a:t>
            </a: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.</a:t>
            </a:r>
          </a:p>
          <a:p>
            <a:pPr algn="just"/>
            <a:endParaRPr lang="en-US" sz="2500" dirty="0">
              <a:solidFill>
                <a:srgbClr val="383838"/>
              </a:solidFill>
              <a:latin typeface="Inter"/>
            </a:endParaRPr>
          </a:p>
          <a:p>
            <a:pPr algn="just"/>
            <a:r>
              <a:rPr lang="en-US" sz="2500" b="0" i="0" dirty="0">
                <a:solidFill>
                  <a:srgbClr val="202124"/>
                </a:solidFill>
                <a:effectLst/>
                <a:latin typeface="Google Sans"/>
              </a:rPr>
              <a:t>Monte Carlo methods require only experience — </a:t>
            </a:r>
            <a:r>
              <a:rPr lang="en-US" sz="2500" b="0" i="0" dirty="0">
                <a:solidFill>
                  <a:srgbClr val="040C28"/>
                </a:solidFill>
                <a:effectLst/>
                <a:latin typeface="Google Sans"/>
              </a:rPr>
              <a:t>sample sequences of states, actions, and rewards from actual or simulated interaction with an environment</a:t>
            </a:r>
            <a:r>
              <a:rPr lang="en-US" sz="2500" b="0" i="0" dirty="0">
                <a:solidFill>
                  <a:srgbClr val="202124"/>
                </a:solidFill>
                <a:effectLst/>
                <a:latin typeface="Google Sans"/>
              </a:rPr>
              <a:t>. Learning from actual experience is striking because it requires no prior knowledge of the environment's dynamics, yet one can still attain optimal behavior.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2701893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1EBB-3BAA-1896-986E-AEA0123F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242424"/>
                </a:solidFill>
                <a:latin typeface="sohne"/>
              </a:rPr>
              <a:t>Monte Carlo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3B4C0-1AE3-B743-CC95-31C23D058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Monte Carlo Prediction/ Evaluation</a:t>
            </a:r>
          </a:p>
          <a:p>
            <a:r>
              <a:rPr lang="en-US" sz="3500" dirty="0"/>
              <a:t>Monte Carlo Control</a:t>
            </a: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3267327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5DFF-5E5E-043E-799C-DC2231841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Monte Carlo Prediction</a:t>
            </a: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EDF17-5BCA-641B-3F76-02E2CB0A7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08480"/>
            <a:ext cx="10190480" cy="4826000"/>
          </a:xfrm>
        </p:spPr>
        <p:txBody>
          <a:bodyPr>
            <a:noAutofit/>
          </a:bodyPr>
          <a:lstStyle/>
          <a:p>
            <a:pPr algn="just"/>
            <a:r>
              <a:rPr lang="en-US" sz="2700" b="0" i="0" dirty="0">
                <a:solidFill>
                  <a:srgbClr val="242424"/>
                </a:solidFill>
                <a:effectLst/>
                <a:latin typeface="source-serif-pro"/>
              </a:rPr>
              <a:t>Prediction refers to the problem of estimating the values of states, a value of a state is an indication of how good is that state for an agent in the given environment, </a:t>
            </a:r>
            <a:r>
              <a:rPr lang="en-US" sz="2700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the higher the value of the state the better it is to be in that state</a:t>
            </a:r>
            <a:r>
              <a:rPr lang="en-US" sz="2700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algn="just"/>
            <a:endParaRPr lang="en-US" sz="27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just"/>
            <a:r>
              <a:rPr lang="en-US" sz="2700" b="0" i="0" dirty="0">
                <a:solidFill>
                  <a:srgbClr val="242424"/>
                </a:solidFill>
                <a:effectLst/>
                <a:latin typeface="source-serif-pro"/>
              </a:rPr>
              <a:t>An obvious way to estimate the value of a state is to </a:t>
            </a:r>
            <a:r>
              <a:rPr lang="en-US" sz="2700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simply average all the returns that are observed after a visit to the state</a:t>
            </a:r>
            <a:r>
              <a:rPr lang="en-US" sz="2700" b="0" i="0" dirty="0">
                <a:solidFill>
                  <a:srgbClr val="242424"/>
                </a:solidFill>
                <a:effectLst/>
                <a:latin typeface="source-serif-pro"/>
              </a:rPr>
              <a:t>, and as we visit the state more often, the average return will converge to the true value of the state in expectation.</a:t>
            </a:r>
          </a:p>
          <a:p>
            <a:pPr algn="just"/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472549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3713-03F2-4011-2554-FDFEB056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Monte Carlo Prediction</a:t>
            </a: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6000A-73DC-2AA4-F417-94879D0F2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7360"/>
            <a:ext cx="9601200" cy="4734560"/>
          </a:xfrm>
        </p:spPr>
        <p:txBody>
          <a:bodyPr>
            <a:normAutofit/>
          </a:bodyPr>
          <a:lstStyle/>
          <a:p>
            <a:pPr algn="just"/>
            <a:r>
              <a:rPr lang="en-US" sz="2500" b="0" i="0" dirty="0">
                <a:solidFill>
                  <a:srgbClr val="242424"/>
                </a:solidFill>
                <a:effectLst/>
                <a:latin typeface="source-serif-pro"/>
              </a:rPr>
              <a:t>There are two ways in which we can average the return after a visit to a state which are discussed as follows.</a:t>
            </a:r>
          </a:p>
          <a:p>
            <a:pPr marL="0" indent="0" algn="just">
              <a:buNone/>
            </a:pPr>
            <a:endParaRPr lang="en-US" sz="25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b="1" i="1" dirty="0">
                <a:solidFill>
                  <a:srgbClr val="242424"/>
                </a:solidFill>
                <a:effectLst/>
                <a:latin typeface="source-serif-pro"/>
              </a:rPr>
              <a:t>First Visit Monte Carlo (first-visit MC)</a:t>
            </a:r>
            <a:r>
              <a:rPr lang="en-US" sz="2500" b="1" i="0" dirty="0">
                <a:solidFill>
                  <a:srgbClr val="242424"/>
                </a:solidFill>
                <a:effectLst/>
                <a:latin typeface="source-serif-pro"/>
              </a:rPr>
              <a:t>: </a:t>
            </a:r>
            <a:r>
              <a:rPr lang="en-US" sz="2500" b="0" i="0" dirty="0">
                <a:solidFill>
                  <a:srgbClr val="242424"/>
                </a:solidFill>
                <a:effectLst/>
                <a:latin typeface="source-serif-pro"/>
              </a:rPr>
              <a:t>In the first visit Monte Carlo methods we average all the rewards observed after the first visit to the state.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5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b="1" i="1" dirty="0">
                <a:solidFill>
                  <a:srgbClr val="242424"/>
                </a:solidFill>
                <a:effectLst/>
                <a:latin typeface="source-serif-pro"/>
              </a:rPr>
              <a:t>Every Visit Monte Carlo (every-visit MC)</a:t>
            </a:r>
            <a:r>
              <a:rPr lang="en-US" sz="2500" b="1" i="0" dirty="0">
                <a:solidFill>
                  <a:srgbClr val="242424"/>
                </a:solidFill>
                <a:effectLst/>
                <a:latin typeface="source-serif-pro"/>
              </a:rPr>
              <a:t>: </a:t>
            </a:r>
            <a:r>
              <a:rPr lang="en-US" sz="2500" b="0" i="0" dirty="0">
                <a:solidFill>
                  <a:srgbClr val="242424"/>
                </a:solidFill>
                <a:effectLst/>
                <a:latin typeface="source-serif-pro"/>
              </a:rPr>
              <a:t>In every visit Monte Carlo methods we average the returns following all visits to the state.</a:t>
            </a:r>
          </a:p>
          <a:p>
            <a:pPr algn="just"/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404864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8DCF6-3E5C-8D83-827C-F11328C15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383838"/>
                </a:solidFill>
                <a:effectLst/>
                <a:latin typeface="Inter"/>
              </a:rPr>
              <a:t>Monte Carlo Policy Evaluation</a:t>
            </a:r>
            <a:br>
              <a:rPr lang="en-IN" b="1" i="0" dirty="0">
                <a:solidFill>
                  <a:srgbClr val="383838"/>
                </a:solidFill>
                <a:effectLst/>
                <a:latin typeface="Inter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670E3-EF54-E571-E36A-E78AD370D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200" y="1781174"/>
            <a:ext cx="9601200" cy="4741545"/>
          </a:xfrm>
        </p:spPr>
        <p:txBody>
          <a:bodyPr>
            <a:normAutofit/>
          </a:bodyPr>
          <a:lstStyle/>
          <a:p>
            <a:pPr algn="just"/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The goal here, again, is to learn the value function </a:t>
            </a:r>
            <a:r>
              <a:rPr lang="en-US" sz="2500" b="0" i="0" dirty="0" err="1">
                <a:solidFill>
                  <a:srgbClr val="383838"/>
                </a:solidFill>
                <a:effectLst/>
                <a:latin typeface="Inter"/>
              </a:rPr>
              <a:t>vpi</a:t>
            </a: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(s) from episodes of experience under a policy pi. Recall that the return is the total discounted reward:</a:t>
            </a:r>
          </a:p>
          <a:p>
            <a:pPr algn="just"/>
            <a:endParaRPr lang="en-US" sz="2500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just"/>
            <a:r>
              <a:rPr lang="en-US" sz="2500" b="0" i="1" dirty="0">
                <a:solidFill>
                  <a:srgbClr val="383838"/>
                </a:solidFill>
                <a:effectLst/>
                <a:latin typeface="Inter"/>
              </a:rPr>
              <a:t>S1, A1, R2, ….</a:t>
            </a:r>
            <a:r>
              <a:rPr lang="en-US" sz="2500" b="0" i="1" dirty="0" err="1">
                <a:solidFill>
                  <a:srgbClr val="383838"/>
                </a:solidFill>
                <a:effectLst/>
                <a:latin typeface="Inter"/>
              </a:rPr>
              <a:t>Sk</a:t>
            </a:r>
            <a:r>
              <a:rPr lang="en-US" sz="2500" b="0" i="1" dirty="0">
                <a:solidFill>
                  <a:srgbClr val="383838"/>
                </a:solidFill>
                <a:effectLst/>
                <a:latin typeface="Inter"/>
              </a:rPr>
              <a:t> ~ pi</a:t>
            </a:r>
          </a:p>
          <a:p>
            <a:pPr algn="just"/>
            <a:endParaRPr lang="en-US" sz="2500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just"/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Also recall that the value function is the expected return:</a:t>
            </a:r>
          </a:p>
          <a:p>
            <a:pPr algn="just"/>
            <a:endParaRPr lang="en-IN" sz="250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EF5C730-143D-CF67-6551-A87932E76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320" y="5162550"/>
            <a:ext cx="4747760" cy="136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5790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39C66-C5EA-BD08-5491-558C8C8E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383838"/>
                </a:solidFill>
                <a:effectLst/>
                <a:latin typeface="Inter"/>
              </a:rPr>
              <a:t>Monte Carlo Policy Evaluation</a:t>
            </a:r>
            <a:br>
              <a:rPr lang="en-IN" b="1" i="0" dirty="0">
                <a:solidFill>
                  <a:srgbClr val="383838"/>
                </a:solidFill>
                <a:effectLst/>
                <a:latin typeface="Inter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DACE3-518F-7642-35F0-842ABF5AE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3840"/>
            <a:ext cx="9601200" cy="5171440"/>
          </a:xfrm>
        </p:spPr>
        <p:txBody>
          <a:bodyPr>
            <a:noAutofit/>
          </a:bodyPr>
          <a:lstStyle/>
          <a:p>
            <a:pPr algn="just"/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We know that we can estimate any expected value simply by adding up samples and dividing by the total number of samples:</a:t>
            </a:r>
          </a:p>
          <a:p>
            <a:pPr marL="0" indent="0" algn="just">
              <a:buNone/>
            </a:pP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	</a:t>
            </a:r>
            <a:r>
              <a:rPr lang="en-US" sz="2500" b="0" i="0" dirty="0" err="1">
                <a:solidFill>
                  <a:srgbClr val="383838"/>
                </a:solidFill>
                <a:effectLst/>
                <a:latin typeface="Inter"/>
              </a:rPr>
              <a:t>i</a:t>
            </a: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 – Episode index</a:t>
            </a:r>
          </a:p>
          <a:p>
            <a:pPr marL="0" indent="0" algn="just">
              <a:buNone/>
            </a:pP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	s – Index of state</a:t>
            </a:r>
          </a:p>
          <a:p>
            <a:pPr marL="0" indent="0" algn="just">
              <a:buNone/>
            </a:pPr>
            <a:endParaRPr lang="en-US" sz="2500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just"/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The question is how do we get these sample returns? For that, we need to play a bunch of episodes and generate them.</a:t>
            </a:r>
          </a:p>
          <a:p>
            <a:pPr algn="just"/>
            <a:r>
              <a:rPr lang="en-US" sz="2500" b="0" i="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Inter"/>
              </a:rPr>
              <a:t>For every episode we play, we’ll have a sequence of states and rewards. And from these rewards, we can calculate the return by definition, which is just the sum of all future rewards.</a:t>
            </a:r>
            <a:endParaRPr lang="en-IN" sz="2500" dirty="0">
              <a:highlight>
                <a:srgbClr val="FFFF00"/>
              </a:highlight>
            </a:endParaRPr>
          </a:p>
          <a:p>
            <a:pPr algn="just"/>
            <a:endParaRPr lang="en-US" sz="2500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just"/>
            <a:endParaRPr lang="en-IN" sz="2500" dirty="0"/>
          </a:p>
        </p:txBody>
      </p:sp>
      <p:pic>
        <p:nvPicPr>
          <p:cNvPr id="5122" name="Picture 2" descr="monte carlo reinforcement learning">
            <a:extLst>
              <a:ext uri="{FF2B5EF4-FFF2-40B4-BE49-F238E27FC236}">
                <a16:creationId xmlns:a16="http://schemas.microsoft.com/office/drawing/2014/main" id="{038B6EF7-2F3E-2FDC-5094-818E8049F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940" y="2504440"/>
            <a:ext cx="2821940" cy="1265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0909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6F2D-BD35-F6E3-66BA-670EC4C9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383838"/>
                </a:solidFill>
                <a:effectLst/>
                <a:latin typeface="Inter"/>
              </a:rPr>
              <a:t>Monte Carlo Policy Evaluation</a:t>
            </a:r>
            <a:br>
              <a:rPr lang="en-IN" b="1" i="0" dirty="0">
                <a:solidFill>
                  <a:srgbClr val="383838"/>
                </a:solidFill>
                <a:effectLst/>
                <a:latin typeface="Inter"/>
              </a:rPr>
            </a:br>
            <a:r>
              <a:rPr lang="en-IN" b="1" i="0" dirty="0">
                <a:solidFill>
                  <a:srgbClr val="383838"/>
                </a:solidFill>
                <a:effectLst/>
                <a:latin typeface="Inter"/>
              </a:rPr>
              <a:t>Example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A2BF6-473E-6CEE-8315-A489BE313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700" b="0" i="1" dirty="0">
                <a:solidFill>
                  <a:srgbClr val="242424"/>
                </a:solidFill>
                <a:effectLst/>
                <a:latin typeface="source-serif-pro"/>
              </a:rPr>
              <a:t>Consider an MDP with a single nonterminal state and a single action that transitions back to the nonterminal state with probability p and transitions to the terminal state with probability 1−p. </a:t>
            </a:r>
          </a:p>
          <a:p>
            <a:pPr algn="just"/>
            <a:r>
              <a:rPr lang="en-US" sz="2700" b="0" i="1" dirty="0">
                <a:solidFill>
                  <a:srgbClr val="242424"/>
                </a:solidFill>
                <a:effectLst/>
                <a:latin typeface="source-serif-pro"/>
              </a:rPr>
              <a:t>Let the reward be +1 on all transitions, and let γ=1. Suppose you observe one episode that lasts 10 steps, with a return of 10. </a:t>
            </a:r>
          </a:p>
          <a:p>
            <a:pPr algn="just"/>
            <a:r>
              <a:rPr lang="en-US" sz="2700" b="0" i="1" dirty="0">
                <a:solidFill>
                  <a:srgbClr val="242424"/>
                </a:solidFill>
                <a:effectLst/>
                <a:latin typeface="source-serif-pro"/>
              </a:rPr>
              <a:t>What are the first-visit and every-visit estimators of the value of the nonterminal state?</a:t>
            </a:r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4110850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296A-0772-3CE9-10B0-3567E8FC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383838"/>
                </a:solidFill>
                <a:effectLst/>
                <a:latin typeface="Inter"/>
              </a:rPr>
              <a:t>Monte Carlo Policy Evaluation</a:t>
            </a:r>
            <a:br>
              <a:rPr lang="en-IN" b="1" i="0" dirty="0">
                <a:solidFill>
                  <a:srgbClr val="383838"/>
                </a:solidFill>
                <a:effectLst/>
                <a:latin typeface="Inter"/>
              </a:rPr>
            </a:br>
            <a:r>
              <a:rPr lang="en-IN" b="1" i="0" dirty="0">
                <a:solidFill>
                  <a:srgbClr val="383838"/>
                </a:solidFill>
                <a:effectLst/>
                <a:latin typeface="Inter"/>
              </a:rPr>
              <a:t>Example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B6D0A-99E7-B9D4-1328-95C90873C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sz="2700" b="0" i="1" dirty="0">
                <a:solidFill>
                  <a:srgbClr val="242424"/>
                </a:solidFill>
                <a:effectLst/>
                <a:latin typeface="source-serif-pro"/>
              </a:rPr>
              <a:t>First-visit estimator: V(s) = 10</a:t>
            </a:r>
          </a:p>
          <a:p>
            <a:pPr algn="l"/>
            <a:endParaRPr lang="en-US" sz="27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/>
            <a:r>
              <a:rPr lang="en-US" sz="2700" b="0" i="1" dirty="0">
                <a:solidFill>
                  <a:srgbClr val="242424"/>
                </a:solidFill>
                <a:effectLst/>
                <a:latin typeface="source-serif-pro"/>
              </a:rPr>
              <a:t>Every-visit estimator: V(s)= 10+9+8+7+6+5+4+3+2+1/10 =5.5</a:t>
            </a:r>
          </a:p>
          <a:p>
            <a:pPr algn="l"/>
            <a:endParaRPr lang="en-US" sz="27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/>
            <a:r>
              <a:rPr lang="en-US" sz="2700" b="0" i="0" dirty="0">
                <a:solidFill>
                  <a:srgbClr val="242424"/>
                </a:solidFill>
                <a:effectLst/>
                <a:latin typeface="source-serif-pro"/>
              </a:rPr>
              <a:t>Both first-visit and every-visit Monte Carlo methods converge to true state values when we visit each state many times.</a:t>
            </a:r>
          </a:p>
          <a:p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1191889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6A443-D6BC-19F5-5BFC-0CAA731C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383838"/>
                </a:solidFill>
                <a:effectLst/>
                <a:latin typeface="Inter"/>
              </a:rPr>
              <a:t>First Visit Monte Carlo</a:t>
            </a:r>
            <a:br>
              <a:rPr lang="en-IN" b="0" i="0" dirty="0">
                <a:solidFill>
                  <a:srgbClr val="383838"/>
                </a:solidFill>
                <a:effectLst/>
                <a:latin typeface="Inter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3B05D-1ACA-00D5-0078-90B4BD967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>
            <a:noAutofit/>
          </a:bodyPr>
          <a:lstStyle/>
          <a:p>
            <a:pPr algn="just"/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Average returns only for first time s is visited in an episode.</a:t>
            </a:r>
          </a:p>
          <a:p>
            <a:pPr algn="just"/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Here’s a step-by-step view of how the algorithm works:</a:t>
            </a:r>
          </a:p>
          <a:p>
            <a:pPr algn="just">
              <a:buFont typeface="+mj-lt"/>
              <a:buAutoNum type="arabicPeriod"/>
            </a:pP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Initialize the policy, state-value function</a:t>
            </a:r>
          </a:p>
          <a:p>
            <a:pPr algn="just">
              <a:buFont typeface="+mj-lt"/>
              <a:buAutoNum type="arabicPeriod"/>
            </a:pP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Start by generating an episode according to the current policy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Keep track of the states encountered through that episode</a:t>
            </a:r>
          </a:p>
          <a:p>
            <a:pPr algn="just">
              <a:buFont typeface="+mj-lt"/>
              <a:buAutoNum type="arabicPeriod"/>
            </a:pP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Select a state in 2.1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Add to a list the return received after first occurrence of this state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Average over all returns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Set the value of the state as that computed average</a:t>
            </a:r>
          </a:p>
          <a:p>
            <a:pPr algn="just">
              <a:buFont typeface="+mj-lt"/>
              <a:buAutoNum type="arabicPeriod"/>
            </a:pP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Repeat step 3</a:t>
            </a:r>
          </a:p>
          <a:p>
            <a:pPr algn="just">
              <a:buFont typeface="+mj-lt"/>
              <a:buAutoNum type="arabicPeriod"/>
            </a:pPr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Repeat 2-4 until satisfied</a:t>
            </a:r>
          </a:p>
          <a:p>
            <a:pPr algn="just"/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2216769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A2F0-3D50-E810-8FDD-F7F3DAA39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383838"/>
                </a:solidFill>
                <a:effectLst/>
                <a:latin typeface="Inter"/>
              </a:rPr>
              <a:t>Every visit Monte Carlo</a:t>
            </a:r>
            <a:br>
              <a:rPr lang="en-IN" b="0" i="0" dirty="0">
                <a:solidFill>
                  <a:srgbClr val="383838"/>
                </a:solidFill>
                <a:effectLst/>
                <a:latin typeface="Inter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5C544-1196-8CD7-7150-76AFB079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74800"/>
            <a:ext cx="9601200" cy="4292600"/>
          </a:xfrm>
        </p:spPr>
        <p:txBody>
          <a:bodyPr>
            <a:normAutofit/>
          </a:bodyPr>
          <a:lstStyle/>
          <a:p>
            <a:pPr algn="just"/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Average returns for every time s is visited in an episode.</a:t>
            </a:r>
          </a:p>
          <a:p>
            <a:pPr algn="just"/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For this algorithm, we just change step #3.1 to ‘Add to a list the return received after every occurrence of this state’.</a:t>
            </a:r>
          </a:p>
          <a:p>
            <a:pPr algn="just"/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Let’s consider a simple example to further understand this concept. Suppose there’s an environment where we have 2 states – A and B. Let’s say we observed 2 sample episodes:</a:t>
            </a:r>
          </a:p>
          <a:p>
            <a:pPr algn="just"/>
            <a:endParaRPr lang="en-IN" sz="25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027549C-FAC8-A939-8F59-CC7E3A94A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658" y="4505960"/>
            <a:ext cx="8823142" cy="135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873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3773F-BC65-56AB-84E5-067F02D6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366-0D4F-AAC2-4785-721479BE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383838"/>
                </a:solidFill>
                <a:effectLst/>
                <a:latin typeface="Inter"/>
              </a:rPr>
              <a:t>Monte Carlo Example</a:t>
            </a:r>
            <a:br>
              <a:rPr lang="en-IN" b="0" i="0" dirty="0">
                <a:solidFill>
                  <a:srgbClr val="383838"/>
                </a:solidFill>
                <a:effectLst/>
                <a:latin typeface="Inter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49E38-E669-A09A-B0A1-A446FB5EE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74800"/>
            <a:ext cx="9601200" cy="4292600"/>
          </a:xfrm>
        </p:spPr>
        <p:txBody>
          <a:bodyPr>
            <a:normAutofit/>
          </a:bodyPr>
          <a:lstStyle/>
          <a:p>
            <a:pPr algn="just"/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Let’s consider a simple example to further understand this concept. </a:t>
            </a:r>
          </a:p>
          <a:p>
            <a:pPr algn="just"/>
            <a:endParaRPr lang="en-US" sz="2500" dirty="0">
              <a:solidFill>
                <a:srgbClr val="383838"/>
              </a:solidFill>
              <a:latin typeface="Inter"/>
            </a:endParaRPr>
          </a:p>
          <a:p>
            <a:pPr algn="just"/>
            <a:r>
              <a:rPr lang="en-US" sz="2500" b="0" i="0" dirty="0">
                <a:solidFill>
                  <a:srgbClr val="383838"/>
                </a:solidFill>
                <a:effectLst/>
                <a:latin typeface="Inter"/>
              </a:rPr>
              <a:t>Suppose there’s an environment where we have 2 states – A and B. Let’s say we observed 2 sample episodes:</a:t>
            </a:r>
          </a:p>
          <a:p>
            <a:pPr algn="just"/>
            <a:endParaRPr lang="en-IN" sz="25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FEEE9D8-11EC-C70C-084C-F7EB1908F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658" y="3928110"/>
            <a:ext cx="8823142" cy="135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420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EFE7-46FB-0F28-B54F-A00708969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863" y="111868"/>
            <a:ext cx="9601200" cy="1485900"/>
          </a:xfrm>
        </p:spPr>
        <p:txBody>
          <a:bodyPr/>
          <a:lstStyle/>
          <a:p>
            <a:r>
              <a:rPr lang="en-IN" b="1" i="0" dirty="0">
                <a:solidFill>
                  <a:srgbClr val="383838"/>
                </a:solidFill>
                <a:effectLst/>
                <a:latin typeface="Inter"/>
              </a:rPr>
              <a:t>Monte Carlo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A1BA3-29D0-0B0F-869F-F0AC1F365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863" y="2406123"/>
            <a:ext cx="10038946" cy="4247596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IN" dirty="0"/>
              <a:t>Value function calculation: (First Visit MC)</a:t>
            </a:r>
          </a:p>
          <a:p>
            <a:pPr marL="0" indent="0">
              <a:buNone/>
            </a:pPr>
            <a:r>
              <a:rPr lang="en-IN" dirty="0"/>
              <a:t>V(A) = +3+2-4+4-3+3-3/2 = 2/2 = 1</a:t>
            </a:r>
          </a:p>
          <a:p>
            <a:pPr marL="0" indent="0">
              <a:buNone/>
            </a:pPr>
            <a:r>
              <a:rPr lang="en-IN" dirty="0"/>
              <a:t>V(B) = -4+4-3-2+3-3/2 = -5/2 = -2.5</a:t>
            </a:r>
          </a:p>
          <a:p>
            <a:pPr marL="0" indent="0">
              <a:buNone/>
            </a:pPr>
            <a:r>
              <a:rPr lang="en-IN" dirty="0"/>
              <a:t>Value function calculation: The total payoff received from the time the state is visited first in an episode (for all the episodes)/number of episodes</a:t>
            </a:r>
          </a:p>
          <a:p>
            <a:r>
              <a:rPr lang="en-IN" dirty="0"/>
              <a:t>Value function calculation for every visit MC</a:t>
            </a:r>
          </a:p>
          <a:p>
            <a:pPr marL="0" indent="0">
              <a:buNone/>
            </a:pPr>
            <a:r>
              <a:rPr lang="en-IN" dirty="0"/>
              <a:t>V(A) = </a:t>
            </a:r>
            <a:r>
              <a:rPr lang="en-IN" b="1" dirty="0">
                <a:solidFill>
                  <a:srgbClr val="FF0000"/>
                </a:solidFill>
              </a:rPr>
              <a:t>+3+2-4+4-3 </a:t>
            </a:r>
            <a:r>
              <a:rPr lang="en-IN" dirty="0"/>
              <a:t>+ </a:t>
            </a:r>
            <a:r>
              <a:rPr lang="en-IN" b="1" dirty="0">
                <a:solidFill>
                  <a:srgbClr val="00B050"/>
                </a:solidFill>
              </a:rPr>
              <a:t>+2-4+4-3</a:t>
            </a:r>
            <a:r>
              <a:rPr lang="en-IN" dirty="0"/>
              <a:t> + </a:t>
            </a:r>
            <a:r>
              <a:rPr lang="en-IN" b="1" dirty="0">
                <a:solidFill>
                  <a:srgbClr val="0070C0"/>
                </a:solidFill>
              </a:rPr>
              <a:t>+4-3 </a:t>
            </a:r>
            <a:r>
              <a:rPr lang="en-IN" dirty="0"/>
              <a:t>+ </a:t>
            </a:r>
            <a:r>
              <a:rPr lang="en-IN" b="1" dirty="0">
                <a:solidFill>
                  <a:srgbClr val="7030A0"/>
                </a:solidFill>
              </a:rPr>
              <a:t>+3-3 </a:t>
            </a:r>
            <a:r>
              <a:rPr lang="en-IN" dirty="0"/>
              <a:t>/4 = 0.5</a:t>
            </a:r>
          </a:p>
          <a:p>
            <a:pPr marL="0" indent="0">
              <a:buNone/>
            </a:pPr>
            <a:r>
              <a:rPr lang="en-IN" dirty="0"/>
              <a:t>V(B) = -4+4-3 + -3 + -2+3-3 + -3 /4</a:t>
            </a:r>
          </a:p>
          <a:p>
            <a:pPr marL="0" indent="0">
              <a:buNone/>
            </a:pPr>
            <a:r>
              <a:rPr lang="en-IN" dirty="0"/>
              <a:t>Value function calculation: The total payoff received from the time the state is visited every time in an episode (for all the episodes)/number of times the state is visited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150EC10-5B5A-ADEC-CD9D-77171A86B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63" y="920223"/>
            <a:ext cx="8823142" cy="135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447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71700"/>
            <a:ext cx="9601200" cy="3581400"/>
          </a:xfrm>
        </p:spPr>
        <p:txBody>
          <a:bodyPr/>
          <a:lstStyle/>
          <a:p>
            <a:r>
              <a:rPr lang="en-IN" dirty="0"/>
              <a:t>In an RL environment having five states, the four episodes were recorded and are presented below. Estimate the value function of the states using a) every visit </a:t>
            </a:r>
            <a:r>
              <a:rPr lang="en-IN" dirty="0" err="1"/>
              <a:t>monte</a:t>
            </a:r>
            <a:r>
              <a:rPr lang="en-IN" dirty="0"/>
              <a:t> </a:t>
            </a:r>
            <a:r>
              <a:rPr lang="en-IN" dirty="0" err="1"/>
              <a:t>carlo</a:t>
            </a:r>
            <a:r>
              <a:rPr lang="en-IN" dirty="0"/>
              <a:t> and b)first visit </a:t>
            </a:r>
            <a:r>
              <a:rPr lang="en-IN" dirty="0" err="1"/>
              <a:t>monte</a:t>
            </a:r>
            <a:r>
              <a:rPr lang="en-IN" dirty="0"/>
              <a:t> </a:t>
            </a:r>
            <a:r>
              <a:rPr lang="en-IN" dirty="0" err="1"/>
              <a:t>carlo</a:t>
            </a:r>
            <a:r>
              <a:rPr lang="en-IN" dirty="0"/>
              <a:t> </a:t>
            </a:r>
            <a:r>
              <a:rPr lang="en-IN" dirty="0" err="1"/>
              <a:t>metods</a:t>
            </a:r>
            <a:r>
              <a:rPr lang="en-IN" dirty="0"/>
              <a:t>. The value on the arrow indicate the reward received and S</a:t>
            </a:r>
            <a:r>
              <a:rPr lang="en-IN" baseline="-25000" dirty="0"/>
              <a:t>T</a:t>
            </a:r>
            <a:r>
              <a:rPr lang="en-IN" dirty="0"/>
              <a:t> represent the terminal state. 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994111" y="3490646"/>
            <a:ext cx="6701824" cy="237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54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agent starts with the policy that always chooses to go right, and executes the following three trials as mentioned (State, Reward):</a:t>
            </a:r>
          </a:p>
          <a:p>
            <a:r>
              <a:rPr lang="en-US" dirty="0"/>
              <a:t>Episode 1 - (1,1) → (2,2) → (1,3) → (3,4)</a:t>
            </a:r>
          </a:p>
          <a:p>
            <a:r>
              <a:rPr lang="en-US" dirty="0"/>
              <a:t>Episode 2 - (1,2) → (1,3) → (2,1) → (2,4) → (3,2)</a:t>
            </a:r>
          </a:p>
          <a:p>
            <a:r>
              <a:rPr lang="en-US" dirty="0"/>
              <a:t>Episode 3 - (1,1) → (2,1) → (2,4) → (2,3) → (3,2) → (3,6)</a:t>
            </a:r>
          </a:p>
          <a:p>
            <a:r>
              <a:rPr lang="en-US" dirty="0"/>
              <a:t>Evaluate the Monte Carlo Prediction for all the States 1, 2, 3.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181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0B2F-E4A6-E68B-A367-AEA1EB258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383838"/>
                </a:solidFill>
                <a:effectLst/>
                <a:latin typeface="Inter"/>
              </a:rPr>
              <a:t>Monte Carlo Policy Evaluation</a:t>
            </a:r>
            <a:br>
              <a:rPr lang="en-IN" b="1" i="0" dirty="0">
                <a:solidFill>
                  <a:srgbClr val="383838"/>
                </a:solidFill>
                <a:effectLst/>
                <a:latin typeface="Inter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CC58C-57A6-6C8C-5C38-C15FB66AE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32000"/>
            <a:ext cx="10444480" cy="4683760"/>
          </a:xfrm>
        </p:spPr>
        <p:txBody>
          <a:bodyPr>
            <a:noAutofit/>
          </a:bodyPr>
          <a:lstStyle/>
          <a:p>
            <a:pPr algn="just"/>
            <a:r>
              <a:rPr lang="en-US" sz="2500" b="0" i="0" dirty="0">
                <a:solidFill>
                  <a:srgbClr val="242424"/>
                </a:solidFill>
                <a:effectLst/>
                <a:latin typeface="source-serif-pro"/>
              </a:rPr>
              <a:t>Now one important fact about Monte Carlo Methods that we should highlight here is that Monte Carlo is one of the few methods in reinforcement learning that do not bootstrap. </a:t>
            </a:r>
            <a:r>
              <a:rPr lang="en-US" sz="2500" b="0" i="1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Bootstrapping</a:t>
            </a:r>
            <a:r>
              <a:rPr lang="en-US" sz="2500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 means making use of estimates to make a further estimations</a:t>
            </a:r>
            <a:r>
              <a:rPr lang="en-US" sz="2500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algn="just"/>
            <a:endParaRPr lang="en-US" sz="25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just"/>
            <a:r>
              <a:rPr lang="en-US" sz="2500" b="0" i="0" dirty="0">
                <a:solidFill>
                  <a:srgbClr val="242424"/>
                </a:solidFill>
                <a:effectLst/>
                <a:latin typeface="source-serif-pro"/>
              </a:rPr>
              <a:t>In Monte Carlo methods, an estimate of the value of a state does not depend on the estimate of the other state's value rather </a:t>
            </a:r>
            <a:r>
              <a:rPr lang="en-US" sz="2500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estimate of each state is independent of each other</a:t>
            </a:r>
            <a:r>
              <a:rPr lang="en-US" sz="2500" b="0" i="0" dirty="0">
                <a:solidFill>
                  <a:srgbClr val="242424"/>
                </a:solidFill>
                <a:effectLst/>
                <a:latin typeface="source-serif-pro"/>
              </a:rPr>
              <a:t>, although this is beneficial as it reduces the bias, however, it makes convergence significantly slower, as a result of which Monte Carlo methods </a:t>
            </a:r>
            <a:r>
              <a:rPr lang="en-US" sz="2500" b="0" i="0">
                <a:solidFill>
                  <a:srgbClr val="242424"/>
                </a:solidFill>
                <a:effectLst/>
                <a:latin typeface="source-serif-pro"/>
              </a:rPr>
              <a:t>are judiciously </a:t>
            </a:r>
            <a:r>
              <a:rPr lang="en-US" sz="2500" b="0" i="0" dirty="0">
                <a:solidFill>
                  <a:srgbClr val="242424"/>
                </a:solidFill>
                <a:effectLst/>
                <a:latin typeface="source-serif-pro"/>
              </a:rPr>
              <a:t>used in practical applications.</a:t>
            </a:r>
          </a:p>
          <a:p>
            <a:pPr algn="just"/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40741016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432A30"/>
      </a:dk2>
      <a:lt2>
        <a:srgbClr val="F2F2F0"/>
      </a:lt2>
      <a:accent1>
        <a:srgbClr val="836C9F"/>
      </a:accent1>
      <a:accent2>
        <a:srgbClr val="BDAB56"/>
      </a:accent2>
      <a:accent3>
        <a:srgbClr val="B0565D"/>
      </a:accent3>
      <a:accent4>
        <a:srgbClr val="55B1BC"/>
      </a:accent4>
      <a:accent5>
        <a:srgbClr val="4D925F"/>
      </a:accent5>
      <a:accent6>
        <a:srgbClr val="E08C4A"/>
      </a:accent6>
      <a:hlink>
        <a:srgbClr val="55B1BC"/>
      </a:hlink>
      <a:folHlink>
        <a:srgbClr val="836C9F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9270AA94-2367-4B1E-B579-26147B222B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C1750496BA842B8CDF8D980297702" ma:contentTypeVersion="3" ma:contentTypeDescription="Create a new document." ma:contentTypeScope="" ma:versionID="25b4117b7e7c52874fef60ba29814e78">
  <xsd:schema xmlns:xsd="http://www.w3.org/2001/XMLSchema" xmlns:xs="http://www.w3.org/2001/XMLSchema" xmlns:p="http://schemas.microsoft.com/office/2006/metadata/properties" xmlns:ns2="6b7f7ae6-7a87-4d3a-a44f-b1b75ae19df5" targetNamespace="http://schemas.microsoft.com/office/2006/metadata/properties" ma:root="true" ma:fieldsID="92331ed16946a6a4687e51e0b4ac930e" ns2:_="">
    <xsd:import namespace="6b7f7ae6-7a87-4d3a-a44f-b1b75ae19d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7f7ae6-7a87-4d3a-a44f-b1b75ae19d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C84CCA-25E3-4C31-8A11-23E3E5E307F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50585E5-FFD1-427C-BCA3-A38D3D5A15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B8F92F-7526-432A-819F-5D5BF31429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7f7ae6-7a87-4d3a-a44f-b1b75ae19d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2851</TotalTime>
  <Words>1310</Words>
  <Application>Microsoft Office PowerPoint</Application>
  <PresentationFormat>Widescreen</PresentationFormat>
  <Paragraphs>100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Crop</vt:lpstr>
      <vt:lpstr>PowerPoint Presentation</vt:lpstr>
      <vt:lpstr>Module No. 3  Deep Reinforcement Learning – 8 Hours</vt:lpstr>
      <vt:lpstr>Monte Carlo</vt:lpstr>
      <vt:lpstr>Monte Carlo</vt:lpstr>
      <vt:lpstr>Monte Carlo</vt:lpstr>
      <vt:lpstr>Monte Carlo Prediction </vt:lpstr>
      <vt:lpstr>Monte Carlo Prediction </vt:lpstr>
      <vt:lpstr>Monte Carlo Policy Evaluation </vt:lpstr>
      <vt:lpstr>Monte Carlo Policy Evaluation </vt:lpstr>
      <vt:lpstr>Monte Carlo Policy Evaluation Example</vt:lpstr>
      <vt:lpstr>Monte Carlo Policy Evaluation Example</vt:lpstr>
      <vt:lpstr>First Visit Monte Carlo </vt:lpstr>
      <vt:lpstr>Every visit Monte Carlo </vt:lpstr>
      <vt:lpstr>Monte Carlo Example </vt:lpstr>
      <vt:lpstr>Monte Carlo</vt:lpstr>
      <vt:lpstr>Example</vt:lpstr>
      <vt:lpstr>Example</vt:lpstr>
      <vt:lpstr>Monte Carlo Policy Evaluation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 347</dc:title>
  <dc:creator>dipen saini</dc:creator>
  <cp:lastModifiedBy>delll</cp:lastModifiedBy>
  <cp:revision>34</cp:revision>
  <dcterms:created xsi:type="dcterms:W3CDTF">2023-01-04T16:33:49Z</dcterms:created>
  <dcterms:modified xsi:type="dcterms:W3CDTF">2026-03-20T20:56:15Z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0x01010004FC1750496BA842B8CDF8D980297702</vt:lpwstr>
  </property>
</Properties>
</file>
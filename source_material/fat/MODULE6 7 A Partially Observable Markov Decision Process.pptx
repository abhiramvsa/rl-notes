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8.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Override2.xml" ContentType="application/vnd.openxmlformats-officedocument.themeOverride+xml"/>
  <Override PartName="/ppt/theme/themeOverride1.xml" ContentType="application/vnd.openxmlformats-officedocument.themeOverrid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notesMasterIdLst>
    <p:notesMasterId r:id="rId21"/>
  </p:notesMasterIdLst>
  <p:sldIdLst>
    <p:sldId id="585" r:id="rId2"/>
    <p:sldId id="262" r:id="rId3"/>
    <p:sldId id="632" r:id="rId4"/>
    <p:sldId id="633" r:id="rId5"/>
    <p:sldId id="634" r:id="rId6"/>
    <p:sldId id="651" r:id="rId7"/>
    <p:sldId id="636" r:id="rId8"/>
    <p:sldId id="637" r:id="rId9"/>
    <p:sldId id="649" r:id="rId10"/>
    <p:sldId id="638" r:id="rId11"/>
    <p:sldId id="639" r:id="rId12"/>
    <p:sldId id="640" r:id="rId13"/>
    <p:sldId id="641" r:id="rId14"/>
    <p:sldId id="642" r:id="rId15"/>
    <p:sldId id="643" r:id="rId16"/>
    <p:sldId id="644" r:id="rId17"/>
    <p:sldId id="648" r:id="rId18"/>
    <p:sldId id="650" r:id="rId19"/>
    <p:sldId id="647"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65C2802-1860-46D9-8A45-4FDCAFF9F187}">
          <p14:sldIdLst>
            <p14:sldId id="585"/>
            <p14:sldId id="262"/>
            <p14:sldId id="632"/>
            <p14:sldId id="633"/>
            <p14:sldId id="634"/>
            <p14:sldId id="651"/>
            <p14:sldId id="636"/>
            <p14:sldId id="637"/>
            <p14:sldId id="649"/>
            <p14:sldId id="638"/>
            <p14:sldId id="639"/>
            <p14:sldId id="640"/>
            <p14:sldId id="641"/>
            <p14:sldId id="642"/>
            <p14:sldId id="643"/>
            <p14:sldId id="644"/>
            <p14:sldId id="648"/>
            <p14:sldId id="650"/>
            <p14:sldId id="64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50"/>
  </p:normalViewPr>
  <p:slideViewPr>
    <p:cSldViewPr snapToGrid="0">
      <p:cViewPr varScale="1">
        <p:scale>
          <a:sx n="68" d="100"/>
          <a:sy n="68" d="100"/>
        </p:scale>
        <p:origin x="81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MA K G" userId="c26ce1b90fa457b4" providerId="LiveId" clId="{54F7BF24-F823-4223-BE35-CA496CEEB0EE}"/>
    <pc:docChg chg="undo custSel addSld delSld modSld sldOrd modSection">
      <pc:chgData name="SUMA K G" userId="c26ce1b90fa457b4" providerId="LiveId" clId="{54F7BF24-F823-4223-BE35-CA496CEEB0EE}" dt="2024-05-07T02:29:15.169" v="23" actId="47"/>
      <pc:docMkLst>
        <pc:docMk/>
      </pc:docMkLst>
      <pc:sldChg chg="ord">
        <pc:chgData name="SUMA K G" userId="c26ce1b90fa457b4" providerId="LiveId" clId="{54F7BF24-F823-4223-BE35-CA496CEEB0EE}" dt="2024-05-07T02:27:21.181" v="20" actId="20578"/>
        <pc:sldMkLst>
          <pc:docMk/>
          <pc:sldMk cId="1284668075" sldId="639"/>
        </pc:sldMkLst>
      </pc:sldChg>
      <pc:sldChg chg="del">
        <pc:chgData name="SUMA K G" userId="c26ce1b90fa457b4" providerId="LiveId" clId="{54F7BF24-F823-4223-BE35-CA496CEEB0EE}" dt="2024-05-07T02:29:15.169" v="23" actId="47"/>
        <pc:sldMkLst>
          <pc:docMk/>
          <pc:sldMk cId="1878761874" sldId="645"/>
        </pc:sldMkLst>
      </pc:sldChg>
      <pc:sldChg chg="modSp new mod">
        <pc:chgData name="SUMA K G" userId="c26ce1b90fa457b4" providerId="LiveId" clId="{54F7BF24-F823-4223-BE35-CA496CEEB0EE}" dt="2024-05-07T02:26:00.349" v="12" actId="20577"/>
        <pc:sldMkLst>
          <pc:docMk/>
          <pc:sldMk cId="3950626064" sldId="650"/>
        </pc:sldMkLst>
        <pc:spChg chg="mod">
          <ac:chgData name="SUMA K G" userId="c26ce1b90fa457b4" providerId="LiveId" clId="{54F7BF24-F823-4223-BE35-CA496CEEB0EE}" dt="2024-05-07T02:25:54.710" v="10" actId="20577"/>
          <ac:spMkLst>
            <pc:docMk/>
            <pc:sldMk cId="3950626064" sldId="650"/>
            <ac:spMk id="2" creationId="{88C13006-DFFF-ED1E-4C1E-9634863053F2}"/>
          </ac:spMkLst>
        </pc:spChg>
        <pc:spChg chg="mod">
          <ac:chgData name="SUMA K G" userId="c26ce1b90fa457b4" providerId="LiveId" clId="{54F7BF24-F823-4223-BE35-CA496CEEB0EE}" dt="2024-05-07T02:26:00.349" v="12" actId="20577"/>
          <ac:spMkLst>
            <pc:docMk/>
            <pc:sldMk cId="3950626064" sldId="650"/>
            <ac:spMk id="3" creationId="{6DAD0FEB-6849-3F09-D9A6-12376D3EECFE}"/>
          </ac:spMkLst>
        </pc:spChg>
      </pc:sldChg>
      <pc:sldChg chg="addSp modSp new mod ord">
        <pc:chgData name="SUMA K G" userId="c26ce1b90fa457b4" providerId="LiveId" clId="{54F7BF24-F823-4223-BE35-CA496CEEB0EE}" dt="2024-05-07T02:28:26.617" v="22"/>
        <pc:sldMkLst>
          <pc:docMk/>
          <pc:sldMk cId="3379324448" sldId="651"/>
        </pc:sldMkLst>
        <pc:spChg chg="mod">
          <ac:chgData name="SUMA K G" userId="c26ce1b90fa457b4" providerId="LiveId" clId="{54F7BF24-F823-4223-BE35-CA496CEEB0EE}" dt="2024-05-07T02:26:48.579" v="17" actId="108"/>
          <ac:spMkLst>
            <pc:docMk/>
            <pc:sldMk cId="3379324448" sldId="651"/>
            <ac:spMk id="2" creationId="{99CCFC45-035E-DD26-4B52-3DF00097D332}"/>
          </ac:spMkLst>
        </pc:spChg>
        <pc:picChg chg="add mod">
          <ac:chgData name="SUMA K G" userId="c26ce1b90fa457b4" providerId="LiveId" clId="{54F7BF24-F823-4223-BE35-CA496CEEB0EE}" dt="2024-05-07T02:26:32.804" v="15" actId="1076"/>
          <ac:picMkLst>
            <pc:docMk/>
            <pc:sldMk cId="3379324448" sldId="651"/>
            <ac:picMk id="5" creationId="{DDAE8AC9-1239-D489-E7C5-38BCDE96266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3F091-54B8-4C54-A889-837C3D111872}" type="datetimeFigureOut">
              <a:rPr lang="en-IN" smtClean="0"/>
              <a:t>17-04-2026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6096A8-260D-4569-A24C-A710FFFEEEAB}" type="slidenum">
              <a:rPr lang="en-IN" smtClean="0"/>
              <a:t>‹#›</a:t>
            </a:fld>
            <a:endParaRPr lang="en-IN"/>
          </a:p>
        </p:txBody>
      </p:sp>
    </p:spTree>
    <p:extLst>
      <p:ext uri="{BB962C8B-B14F-4D97-AF65-F5344CB8AC3E}">
        <p14:creationId xmlns:p14="http://schemas.microsoft.com/office/powerpoint/2010/main" val="647172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2B3DD3EA-5372-5F45-9EB0-1B41863C7012}" type="datetimeFigureOut">
              <a:rPr lang="en-US" smtClean="0"/>
              <a:t>4/17/2026</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4BD522E6-407B-3141-A6A0-805FAD6796A0}" type="slidenum">
              <a:rPr lang="en-US" smtClean="0"/>
              <a:t>‹#›</a:t>
            </a:fld>
            <a:endParaRPr lang="en-US"/>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364689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2464772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2B3DD3EA-5372-5F45-9EB0-1B41863C7012}" type="datetimeFigureOut">
              <a:rPr lang="en-US" smtClean="0"/>
              <a:t>4/17/2026</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extLst>
      <p:ext uri="{BB962C8B-B14F-4D97-AF65-F5344CB8AC3E}">
        <p14:creationId xmlns:p14="http://schemas.microsoft.com/office/powerpoint/2010/main" val="16937609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3DD3EA-5372-5F45-9EB0-1B41863C7012}"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3907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3DD3EA-5372-5F45-9EB0-1B41863C7012}" type="datetimeFigureOut">
              <a:rPr lang="en-US" smtClean="0"/>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2939228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3DD3EA-5372-5F45-9EB0-1B41863C7012}" type="datetimeFigureOut">
              <a:rPr lang="en-US" smtClean="0"/>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922363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3DD3EA-5372-5F45-9EB0-1B41863C7012}" type="datetimeFigureOut">
              <a:rPr lang="en-US" smtClean="0"/>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469580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B3DD3EA-5372-5F45-9EB0-1B41863C7012}" type="datetimeFigureOut">
              <a:rPr lang="en-US" smtClean="0"/>
              <a:t>4/17/2026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02717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B3DD3EA-5372-5F45-9EB0-1B41863C7012}" type="datetimeFigureOut">
              <a:rPr lang="en-US" smtClean="0"/>
              <a:t>4/17/2026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92972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2402891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927139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2B3DD3EA-5372-5F45-9EB0-1B41863C7012}" type="datetimeFigureOut">
              <a:rPr lang="en-US" smtClean="0"/>
              <a:t>4/17/2026</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4BD522E6-407B-3141-A6A0-805FAD6796A0}"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529623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en.wikipedia.org/wiki/Markov_decision_process#Definition"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en.wikipedia.org/wiki/Computational_complexity_theory#Intractability" TargetMode="External"/><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hyperlink" Target="https://en.wikipedia.org/wiki/Curse_of_dimensionality" TargetMode="External"/></Relationships>
</file>

<file path=ppt/slides/_rels/slide14.xml.rels><?xml version="1.0" encoding="UTF-8" standalone="yes"?>
<Relationships xmlns="http://schemas.openxmlformats.org/package/2006/relationships"><Relationship Id="rId2" Type="http://schemas.openxmlformats.org/officeDocument/2006/relationships/hyperlink" Target="https://en.wikipedia.org/wiki/Principle_component_analysis"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en.wikipedia.org/wiki/Monte_Carlo_tree_search"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en.wikipedia.org/wiki/Q-learnin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D6B1D31-C4E7-8A73-DE3F-694072EBD1FA}"/>
              </a:ext>
            </a:extLst>
          </p:cNvPr>
          <p:cNvSpPr>
            <a:spLocks noGrp="1"/>
          </p:cNvSpPr>
          <p:nvPr>
            <p:ph type="subTitle" idx="1"/>
          </p:nvPr>
        </p:nvSpPr>
        <p:spPr>
          <a:xfrm>
            <a:off x="1117600" y="1341120"/>
            <a:ext cx="10657840" cy="4003040"/>
          </a:xfrm>
        </p:spPr>
        <p:txBody>
          <a:bodyPr>
            <a:noAutofit/>
          </a:bodyPr>
          <a:lstStyle/>
          <a:p>
            <a:pPr algn="l"/>
            <a:r>
              <a:rPr lang="en-US" sz="4000" b="1" cap="all" dirty="0">
                <a:solidFill>
                  <a:schemeClr val="tx2"/>
                </a:solidFill>
                <a:latin typeface="+mj-lt"/>
                <a:ea typeface="+mj-ea"/>
                <a:cs typeface="+mj-cs"/>
              </a:rPr>
              <a:t>CSE4037 </a:t>
            </a:r>
          </a:p>
          <a:p>
            <a:pPr algn="l"/>
            <a:r>
              <a:rPr lang="en-US" sz="4000" b="1" cap="all" dirty="0">
                <a:solidFill>
                  <a:schemeClr val="tx2"/>
                </a:solidFill>
                <a:latin typeface="+mj-lt"/>
                <a:ea typeface="+mj-ea"/>
                <a:cs typeface="+mj-cs"/>
              </a:rPr>
              <a:t>REINFORCEMENT LEARNING</a:t>
            </a:r>
          </a:p>
          <a:p>
            <a:pPr algn="l"/>
            <a:endParaRPr lang="en-US" sz="3000" b="1" cap="all" dirty="0">
              <a:solidFill>
                <a:schemeClr val="tx2"/>
              </a:solidFill>
              <a:latin typeface="+mj-lt"/>
              <a:ea typeface="+mj-ea"/>
              <a:cs typeface="+mj-cs"/>
            </a:endParaRPr>
          </a:p>
          <a:p>
            <a:pPr algn="just"/>
            <a:r>
              <a:rPr lang="en-US" sz="3000" b="1" dirty="0">
                <a:solidFill>
                  <a:srgbClr val="FF0000"/>
                </a:solidFill>
                <a:highlight>
                  <a:srgbClr val="C0C0C0"/>
                </a:highlight>
                <a:latin typeface="Cambria" panose="02040503050406030204" pitchFamily="18" charset="0"/>
                <a:ea typeface="Cambria" panose="02040503050406030204" pitchFamily="18" charset="0"/>
              </a:rPr>
              <a:t>A PARTIALLY OBSERVABLE MARKOV DECISION PROCESS</a:t>
            </a:r>
            <a:endParaRPr lang="en-IN" sz="3000" b="1" dirty="0">
              <a:solidFill>
                <a:srgbClr val="FF0000"/>
              </a:solidFill>
              <a:highlight>
                <a:srgbClr val="C0C0C0"/>
              </a:highlight>
              <a:latin typeface="Cambria" panose="02040503050406030204" pitchFamily="18" charset="0"/>
              <a:ea typeface="Cambria" panose="02040503050406030204" pitchFamily="18" charset="0"/>
            </a:endParaRPr>
          </a:p>
        </p:txBody>
      </p:sp>
      <p:sp>
        <p:nvSpPr>
          <p:cNvPr id="4" name="Subtitle 2">
            <a:extLst>
              <a:ext uri="{FF2B5EF4-FFF2-40B4-BE49-F238E27FC236}">
                <a16:creationId xmlns:a16="http://schemas.microsoft.com/office/drawing/2014/main" id="{A801DB45-417F-527B-47EB-AC2FEB6B23A9}"/>
              </a:ext>
            </a:extLst>
          </p:cNvPr>
          <p:cNvSpPr txBox="1">
            <a:spLocks/>
          </p:cNvSpPr>
          <p:nvPr/>
        </p:nvSpPr>
        <p:spPr>
          <a:xfrm>
            <a:off x="1493520" y="5100320"/>
            <a:ext cx="6493336" cy="1497032"/>
          </a:xfrm>
          <a:prstGeom prst="rect">
            <a:avLst/>
          </a:prstGeom>
        </p:spPr>
        <p:txBody>
          <a:bodyPr vert="horz" lIns="91440" tIns="45720" rIns="91440" bIns="45720" rtlCol="0">
            <a:normAutofit/>
          </a:bodyPr>
          <a:lstStyle>
            <a:lvl1pPr marL="0" indent="0" algn="ctr" defTabSz="914400" rtl="0" eaLnBrk="1" latinLnBrk="0" hangingPunct="1">
              <a:lnSpc>
                <a:spcPct val="112000"/>
              </a:lnSpc>
              <a:spcBef>
                <a:spcPts val="0"/>
              </a:spcBef>
              <a:spcAft>
                <a:spcPts val="0"/>
              </a:spcAft>
              <a:buFont typeface="Franklin Gothic Book" panose="020B0503020102020204" pitchFamily="34" charset="0"/>
              <a:buNone/>
              <a:defRPr sz="2300" kern="1200" baseline="0">
                <a:solidFill>
                  <a:schemeClr val="bg2"/>
                </a:solidFill>
                <a:latin typeface="+mn-lt"/>
                <a:ea typeface="+mn-ea"/>
                <a:cs typeface="+mn-cs"/>
              </a:defRPr>
            </a:lvl1pPr>
            <a:lvl2pPr marL="457200" indent="0" algn="ctr" defTabSz="914400" rtl="0" eaLnBrk="1" latinLnBrk="0" hangingPunct="1">
              <a:lnSpc>
                <a:spcPct val="94000"/>
              </a:lnSpc>
              <a:spcBef>
                <a:spcPts val="500"/>
              </a:spcBef>
              <a:spcAft>
                <a:spcPts val="200"/>
              </a:spcAft>
              <a:buFont typeface="Franklin Gothic Book" panose="020B0503020102020204" pitchFamily="34" charset="0"/>
              <a:buNone/>
              <a:defRPr sz="2000" i="1" kern="1200" baseline="0">
                <a:solidFill>
                  <a:schemeClr val="tx2"/>
                </a:solidFill>
                <a:latin typeface="+mn-lt"/>
                <a:ea typeface="+mn-ea"/>
                <a:cs typeface="+mn-cs"/>
              </a:defRPr>
            </a:lvl2pPr>
            <a:lvl3pPr marL="914400" indent="0" algn="ctr" defTabSz="914400" rtl="0" eaLnBrk="1" latinLnBrk="0" hangingPunct="1">
              <a:lnSpc>
                <a:spcPct val="94000"/>
              </a:lnSpc>
              <a:spcBef>
                <a:spcPts val="500"/>
              </a:spcBef>
              <a:spcAft>
                <a:spcPts val="200"/>
              </a:spcAft>
              <a:buFont typeface="Franklin Gothic Book" panose="020B0503020102020204" pitchFamily="34" charset="0"/>
              <a:buNone/>
              <a:defRPr sz="1800" kern="1200" baseline="0">
                <a:solidFill>
                  <a:schemeClr val="tx2"/>
                </a:solidFill>
                <a:latin typeface="+mn-lt"/>
                <a:ea typeface="+mn-ea"/>
                <a:cs typeface="+mn-cs"/>
              </a:defRPr>
            </a:lvl3pPr>
            <a:lvl4pPr marL="13716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4pPr>
            <a:lvl5pPr marL="18288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5pPr>
            <a:lvl6pPr marL="22860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6pPr>
            <a:lvl7pPr marL="27432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7pPr>
            <a:lvl8pPr marL="32004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8pPr>
            <a:lvl9pPr marL="36576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9pPr>
          </a:lstStyle>
          <a:p>
            <a:pPr algn="l"/>
            <a:endParaRPr lang="en-IN" sz="2400" dirty="0"/>
          </a:p>
        </p:txBody>
      </p:sp>
      <p:pic>
        <p:nvPicPr>
          <p:cNvPr id="6146" name="Picture 2" descr="GIPHY Engineering | » Part 2: Computer Vision @ GIPHY: How we Created an  AutoTagging Model Using Deep Learning » Part 2: Computer Vision @ GIPHY:  How we Created an AutoTagging Model Using Deep Learning">
            <a:extLst>
              <a:ext uri="{FF2B5EF4-FFF2-40B4-BE49-F238E27FC236}">
                <a16:creationId xmlns:a16="http://schemas.microsoft.com/office/drawing/2014/main" id="{BAC11B92-7D2F-1D38-29A5-997E2829E4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1360" y="96520"/>
            <a:ext cx="3738880" cy="2103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3029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AC42C-64AF-545B-564B-41469E2F1E54}"/>
              </a:ext>
            </a:extLst>
          </p:cNvPr>
          <p:cNvSpPr>
            <a:spLocks noGrp="1"/>
          </p:cNvSpPr>
          <p:nvPr>
            <p:ph type="title"/>
          </p:nvPr>
        </p:nvSpPr>
        <p:spPr>
          <a:xfrm>
            <a:off x="955040" y="162560"/>
            <a:ext cx="11054080" cy="2009140"/>
          </a:xfrm>
        </p:spPr>
        <p:txBody>
          <a:bodyPr>
            <a:normAutofit/>
          </a:bodyPr>
          <a:lstStyle/>
          <a:p>
            <a:pPr algn="ctr"/>
            <a:r>
              <a:rPr lang="en-US" dirty="0"/>
              <a:t>Module No. 6</a:t>
            </a:r>
            <a:br>
              <a:rPr lang="en-US" dirty="0"/>
            </a:br>
            <a:r>
              <a:rPr lang="en-IN" dirty="0"/>
              <a:t>Hierarchical Reinforcement Learning</a:t>
            </a:r>
            <a:r>
              <a:rPr lang="en-US" dirty="0"/>
              <a:t/>
            </a:r>
            <a:br>
              <a:rPr lang="en-US" dirty="0"/>
            </a:br>
            <a:r>
              <a:rPr lang="en-US" dirty="0"/>
              <a:t>8 Hours</a:t>
            </a:r>
          </a:p>
        </p:txBody>
      </p:sp>
      <p:sp>
        <p:nvSpPr>
          <p:cNvPr id="3" name="Content Placeholder 2">
            <a:extLst>
              <a:ext uri="{FF2B5EF4-FFF2-40B4-BE49-F238E27FC236}">
                <a16:creationId xmlns:a16="http://schemas.microsoft.com/office/drawing/2014/main" id="{7D4E399C-0F79-D05C-02E6-4842741B3DD4}"/>
              </a:ext>
            </a:extLst>
          </p:cNvPr>
          <p:cNvSpPr>
            <a:spLocks noGrp="1"/>
          </p:cNvSpPr>
          <p:nvPr>
            <p:ph idx="1"/>
          </p:nvPr>
        </p:nvSpPr>
        <p:spPr>
          <a:xfrm>
            <a:off x="1371600" y="2286000"/>
            <a:ext cx="10048240" cy="3581400"/>
          </a:xfrm>
        </p:spPr>
        <p:txBody>
          <a:bodyPr>
            <a:normAutofit/>
          </a:bodyPr>
          <a:lstStyle/>
          <a:p>
            <a:pPr algn="just"/>
            <a:r>
              <a:rPr lang="en-US" sz="2400" dirty="0">
                <a:solidFill>
                  <a:srgbClr val="000000"/>
                </a:solidFill>
                <a:latin typeface="Times New Roman" panose="02020603050405020304" pitchFamily="18" charset="0"/>
              </a:rPr>
              <a:t>Hierarchical Reinforcement Learning</a:t>
            </a:r>
          </a:p>
          <a:p>
            <a:pPr algn="just"/>
            <a:r>
              <a:rPr lang="en-US" sz="2400" dirty="0">
                <a:solidFill>
                  <a:srgbClr val="000000"/>
                </a:solidFill>
                <a:latin typeface="Times New Roman" panose="02020603050405020304" pitchFamily="18" charset="0"/>
              </a:rPr>
              <a:t>Types of Optimality</a:t>
            </a:r>
          </a:p>
          <a:p>
            <a:pPr algn="just"/>
            <a:r>
              <a:rPr lang="en-US" sz="2400" dirty="0">
                <a:solidFill>
                  <a:srgbClr val="000000"/>
                </a:solidFill>
                <a:latin typeface="Times New Roman" panose="02020603050405020304" pitchFamily="18" charset="0"/>
              </a:rPr>
              <a:t>Semi MDP Model</a:t>
            </a:r>
          </a:p>
          <a:p>
            <a:pPr algn="just"/>
            <a:r>
              <a:rPr lang="en-US" sz="2400" dirty="0">
                <a:solidFill>
                  <a:srgbClr val="000000"/>
                </a:solidFill>
                <a:latin typeface="Times New Roman" panose="02020603050405020304" pitchFamily="18" charset="0"/>
              </a:rPr>
              <a:t>Options</a:t>
            </a:r>
          </a:p>
          <a:p>
            <a:pPr algn="just"/>
            <a:r>
              <a:rPr lang="en-US" sz="2400" dirty="0">
                <a:solidFill>
                  <a:srgbClr val="000000"/>
                </a:solidFill>
                <a:latin typeface="Times New Roman" panose="02020603050405020304" pitchFamily="18" charset="0"/>
              </a:rPr>
              <a:t>Learning with Options</a:t>
            </a:r>
          </a:p>
          <a:p>
            <a:pPr algn="just"/>
            <a:r>
              <a:rPr lang="en-US" sz="2400" dirty="0">
                <a:solidFill>
                  <a:srgbClr val="000000"/>
                </a:solidFill>
                <a:latin typeface="Times New Roman" panose="02020603050405020304" pitchFamily="18" charset="0"/>
              </a:rPr>
              <a:t>Hierarchical Abstract Machines</a:t>
            </a:r>
          </a:p>
          <a:p>
            <a:pPr algn="just"/>
            <a:r>
              <a:rPr lang="en-US" sz="2400" dirty="0">
                <a:solidFill>
                  <a:srgbClr val="000000"/>
                </a:solidFill>
                <a:highlight>
                  <a:srgbClr val="FFFF00"/>
                </a:highlight>
                <a:latin typeface="Times New Roman" panose="02020603050405020304" pitchFamily="18" charset="0"/>
              </a:rPr>
              <a:t>A partially observable Markov decision process</a:t>
            </a:r>
            <a:endParaRPr lang="en-IN"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376155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5FC96-A151-8F4F-02B2-A1B03E193593}"/>
              </a:ext>
            </a:extLst>
          </p:cNvPr>
          <p:cNvSpPr>
            <a:spLocks noGrp="1"/>
          </p:cNvSpPr>
          <p:nvPr>
            <p:ph type="title"/>
          </p:nvPr>
        </p:nvSpPr>
        <p:spPr/>
        <p:txBody>
          <a:bodyPr/>
          <a:lstStyle/>
          <a:p>
            <a:pPr algn="l"/>
            <a:r>
              <a:rPr lang="en-US" b="1" dirty="0"/>
              <a:t>A Partially Observable Markov Decision Process (POMDP) </a:t>
            </a:r>
          </a:p>
        </p:txBody>
      </p:sp>
      <p:sp>
        <p:nvSpPr>
          <p:cNvPr id="3" name="Content Placeholder 2">
            <a:extLst>
              <a:ext uri="{FF2B5EF4-FFF2-40B4-BE49-F238E27FC236}">
                <a16:creationId xmlns:a16="http://schemas.microsoft.com/office/drawing/2014/main" id="{7E3B465C-D001-FD38-A2B4-820946B1BCE2}"/>
              </a:ext>
            </a:extLst>
          </p:cNvPr>
          <p:cNvSpPr>
            <a:spLocks noGrp="1"/>
          </p:cNvSpPr>
          <p:nvPr>
            <p:ph idx="1"/>
          </p:nvPr>
        </p:nvSpPr>
        <p:spPr>
          <a:xfrm>
            <a:off x="1513840" y="2336800"/>
            <a:ext cx="9601200" cy="3530600"/>
          </a:xfrm>
        </p:spPr>
        <p:txBody>
          <a:bodyPr>
            <a:noAutofit/>
          </a:bodyPr>
          <a:lstStyle/>
          <a:p>
            <a:pPr algn="just"/>
            <a:r>
              <a:rPr lang="en-US" sz="2500" b="1" i="0" dirty="0">
                <a:solidFill>
                  <a:schemeClr val="tx1"/>
                </a:solidFill>
                <a:effectLst/>
                <a:latin typeface="Cambria" panose="02040503050406030204" pitchFamily="18" charset="0"/>
                <a:ea typeface="Cambria" panose="02040503050406030204" pitchFamily="18" charset="0"/>
              </a:rPr>
              <a:t>Partially Observable Markov Decision Processes (POMDP)</a:t>
            </a:r>
            <a:r>
              <a:rPr lang="en-US" sz="2500" b="0" i="0" dirty="0">
                <a:solidFill>
                  <a:schemeClr val="tx1"/>
                </a:solidFill>
                <a:effectLst/>
                <a:latin typeface="Cambria" panose="02040503050406030204" pitchFamily="18" charset="0"/>
                <a:ea typeface="Cambria" panose="02040503050406030204" pitchFamily="18" charset="0"/>
              </a:rPr>
              <a:t> is a mathematical framework </a:t>
            </a:r>
            <a:r>
              <a:rPr lang="en-US" sz="2500" b="0" i="0" dirty="0">
                <a:solidFill>
                  <a:schemeClr val="tx1"/>
                </a:solidFill>
                <a:effectLst/>
                <a:highlight>
                  <a:srgbClr val="FFFF00"/>
                </a:highlight>
                <a:latin typeface="Cambria" panose="02040503050406030204" pitchFamily="18" charset="0"/>
                <a:ea typeface="Cambria" panose="02040503050406030204" pitchFamily="18" charset="0"/>
              </a:rPr>
              <a:t>to model sequential decision-making processes with the constraint that the decision maker has incomplete information about the environment</a:t>
            </a:r>
            <a:r>
              <a:rPr lang="en-US" sz="2500" b="0" i="0" dirty="0">
                <a:solidFill>
                  <a:schemeClr val="tx1"/>
                </a:solidFill>
                <a:effectLst/>
                <a:latin typeface="Cambria" panose="02040503050406030204" pitchFamily="18" charset="0"/>
                <a:ea typeface="Cambria" panose="02040503050406030204" pitchFamily="18" charset="0"/>
              </a:rPr>
              <a:t>. </a:t>
            </a:r>
          </a:p>
          <a:p>
            <a:pPr algn="just"/>
            <a:endParaRPr lang="en-US" sz="2500" dirty="0">
              <a:solidFill>
                <a:schemeClr val="tx1"/>
              </a:solidFill>
              <a:latin typeface="Cambria" panose="02040503050406030204" pitchFamily="18" charset="0"/>
              <a:ea typeface="Cambria" panose="02040503050406030204" pitchFamily="18" charset="0"/>
            </a:endParaRPr>
          </a:p>
          <a:p>
            <a:pPr algn="just"/>
            <a:r>
              <a:rPr lang="en-US" sz="2500" b="0" i="0" dirty="0">
                <a:solidFill>
                  <a:schemeClr val="tx1"/>
                </a:solidFill>
                <a:effectLst/>
                <a:latin typeface="Cambria" panose="02040503050406030204" pitchFamily="18" charset="0"/>
                <a:ea typeface="Cambria" panose="02040503050406030204" pitchFamily="18" charset="0"/>
              </a:rPr>
              <a:t>This is useful in various domains like Artificial Intelligence, Reinforcement Learning, robotics, game theory, and many others.</a:t>
            </a:r>
            <a:endParaRPr lang="en-IN" sz="2500" dirty="0">
              <a:solidFill>
                <a:schemeClr val="tx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0396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E2A8F-8D77-97B7-AD0E-0926D54EA3B9}"/>
              </a:ext>
            </a:extLst>
          </p:cNvPr>
          <p:cNvSpPr>
            <a:spLocks noGrp="1"/>
          </p:cNvSpPr>
          <p:nvPr>
            <p:ph type="title"/>
          </p:nvPr>
        </p:nvSpPr>
        <p:spPr/>
        <p:txBody>
          <a:bodyPr/>
          <a:lstStyle/>
          <a:p>
            <a:r>
              <a:rPr lang="en-US" b="1" dirty="0"/>
              <a:t>A Partially Observable Markov Decision Process (POMDP) </a:t>
            </a:r>
            <a:endParaRPr lang="en-IN" b="1" dirty="0"/>
          </a:p>
        </p:txBody>
      </p:sp>
      <p:sp>
        <p:nvSpPr>
          <p:cNvPr id="3" name="Content Placeholder 2">
            <a:extLst>
              <a:ext uri="{FF2B5EF4-FFF2-40B4-BE49-F238E27FC236}">
                <a16:creationId xmlns:a16="http://schemas.microsoft.com/office/drawing/2014/main" id="{A7D9BF0A-93E3-0F90-0C53-DF5D21056393}"/>
              </a:ext>
            </a:extLst>
          </p:cNvPr>
          <p:cNvSpPr>
            <a:spLocks noGrp="1"/>
          </p:cNvSpPr>
          <p:nvPr>
            <p:ph idx="1"/>
          </p:nvPr>
        </p:nvSpPr>
        <p:spPr>
          <a:xfrm>
            <a:off x="1371600" y="2286000"/>
            <a:ext cx="9601200" cy="4114800"/>
          </a:xfrm>
        </p:spPr>
        <p:txBody>
          <a:bodyPr>
            <a:normAutofit lnSpcReduction="10000"/>
          </a:bodyPr>
          <a:lstStyle/>
          <a:p>
            <a:pPr algn="just"/>
            <a:r>
              <a:rPr lang="en-US" sz="2500" dirty="0">
                <a:solidFill>
                  <a:schemeClr val="tx1"/>
                </a:solidFill>
                <a:latin typeface="Cambria" panose="02040503050406030204" pitchFamily="18" charset="0"/>
                <a:ea typeface="Cambria" panose="02040503050406030204" pitchFamily="18" charset="0"/>
              </a:rPr>
              <a:t>In Artificial Intelligence, an agent/decision-maker needs to go through various decision-making processes to take appropriate actions in an environment to maximize the gain of rewards. </a:t>
            </a:r>
          </a:p>
          <a:p>
            <a:pPr algn="just"/>
            <a:r>
              <a:rPr lang="en-US" sz="2500" b="1" dirty="0">
                <a:solidFill>
                  <a:schemeClr val="tx1"/>
                </a:solidFill>
                <a:latin typeface="Cambria" panose="02040503050406030204" pitchFamily="18" charset="0"/>
                <a:ea typeface="Cambria" panose="02040503050406030204" pitchFamily="18" charset="0"/>
              </a:rPr>
              <a:t>Partially Observable Markov Decision Process (POMDP) </a:t>
            </a:r>
            <a:r>
              <a:rPr lang="en-US" sz="2500" dirty="0">
                <a:solidFill>
                  <a:schemeClr val="tx1"/>
                </a:solidFill>
                <a:latin typeface="Cambria" panose="02040503050406030204" pitchFamily="18" charset="0"/>
                <a:ea typeface="Cambria" panose="02040503050406030204" pitchFamily="18" charset="0"/>
              </a:rPr>
              <a:t>is a mathematical framework to model sequential decision-making processes in real-life scenarios </a:t>
            </a:r>
            <a:r>
              <a:rPr lang="en-US" sz="2500" dirty="0">
                <a:solidFill>
                  <a:schemeClr val="tx1"/>
                </a:solidFill>
                <a:highlight>
                  <a:srgbClr val="FFFF00"/>
                </a:highlight>
                <a:latin typeface="Cambria" panose="02040503050406030204" pitchFamily="18" charset="0"/>
                <a:ea typeface="Cambria" panose="02040503050406030204" pitchFamily="18" charset="0"/>
              </a:rPr>
              <a:t>wherein the decision-maker does not have complete information about the environment in which it works</a:t>
            </a:r>
            <a:r>
              <a:rPr lang="en-US" sz="2500" dirty="0">
                <a:solidFill>
                  <a:schemeClr val="tx1"/>
                </a:solidFill>
                <a:latin typeface="Cambria" panose="02040503050406030204" pitchFamily="18" charset="0"/>
                <a:ea typeface="Cambria" panose="02040503050406030204" pitchFamily="18" charset="0"/>
              </a:rPr>
              <a:t>. </a:t>
            </a:r>
          </a:p>
          <a:p>
            <a:pPr algn="just"/>
            <a:r>
              <a:rPr lang="en-US" sz="2500" dirty="0">
                <a:solidFill>
                  <a:schemeClr val="tx1"/>
                </a:solidFill>
                <a:latin typeface="Cambria" panose="02040503050406030204" pitchFamily="18" charset="0"/>
                <a:ea typeface="Cambria" panose="02040503050406030204" pitchFamily="18" charset="0"/>
              </a:rPr>
              <a:t>Therefore, POMDP finds its applications in various domains like AI, operations research, economics, robotics, and many others. We formally define POMDP in the next section.</a:t>
            </a:r>
            <a:endParaRPr lang="en-IN" sz="2500" dirty="0">
              <a:solidFill>
                <a:schemeClr val="tx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2122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79EDC-8364-0C6D-236D-F19F26D4A4F4}"/>
              </a:ext>
            </a:extLst>
          </p:cNvPr>
          <p:cNvSpPr>
            <a:spLocks noGrp="1"/>
          </p:cNvSpPr>
          <p:nvPr>
            <p:ph type="title"/>
          </p:nvPr>
        </p:nvSpPr>
        <p:spPr/>
        <p:txBody>
          <a:bodyPr/>
          <a:lstStyle/>
          <a:p>
            <a:r>
              <a:rPr lang="en-IN" b="1" dirty="0"/>
              <a:t>What are POMDPs?</a:t>
            </a:r>
            <a:br>
              <a:rPr lang="en-IN" b="1" dirty="0"/>
            </a:br>
            <a:endParaRPr lang="en-IN" b="1" dirty="0"/>
          </a:p>
        </p:txBody>
      </p:sp>
      <p:sp>
        <p:nvSpPr>
          <p:cNvPr id="3" name="Content Placeholder 2">
            <a:extLst>
              <a:ext uri="{FF2B5EF4-FFF2-40B4-BE49-F238E27FC236}">
                <a16:creationId xmlns:a16="http://schemas.microsoft.com/office/drawing/2014/main" id="{05B2D10B-F1ED-7341-436A-845A089A879D}"/>
              </a:ext>
            </a:extLst>
          </p:cNvPr>
          <p:cNvSpPr>
            <a:spLocks noGrp="1"/>
          </p:cNvSpPr>
          <p:nvPr>
            <p:ph idx="1"/>
          </p:nvPr>
        </p:nvSpPr>
        <p:spPr>
          <a:xfrm>
            <a:off x="1371600" y="1402080"/>
            <a:ext cx="10515600" cy="5262880"/>
          </a:xfrm>
        </p:spPr>
        <p:txBody>
          <a:bodyPr>
            <a:noAutofit/>
          </a:bodyPr>
          <a:lstStyle/>
          <a:p>
            <a:pPr marL="0" indent="0" algn="just">
              <a:buNone/>
            </a:pPr>
            <a:r>
              <a:rPr lang="en-US" sz="2300" b="0" i="0" dirty="0">
                <a:solidFill>
                  <a:schemeClr val="tx1"/>
                </a:solidFill>
                <a:effectLst/>
                <a:latin typeface="__Source_Sans_Pro_fa6df0"/>
              </a:rPr>
              <a:t>A POMDP can be represented by the tuple </a:t>
            </a:r>
            <a:r>
              <a:rPr lang="en-US" sz="2300" b="0" i="0" dirty="0">
                <a:solidFill>
                  <a:schemeClr val="tx1"/>
                </a:solidFill>
                <a:effectLst/>
                <a:highlight>
                  <a:srgbClr val="FFFF00"/>
                </a:highlight>
                <a:latin typeface="KaTeX_Main"/>
              </a:rPr>
              <a:t>(𝑆,𝐴,𝑇,𝑅,Ω,𝑂,𝛾)</a:t>
            </a:r>
            <a:r>
              <a:rPr lang="en-US" sz="2300" b="0" i="0" dirty="0">
                <a:solidFill>
                  <a:schemeClr val="tx1"/>
                </a:solidFill>
                <a:effectLst/>
                <a:latin typeface="__Source_Sans_Pro_fa6df0"/>
              </a:rPr>
              <a:t> where,</a:t>
            </a:r>
          </a:p>
          <a:p>
            <a:pPr algn="just">
              <a:buFont typeface="Arial" panose="020B0604020202020204" pitchFamily="34" charset="0"/>
              <a:buChar char="•"/>
            </a:pPr>
            <a:r>
              <a:rPr lang="en-US" sz="2300" b="0" i="0" dirty="0">
                <a:solidFill>
                  <a:schemeClr val="tx1"/>
                </a:solidFill>
                <a:effectLst/>
                <a:latin typeface="KaTeX_Main"/>
              </a:rPr>
              <a:t>𝑆:</a:t>
            </a:r>
            <a:r>
              <a:rPr lang="en-US" sz="2300" b="0" i="0" dirty="0">
                <a:solidFill>
                  <a:schemeClr val="tx1"/>
                </a:solidFill>
                <a:effectLst/>
                <a:latin typeface="__Source_Sans_Pro_fa6df0"/>
              </a:rPr>
              <a:t> refers to the set of states in the environment.</a:t>
            </a:r>
          </a:p>
          <a:p>
            <a:pPr algn="just">
              <a:buFont typeface="Arial" panose="020B0604020202020204" pitchFamily="34" charset="0"/>
              <a:buChar char="•"/>
            </a:pPr>
            <a:r>
              <a:rPr lang="en-US" sz="2300" b="0" i="0" dirty="0">
                <a:solidFill>
                  <a:schemeClr val="tx1"/>
                </a:solidFill>
                <a:effectLst/>
                <a:latin typeface="KaTeX_Main"/>
              </a:rPr>
              <a:t>𝐴:</a:t>
            </a:r>
            <a:r>
              <a:rPr lang="en-US" sz="2300" b="0" i="0" dirty="0">
                <a:solidFill>
                  <a:schemeClr val="tx1"/>
                </a:solidFill>
                <a:effectLst/>
                <a:latin typeface="__Source_Sans_Pro_fa6df0"/>
              </a:rPr>
              <a:t> denotes the set of possible actions taken by the decision maker.</a:t>
            </a:r>
          </a:p>
          <a:p>
            <a:pPr algn="just">
              <a:buFont typeface="Arial" panose="020B0604020202020204" pitchFamily="34" charset="0"/>
              <a:buChar char="•"/>
            </a:pPr>
            <a:r>
              <a:rPr lang="en-US" sz="2300" b="0" i="0" dirty="0">
                <a:solidFill>
                  <a:schemeClr val="tx1"/>
                </a:solidFill>
                <a:effectLst/>
                <a:latin typeface="KaTeX_Main"/>
              </a:rPr>
              <a:t>𝑇:</a:t>
            </a:r>
            <a:r>
              <a:rPr lang="en-US" sz="2300" b="0" i="0" dirty="0">
                <a:solidFill>
                  <a:schemeClr val="tx1"/>
                </a:solidFill>
                <a:effectLst/>
                <a:latin typeface="__Source_Sans_Pro_fa6df0"/>
              </a:rPr>
              <a:t> refers to a conditional transition probability distribution of the next state when the current state and chosen action are given.</a:t>
            </a:r>
          </a:p>
          <a:p>
            <a:pPr algn="just">
              <a:buFont typeface="Arial" panose="020B0604020202020204" pitchFamily="34" charset="0"/>
              <a:buChar char="•"/>
            </a:pPr>
            <a:r>
              <a:rPr lang="en-US" sz="2300" b="0" i="0" dirty="0">
                <a:solidFill>
                  <a:schemeClr val="tx1"/>
                </a:solidFill>
                <a:effectLst/>
                <a:latin typeface="KaTeX_Main"/>
              </a:rPr>
              <a:t>𝑅:</a:t>
            </a:r>
            <a:r>
              <a:rPr lang="en-US" sz="2300" b="0" i="0" dirty="0">
                <a:solidFill>
                  <a:schemeClr val="tx1"/>
                </a:solidFill>
                <a:effectLst/>
                <a:latin typeface="__Source_Sans_Pro_fa6df0"/>
              </a:rPr>
              <a:t> is a function that takes state and action as input and provides the corresponding reward as output.</a:t>
            </a:r>
          </a:p>
          <a:p>
            <a:pPr algn="just">
              <a:buFont typeface="Arial" panose="020B0604020202020204" pitchFamily="34" charset="0"/>
              <a:buChar char="•"/>
            </a:pPr>
            <a:r>
              <a:rPr lang="en-US" sz="2300" b="0" i="0" dirty="0">
                <a:solidFill>
                  <a:schemeClr val="tx1"/>
                </a:solidFill>
                <a:effectLst/>
                <a:latin typeface="KaTeX_Main"/>
              </a:rPr>
              <a:t>Ω:</a:t>
            </a:r>
            <a:r>
              <a:rPr lang="en-US" sz="2300" b="0" i="0" dirty="0">
                <a:solidFill>
                  <a:schemeClr val="tx1"/>
                </a:solidFill>
                <a:effectLst/>
                <a:latin typeface="__Source_Sans_Pro_fa6df0"/>
              </a:rPr>
              <a:t> refers to the set of possible observations made by the decision-maker.</a:t>
            </a:r>
          </a:p>
          <a:p>
            <a:pPr algn="just">
              <a:buFont typeface="Arial" panose="020B0604020202020204" pitchFamily="34" charset="0"/>
              <a:buChar char="•"/>
            </a:pPr>
            <a:r>
              <a:rPr lang="en-US" sz="2300" b="0" i="0" dirty="0">
                <a:solidFill>
                  <a:schemeClr val="tx1"/>
                </a:solidFill>
                <a:effectLst/>
                <a:latin typeface="KaTeX_Main"/>
              </a:rPr>
              <a:t>𝑂:</a:t>
            </a:r>
            <a:r>
              <a:rPr lang="en-US" sz="2300" b="0" i="0" dirty="0">
                <a:solidFill>
                  <a:schemeClr val="tx1"/>
                </a:solidFill>
                <a:effectLst/>
                <a:latin typeface="__Source_Sans_Pro_fa6df0"/>
              </a:rPr>
              <a:t> is a conditional probability distribution of the observations when the current state and chosen action are given.</a:t>
            </a:r>
          </a:p>
          <a:p>
            <a:pPr algn="just">
              <a:buFont typeface="Arial" panose="020B0604020202020204" pitchFamily="34" charset="0"/>
              <a:buChar char="•"/>
            </a:pPr>
            <a:r>
              <a:rPr lang="en-US" sz="2300" b="0" i="0" dirty="0">
                <a:solidFill>
                  <a:schemeClr val="tx1"/>
                </a:solidFill>
                <a:effectLst/>
                <a:latin typeface="KaTeX_Main"/>
              </a:rPr>
              <a:t>𝛾:</a:t>
            </a:r>
            <a:r>
              <a:rPr lang="en-US" sz="2300" b="0" i="0" dirty="0">
                <a:solidFill>
                  <a:schemeClr val="tx1"/>
                </a:solidFill>
                <a:effectLst/>
                <a:latin typeface="__Source_Sans_Pro_fa6df0"/>
              </a:rPr>
              <a:t> represents the discount factor used to compute the expected sum of discounted future rewards.</a:t>
            </a:r>
          </a:p>
          <a:p>
            <a:pPr algn="just"/>
            <a:endParaRPr lang="en-IN" sz="2300" dirty="0">
              <a:solidFill>
                <a:schemeClr val="tx1"/>
              </a:solidFill>
            </a:endParaRPr>
          </a:p>
        </p:txBody>
      </p:sp>
    </p:spTree>
    <p:extLst>
      <p:ext uri="{BB962C8B-B14F-4D97-AF65-F5344CB8AC3E}">
        <p14:creationId xmlns:p14="http://schemas.microsoft.com/office/powerpoint/2010/main" val="4164356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CFC45-035E-DD26-4B52-3DF00097D332}"/>
              </a:ext>
            </a:extLst>
          </p:cNvPr>
          <p:cNvSpPr>
            <a:spLocks noGrp="1"/>
          </p:cNvSpPr>
          <p:nvPr>
            <p:ph type="title"/>
          </p:nvPr>
        </p:nvSpPr>
        <p:spPr/>
        <p:txBody>
          <a:bodyPr/>
          <a:lstStyle/>
          <a:p>
            <a:r>
              <a:rPr lang="en-IN" b="1" dirty="0"/>
              <a:t>Formal definition</a:t>
            </a:r>
            <a:r>
              <a:rPr lang="en-IN" b="1" i="0" dirty="0">
                <a:solidFill>
                  <a:srgbClr val="000000"/>
                </a:solidFill>
                <a:effectLst/>
                <a:highlight>
                  <a:srgbClr val="FFFFFF"/>
                </a:highlight>
                <a:latin typeface="Arial" panose="020B0604020202020204" pitchFamily="34" charset="0"/>
              </a:rPr>
              <a:t/>
            </a:r>
            <a:br>
              <a:rPr lang="en-IN" b="1" i="0"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859B4A15-F7FA-ABBD-08E6-D02BC72C7A6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DAE8AC9-1239-D489-E7C5-38BCDE96266A}"/>
              </a:ext>
            </a:extLst>
          </p:cNvPr>
          <p:cNvPicPr>
            <a:picLocks noChangeAspect="1"/>
          </p:cNvPicPr>
          <p:nvPr/>
        </p:nvPicPr>
        <p:blipFill>
          <a:blip r:embed="rId2"/>
          <a:stretch>
            <a:fillRect/>
          </a:stretch>
        </p:blipFill>
        <p:spPr>
          <a:xfrm>
            <a:off x="447675" y="1899920"/>
            <a:ext cx="11744325" cy="3505200"/>
          </a:xfrm>
          <a:prstGeom prst="rect">
            <a:avLst/>
          </a:prstGeom>
        </p:spPr>
      </p:pic>
    </p:spTree>
    <p:extLst>
      <p:ext uri="{BB962C8B-B14F-4D97-AF65-F5344CB8AC3E}">
        <p14:creationId xmlns:p14="http://schemas.microsoft.com/office/powerpoint/2010/main" val="3379324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1E6BD-C54B-9079-32B3-93923B070B1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C6D73FC-9CF2-C8AE-0155-0F798297CBF3}"/>
              </a:ext>
            </a:extLst>
          </p:cNvPr>
          <p:cNvSpPr>
            <a:spLocks noGrp="1"/>
          </p:cNvSpPr>
          <p:nvPr>
            <p:ph idx="1"/>
          </p:nvPr>
        </p:nvSpPr>
        <p:spPr/>
        <p:txBody>
          <a:bodyPr/>
          <a:lstStyle/>
          <a:p>
            <a:endParaRPr lang="en-IN" dirty="0"/>
          </a:p>
        </p:txBody>
      </p:sp>
      <p:pic>
        <p:nvPicPr>
          <p:cNvPr id="17" name="Picture 16">
            <a:extLst>
              <a:ext uri="{FF2B5EF4-FFF2-40B4-BE49-F238E27FC236}">
                <a16:creationId xmlns:a16="http://schemas.microsoft.com/office/drawing/2014/main" id="{103142FC-72E4-F40B-80F7-6705AC64CD9A}"/>
              </a:ext>
            </a:extLst>
          </p:cNvPr>
          <p:cNvPicPr>
            <a:picLocks noChangeAspect="1"/>
          </p:cNvPicPr>
          <p:nvPr/>
        </p:nvPicPr>
        <p:blipFill>
          <a:blip r:embed="rId2"/>
          <a:stretch>
            <a:fillRect/>
          </a:stretch>
        </p:blipFill>
        <p:spPr>
          <a:xfrm>
            <a:off x="0" y="3644521"/>
            <a:ext cx="12192000" cy="3043677"/>
          </a:xfrm>
          <a:prstGeom prst="rect">
            <a:avLst/>
          </a:prstGeom>
        </p:spPr>
      </p:pic>
      <p:pic>
        <p:nvPicPr>
          <p:cNvPr id="18" name="Picture 17">
            <a:extLst>
              <a:ext uri="{FF2B5EF4-FFF2-40B4-BE49-F238E27FC236}">
                <a16:creationId xmlns:a16="http://schemas.microsoft.com/office/drawing/2014/main" id="{3A0C9BFB-EB96-E8B7-7C99-7801BB857809}"/>
              </a:ext>
            </a:extLst>
          </p:cNvPr>
          <p:cNvPicPr>
            <a:picLocks noChangeAspect="1"/>
          </p:cNvPicPr>
          <p:nvPr/>
        </p:nvPicPr>
        <p:blipFill>
          <a:blip r:embed="rId3"/>
          <a:stretch>
            <a:fillRect/>
          </a:stretch>
        </p:blipFill>
        <p:spPr>
          <a:xfrm>
            <a:off x="1371600" y="169802"/>
            <a:ext cx="3738563" cy="3412796"/>
          </a:xfrm>
          <a:prstGeom prst="rect">
            <a:avLst/>
          </a:prstGeom>
        </p:spPr>
      </p:pic>
      <p:pic>
        <p:nvPicPr>
          <p:cNvPr id="21" name="Picture 20">
            <a:extLst>
              <a:ext uri="{FF2B5EF4-FFF2-40B4-BE49-F238E27FC236}">
                <a16:creationId xmlns:a16="http://schemas.microsoft.com/office/drawing/2014/main" id="{3FB86104-DF8A-F5D3-871D-A0A8B13725A1}"/>
              </a:ext>
            </a:extLst>
          </p:cNvPr>
          <p:cNvPicPr>
            <a:picLocks noChangeAspect="1"/>
          </p:cNvPicPr>
          <p:nvPr/>
        </p:nvPicPr>
        <p:blipFill>
          <a:blip r:embed="rId4"/>
          <a:stretch>
            <a:fillRect/>
          </a:stretch>
        </p:blipFill>
        <p:spPr>
          <a:xfrm>
            <a:off x="6481763" y="169802"/>
            <a:ext cx="3927513" cy="3412796"/>
          </a:xfrm>
          <a:prstGeom prst="rect">
            <a:avLst/>
          </a:prstGeom>
        </p:spPr>
      </p:pic>
    </p:spTree>
    <p:extLst>
      <p:ext uri="{BB962C8B-B14F-4D97-AF65-F5344CB8AC3E}">
        <p14:creationId xmlns:p14="http://schemas.microsoft.com/office/powerpoint/2010/main" val="1557725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6E540-AA18-8895-420D-1E1EEBDE22BB}"/>
              </a:ext>
            </a:extLst>
          </p:cNvPr>
          <p:cNvSpPr>
            <a:spLocks noGrp="1"/>
          </p:cNvSpPr>
          <p:nvPr>
            <p:ph type="title"/>
          </p:nvPr>
        </p:nvSpPr>
        <p:spPr/>
        <p:txBody>
          <a:bodyPr/>
          <a:lstStyle/>
          <a:p>
            <a:r>
              <a:rPr lang="en-IN" b="1" dirty="0"/>
              <a:t>What are POMDPs?</a:t>
            </a:r>
            <a:endParaRPr lang="en-IN" dirty="0"/>
          </a:p>
        </p:txBody>
      </p:sp>
      <p:sp>
        <p:nvSpPr>
          <p:cNvPr id="3" name="Content Placeholder 2">
            <a:extLst>
              <a:ext uri="{FF2B5EF4-FFF2-40B4-BE49-F238E27FC236}">
                <a16:creationId xmlns:a16="http://schemas.microsoft.com/office/drawing/2014/main" id="{3A39D460-236B-E802-6FA4-C4AFEB18519C}"/>
              </a:ext>
            </a:extLst>
          </p:cNvPr>
          <p:cNvSpPr>
            <a:spLocks noGrp="1"/>
          </p:cNvSpPr>
          <p:nvPr>
            <p:ph idx="1"/>
          </p:nvPr>
        </p:nvSpPr>
        <p:spPr>
          <a:xfrm>
            <a:off x="1371600" y="1554480"/>
            <a:ext cx="10017760" cy="5080000"/>
          </a:xfrm>
        </p:spPr>
        <p:txBody>
          <a:bodyPr>
            <a:noAutofit/>
          </a:bodyPr>
          <a:lstStyle/>
          <a:p>
            <a:pPr algn="just"/>
            <a:r>
              <a:rPr lang="en-US" sz="2500" dirty="0">
                <a:solidFill>
                  <a:schemeClr val="tx1"/>
                </a:solidFill>
                <a:latin typeface="Cambria" panose="02040503050406030204" pitchFamily="18" charset="0"/>
                <a:ea typeface="Cambria" panose="02040503050406030204" pitchFamily="18" charset="0"/>
              </a:rPr>
              <a:t>The agent does not directly observe the environment's state, </a:t>
            </a:r>
            <a:r>
              <a:rPr lang="en-US" sz="2500" dirty="0">
                <a:solidFill>
                  <a:schemeClr val="tx1"/>
                </a:solidFill>
                <a:highlight>
                  <a:srgbClr val="FFFF00"/>
                </a:highlight>
                <a:latin typeface="Cambria" panose="02040503050406030204" pitchFamily="18" charset="0"/>
                <a:ea typeface="Cambria" panose="02040503050406030204" pitchFamily="18" charset="0"/>
              </a:rPr>
              <a:t>the agent must make decisions under uncertainty of the true environment state</a:t>
            </a:r>
            <a:r>
              <a:rPr lang="en-US" sz="2500" dirty="0">
                <a:solidFill>
                  <a:schemeClr val="tx1"/>
                </a:solidFill>
                <a:latin typeface="Cambria" panose="02040503050406030204" pitchFamily="18" charset="0"/>
                <a:ea typeface="Cambria" panose="02040503050406030204" pitchFamily="18" charset="0"/>
              </a:rPr>
              <a:t>. However, by interacting with the environment and receiving observations, </a:t>
            </a:r>
            <a:r>
              <a:rPr lang="en-US" sz="2500" dirty="0">
                <a:solidFill>
                  <a:schemeClr val="tx1"/>
                </a:solidFill>
                <a:highlight>
                  <a:srgbClr val="FFFF00"/>
                </a:highlight>
                <a:latin typeface="Cambria" panose="02040503050406030204" pitchFamily="18" charset="0"/>
                <a:ea typeface="Cambria" panose="02040503050406030204" pitchFamily="18" charset="0"/>
              </a:rPr>
              <a:t>the agent may update its belief in the true state by updating the probability distribution of the current state</a:t>
            </a:r>
            <a:r>
              <a:rPr lang="en-US" sz="2500" dirty="0">
                <a:solidFill>
                  <a:schemeClr val="tx1"/>
                </a:solidFill>
                <a:latin typeface="Cambria" panose="02040503050406030204" pitchFamily="18" charset="0"/>
                <a:ea typeface="Cambria" panose="02040503050406030204" pitchFamily="18" charset="0"/>
              </a:rPr>
              <a:t>. </a:t>
            </a:r>
          </a:p>
          <a:p>
            <a:pPr algn="just"/>
            <a:endParaRPr lang="en-US" sz="2500" dirty="0">
              <a:solidFill>
                <a:schemeClr val="tx1"/>
              </a:solidFill>
              <a:latin typeface="Cambria" panose="02040503050406030204" pitchFamily="18" charset="0"/>
              <a:ea typeface="Cambria" panose="02040503050406030204" pitchFamily="18" charset="0"/>
            </a:endParaRPr>
          </a:p>
          <a:p>
            <a:pPr algn="just"/>
            <a:r>
              <a:rPr lang="en-US" sz="2500" dirty="0">
                <a:solidFill>
                  <a:schemeClr val="tx1"/>
                </a:solidFill>
                <a:latin typeface="Cambria" panose="02040503050406030204" pitchFamily="18" charset="0"/>
                <a:ea typeface="Cambria" panose="02040503050406030204" pitchFamily="18" charset="0"/>
              </a:rPr>
              <a:t>A consequence of this property is that the optimal behavior may often include (information gathering) actions that are taken purely because they improve the agent's estimate of the current state, thereby allowing it to make better decisions in the future.</a:t>
            </a:r>
          </a:p>
        </p:txBody>
      </p:sp>
    </p:spTree>
    <p:extLst>
      <p:ext uri="{BB962C8B-B14F-4D97-AF65-F5344CB8AC3E}">
        <p14:creationId xmlns:p14="http://schemas.microsoft.com/office/powerpoint/2010/main" val="1751550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6E540-AA18-8895-420D-1E1EEBDE22BB}"/>
              </a:ext>
            </a:extLst>
          </p:cNvPr>
          <p:cNvSpPr>
            <a:spLocks noGrp="1"/>
          </p:cNvSpPr>
          <p:nvPr>
            <p:ph type="title"/>
          </p:nvPr>
        </p:nvSpPr>
        <p:spPr/>
        <p:txBody>
          <a:bodyPr/>
          <a:lstStyle/>
          <a:p>
            <a:r>
              <a:rPr lang="en-IN" b="1" dirty="0"/>
              <a:t>What are POMDPs?</a:t>
            </a:r>
            <a:endParaRPr lang="en-IN" dirty="0"/>
          </a:p>
        </p:txBody>
      </p:sp>
      <p:sp>
        <p:nvSpPr>
          <p:cNvPr id="3" name="Content Placeholder 2">
            <a:extLst>
              <a:ext uri="{FF2B5EF4-FFF2-40B4-BE49-F238E27FC236}">
                <a16:creationId xmlns:a16="http://schemas.microsoft.com/office/drawing/2014/main" id="{3A39D460-236B-E802-6FA4-C4AFEB18519C}"/>
              </a:ext>
            </a:extLst>
          </p:cNvPr>
          <p:cNvSpPr>
            <a:spLocks noGrp="1"/>
          </p:cNvSpPr>
          <p:nvPr>
            <p:ph idx="1"/>
          </p:nvPr>
        </p:nvSpPr>
        <p:spPr>
          <a:xfrm>
            <a:off x="1371600" y="1554480"/>
            <a:ext cx="10017760" cy="5080000"/>
          </a:xfrm>
        </p:spPr>
        <p:txBody>
          <a:bodyPr>
            <a:noAutofit/>
          </a:bodyPr>
          <a:lstStyle/>
          <a:p>
            <a:pPr algn="just"/>
            <a:r>
              <a:rPr lang="en-US" sz="2500" dirty="0">
                <a:solidFill>
                  <a:schemeClr val="tx1"/>
                </a:solidFill>
                <a:latin typeface="Cambria" panose="02040503050406030204" pitchFamily="18" charset="0"/>
                <a:ea typeface="Cambria" panose="02040503050406030204" pitchFamily="18" charset="0"/>
              </a:rPr>
              <a:t>It is instructive to compare the above definition with the definition of a </a:t>
            </a:r>
            <a:r>
              <a:rPr lang="en-US" sz="2500" dirty="0">
                <a:solidFill>
                  <a:schemeClr val="tx1"/>
                </a:solidFill>
                <a:latin typeface="Cambria" panose="02040503050406030204" pitchFamily="18" charset="0"/>
                <a:ea typeface="Cambria" panose="02040503050406030204" pitchFamily="18" charset="0"/>
                <a:hlinkClick r:id="rId2" tooltip="Markov decision process">
                  <a:extLst>
                    <a:ext uri="{A12FA001-AC4F-418D-AE19-62706E023703}">
                      <ahyp:hlinkClr xmlns:ahyp="http://schemas.microsoft.com/office/drawing/2018/hyperlinkcolor" xmlns="" val="tx"/>
                    </a:ext>
                  </a:extLst>
                </a:hlinkClick>
              </a:rPr>
              <a:t>Markov decision process</a:t>
            </a:r>
            <a:r>
              <a:rPr lang="en-US" sz="2500" dirty="0">
                <a:solidFill>
                  <a:schemeClr val="tx1"/>
                </a:solidFill>
                <a:latin typeface="Cambria" panose="02040503050406030204" pitchFamily="18" charset="0"/>
                <a:ea typeface="Cambria" panose="02040503050406030204" pitchFamily="18" charset="0"/>
              </a:rPr>
              <a:t>. </a:t>
            </a:r>
          </a:p>
          <a:p>
            <a:pPr algn="just"/>
            <a:endParaRPr lang="en-US" sz="2500" dirty="0">
              <a:solidFill>
                <a:schemeClr val="tx1"/>
              </a:solidFill>
              <a:latin typeface="Cambria" panose="02040503050406030204" pitchFamily="18" charset="0"/>
              <a:ea typeface="Cambria" panose="02040503050406030204" pitchFamily="18" charset="0"/>
            </a:endParaRPr>
          </a:p>
          <a:p>
            <a:pPr algn="just"/>
            <a:r>
              <a:rPr lang="en-US" sz="2500" dirty="0">
                <a:solidFill>
                  <a:schemeClr val="tx1"/>
                </a:solidFill>
                <a:highlight>
                  <a:srgbClr val="FFFF00"/>
                </a:highlight>
                <a:latin typeface="Cambria" panose="02040503050406030204" pitchFamily="18" charset="0"/>
                <a:ea typeface="Cambria" panose="02040503050406030204" pitchFamily="18" charset="0"/>
              </a:rPr>
              <a:t>MDP does not include the observation set</a:t>
            </a:r>
            <a:r>
              <a:rPr lang="en-US" sz="2500" dirty="0">
                <a:solidFill>
                  <a:schemeClr val="tx1"/>
                </a:solidFill>
                <a:latin typeface="Cambria" panose="02040503050406030204" pitchFamily="18" charset="0"/>
                <a:ea typeface="Cambria" panose="02040503050406030204" pitchFamily="18" charset="0"/>
              </a:rPr>
              <a:t>, because the agent always knows with certainty the environment's current state. </a:t>
            </a:r>
          </a:p>
          <a:p>
            <a:pPr algn="just"/>
            <a:r>
              <a:rPr lang="en-US" sz="2500" dirty="0">
                <a:solidFill>
                  <a:schemeClr val="tx1"/>
                </a:solidFill>
                <a:latin typeface="Cambria" panose="02040503050406030204" pitchFamily="18" charset="0"/>
                <a:ea typeface="Cambria" panose="02040503050406030204" pitchFamily="18" charset="0"/>
              </a:rPr>
              <a:t>Alternatively, an MDP can be reformulated as a </a:t>
            </a:r>
            <a:r>
              <a:rPr lang="en-US" sz="2500" dirty="0">
                <a:solidFill>
                  <a:schemeClr val="tx1"/>
                </a:solidFill>
                <a:highlight>
                  <a:srgbClr val="FFFF00"/>
                </a:highlight>
                <a:latin typeface="Cambria" panose="02040503050406030204" pitchFamily="18" charset="0"/>
                <a:ea typeface="Cambria" panose="02040503050406030204" pitchFamily="18" charset="0"/>
              </a:rPr>
              <a:t>POMDP by setting the observation set to be equal to the set of states and defining the observation conditional probabilities to deterministically select the observation that corresponds to the true state</a:t>
            </a:r>
            <a:r>
              <a:rPr lang="en-US" sz="2500" dirty="0">
                <a:solidFill>
                  <a:schemeClr val="tx1"/>
                </a:solidFill>
                <a:latin typeface="Cambria" panose="02040503050406030204" pitchFamily="18" charset="0"/>
                <a:ea typeface="Cambria" panose="02040503050406030204" pitchFamily="18" charset="0"/>
              </a:rPr>
              <a:t>.</a:t>
            </a:r>
            <a:endParaRPr lang="en-IN" sz="2500" dirty="0"/>
          </a:p>
        </p:txBody>
      </p:sp>
    </p:spTree>
    <p:extLst>
      <p:ext uri="{BB962C8B-B14F-4D97-AF65-F5344CB8AC3E}">
        <p14:creationId xmlns:p14="http://schemas.microsoft.com/office/powerpoint/2010/main" val="1928336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6B605-9304-37AA-10BC-0BB1D1113B96}"/>
              </a:ext>
            </a:extLst>
          </p:cNvPr>
          <p:cNvSpPr>
            <a:spLocks noGrp="1"/>
          </p:cNvSpPr>
          <p:nvPr>
            <p:ph type="title"/>
          </p:nvPr>
        </p:nvSpPr>
        <p:spPr/>
        <p:txBody>
          <a:bodyPr/>
          <a:lstStyle/>
          <a:p>
            <a:r>
              <a:rPr lang="en-IN" b="1" dirty="0"/>
              <a:t>Belief update</a:t>
            </a:r>
            <a:r>
              <a:rPr lang="en-IN" b="0" i="0" dirty="0">
                <a:solidFill>
                  <a:srgbClr val="000000"/>
                </a:solidFill>
                <a:effectLst/>
                <a:highlight>
                  <a:srgbClr val="FFFFFF"/>
                </a:highlight>
                <a:latin typeface="Linux Libertine"/>
              </a:rPr>
              <a:t/>
            </a:r>
            <a:br>
              <a:rPr lang="en-IN" b="0" i="0" dirty="0">
                <a:solidFill>
                  <a:srgbClr val="000000"/>
                </a:solidFill>
                <a:effectLst/>
                <a:highlight>
                  <a:srgbClr val="FFFFFF"/>
                </a:highlight>
                <a:latin typeface="Linux Libertine"/>
              </a:rPr>
            </a:br>
            <a:endParaRPr lang="en-IN" dirty="0"/>
          </a:p>
        </p:txBody>
      </p:sp>
      <p:sp>
        <p:nvSpPr>
          <p:cNvPr id="3" name="Content Placeholder 2">
            <a:extLst>
              <a:ext uri="{FF2B5EF4-FFF2-40B4-BE49-F238E27FC236}">
                <a16:creationId xmlns:a16="http://schemas.microsoft.com/office/drawing/2014/main" id="{12A6C0A4-C4DC-B821-D719-AB75B96C69D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4CFBC519-BBEA-308C-200A-2D5417D235C9}"/>
              </a:ext>
            </a:extLst>
          </p:cNvPr>
          <p:cNvPicPr>
            <a:picLocks noChangeAspect="1"/>
          </p:cNvPicPr>
          <p:nvPr/>
        </p:nvPicPr>
        <p:blipFill>
          <a:blip r:embed="rId2"/>
          <a:stretch>
            <a:fillRect/>
          </a:stretch>
        </p:blipFill>
        <p:spPr>
          <a:xfrm>
            <a:off x="0" y="1615494"/>
            <a:ext cx="12192000" cy="3627011"/>
          </a:xfrm>
          <a:prstGeom prst="rect">
            <a:avLst/>
          </a:prstGeom>
        </p:spPr>
      </p:pic>
    </p:spTree>
    <p:extLst>
      <p:ext uri="{BB962C8B-B14F-4D97-AF65-F5344CB8AC3E}">
        <p14:creationId xmlns:p14="http://schemas.microsoft.com/office/powerpoint/2010/main" val="3356198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E63B0-382E-7E4B-0088-B2A373D0C16F}"/>
              </a:ext>
            </a:extLst>
          </p:cNvPr>
          <p:cNvSpPr>
            <a:spLocks noGrp="1"/>
          </p:cNvSpPr>
          <p:nvPr>
            <p:ph type="title"/>
          </p:nvPr>
        </p:nvSpPr>
        <p:spPr/>
        <p:txBody>
          <a:bodyPr/>
          <a:lstStyle/>
          <a:p>
            <a:pPr algn="l"/>
            <a:r>
              <a:rPr lang="en-IN" b="1" dirty="0"/>
              <a:t>Belief MDP</a:t>
            </a:r>
          </a:p>
        </p:txBody>
      </p:sp>
      <p:sp>
        <p:nvSpPr>
          <p:cNvPr id="3" name="Content Placeholder 2">
            <a:extLst>
              <a:ext uri="{FF2B5EF4-FFF2-40B4-BE49-F238E27FC236}">
                <a16:creationId xmlns:a16="http://schemas.microsoft.com/office/drawing/2014/main" id="{3BE297C7-E7D5-B30C-030E-6B8DF54C87C3}"/>
              </a:ext>
            </a:extLst>
          </p:cNvPr>
          <p:cNvSpPr>
            <a:spLocks noGrp="1"/>
          </p:cNvSpPr>
          <p:nvPr>
            <p:ph idx="1"/>
          </p:nvPr>
        </p:nvSpPr>
        <p:spPr>
          <a:xfrm>
            <a:off x="1371600" y="1412240"/>
            <a:ext cx="10464800" cy="4455160"/>
          </a:xfrm>
        </p:spPr>
        <p:txBody>
          <a:bodyPr>
            <a:normAutofit/>
          </a:bodyPr>
          <a:lstStyle/>
          <a:p>
            <a:pPr algn="just"/>
            <a:r>
              <a:rPr lang="en-US" sz="2300" dirty="0">
                <a:solidFill>
                  <a:schemeClr val="tx1"/>
                </a:solidFill>
              </a:rPr>
              <a:t>A Markovian belief state allows a POMDP to be formulated as a Markov decision process where every belief is a state. The resulting belief MDP will thus be defined on a continuous state space (even if the "originating" POMDP has a finite number of states: there are infinite belief states (in 𝐵) because there are an infinite number of probability distributions over the states (of 𝑆)</a:t>
            </a:r>
            <a:endParaRPr lang="en-IN" sz="2300" dirty="0">
              <a:solidFill>
                <a:schemeClr val="tx1"/>
              </a:solidFill>
            </a:endParaRPr>
          </a:p>
        </p:txBody>
      </p:sp>
      <p:pic>
        <p:nvPicPr>
          <p:cNvPr id="5" name="Picture 4">
            <a:extLst>
              <a:ext uri="{FF2B5EF4-FFF2-40B4-BE49-F238E27FC236}">
                <a16:creationId xmlns:a16="http://schemas.microsoft.com/office/drawing/2014/main" id="{5BB9B3E5-38A8-2ED7-6908-B2814E1A5FF4}"/>
              </a:ext>
            </a:extLst>
          </p:cNvPr>
          <p:cNvPicPr>
            <a:picLocks noChangeAspect="1"/>
          </p:cNvPicPr>
          <p:nvPr/>
        </p:nvPicPr>
        <p:blipFill rotWithShape="1">
          <a:blip r:embed="rId3"/>
          <a:srcRect t="33099" r="46667"/>
          <a:stretch/>
        </p:blipFill>
        <p:spPr>
          <a:xfrm>
            <a:off x="1849119" y="3570265"/>
            <a:ext cx="8808181" cy="3023575"/>
          </a:xfrm>
          <a:prstGeom prst="rect">
            <a:avLst/>
          </a:prstGeom>
        </p:spPr>
      </p:pic>
    </p:spTree>
    <p:extLst>
      <p:ext uri="{BB962C8B-B14F-4D97-AF65-F5344CB8AC3E}">
        <p14:creationId xmlns:p14="http://schemas.microsoft.com/office/powerpoint/2010/main" val="1284668075"/>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8D035-5F0C-ABF3-9BDD-51B864C8DAD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1FE04F6-4C22-FA2A-C5F7-5E673FC9211E}"/>
              </a:ext>
            </a:extLst>
          </p:cNvPr>
          <p:cNvSpPr>
            <a:spLocks noGrp="1"/>
          </p:cNvSpPr>
          <p:nvPr>
            <p:ph idx="1"/>
          </p:nvPr>
        </p:nvSpPr>
        <p:spPr>
          <a:xfrm>
            <a:off x="1371600" y="2286000"/>
            <a:ext cx="10261600" cy="4399280"/>
          </a:xfrm>
        </p:spPr>
        <p:txBody>
          <a:bodyPr>
            <a:noAutofit/>
          </a:bodyPr>
          <a:lstStyle/>
          <a:p>
            <a:endParaRPr lang="en-US" sz="2300" b="0" i="0" dirty="0">
              <a:solidFill>
                <a:srgbClr val="202122"/>
              </a:solidFill>
              <a:effectLst/>
              <a:highlight>
                <a:srgbClr val="FFFFFF"/>
              </a:highlight>
              <a:latin typeface="Arial" panose="020B0604020202020204" pitchFamily="34" charset="0"/>
            </a:endParaRPr>
          </a:p>
          <a:p>
            <a:endParaRPr lang="en-US" sz="2300" dirty="0">
              <a:solidFill>
                <a:srgbClr val="202122"/>
              </a:solidFill>
              <a:highlight>
                <a:srgbClr val="FFFFFF"/>
              </a:highlight>
              <a:latin typeface="Arial" panose="020B0604020202020204" pitchFamily="34" charset="0"/>
            </a:endParaRPr>
          </a:p>
          <a:p>
            <a:endParaRPr lang="en-US" sz="2300" b="0" i="0" dirty="0">
              <a:solidFill>
                <a:srgbClr val="202122"/>
              </a:solidFill>
              <a:effectLst/>
              <a:highlight>
                <a:srgbClr val="FFFFFF"/>
              </a:highlight>
              <a:latin typeface="Arial" panose="020B0604020202020204" pitchFamily="34" charset="0"/>
            </a:endParaRPr>
          </a:p>
          <a:p>
            <a:endParaRPr lang="en-US" sz="2300" dirty="0">
              <a:solidFill>
                <a:srgbClr val="202122"/>
              </a:solidFill>
              <a:highlight>
                <a:srgbClr val="FFFFFF"/>
              </a:highlight>
              <a:latin typeface="Arial" panose="020B0604020202020204" pitchFamily="34" charset="0"/>
            </a:endParaRPr>
          </a:p>
          <a:p>
            <a:endParaRPr lang="en-US" sz="2300" b="0" i="0" dirty="0">
              <a:solidFill>
                <a:srgbClr val="202122"/>
              </a:solidFill>
              <a:effectLst/>
              <a:highlight>
                <a:srgbClr val="FFFFFF"/>
              </a:highlight>
              <a:latin typeface="Arial" panose="020B0604020202020204" pitchFamily="34" charset="0"/>
            </a:endParaRPr>
          </a:p>
          <a:p>
            <a:endParaRPr lang="en-US" sz="2300" dirty="0">
              <a:solidFill>
                <a:srgbClr val="202122"/>
              </a:solidFill>
              <a:highlight>
                <a:srgbClr val="FFFFFF"/>
              </a:highlight>
              <a:latin typeface="Arial" panose="020B0604020202020204" pitchFamily="34" charset="0"/>
            </a:endParaRPr>
          </a:p>
          <a:p>
            <a:endParaRPr lang="en-US" sz="2300" dirty="0">
              <a:solidFill>
                <a:srgbClr val="202122"/>
              </a:solidFill>
              <a:highlight>
                <a:srgbClr val="FFFFFF"/>
              </a:highlight>
              <a:latin typeface="Arial" panose="020B0604020202020204" pitchFamily="34" charset="0"/>
            </a:endParaRPr>
          </a:p>
          <a:p>
            <a:r>
              <a:rPr lang="en-US" sz="2300" dirty="0">
                <a:solidFill>
                  <a:schemeClr val="tx1"/>
                </a:solidFill>
              </a:rPr>
              <a:t>The belief MDP is not partially observable anymore, since at any given time the agent knows its belief, and by extension the state of the belief MDP</a:t>
            </a:r>
            <a:endParaRPr lang="en-IN" sz="2300" dirty="0">
              <a:solidFill>
                <a:schemeClr val="tx1"/>
              </a:solidFill>
            </a:endParaRPr>
          </a:p>
        </p:txBody>
      </p:sp>
      <p:pic>
        <p:nvPicPr>
          <p:cNvPr id="5" name="Picture 4">
            <a:extLst>
              <a:ext uri="{FF2B5EF4-FFF2-40B4-BE49-F238E27FC236}">
                <a16:creationId xmlns:a16="http://schemas.microsoft.com/office/drawing/2014/main" id="{149D5EBB-7EAD-E9C6-DBE8-71AC32BC171C}"/>
              </a:ext>
            </a:extLst>
          </p:cNvPr>
          <p:cNvPicPr>
            <a:picLocks noChangeAspect="1"/>
          </p:cNvPicPr>
          <p:nvPr/>
        </p:nvPicPr>
        <p:blipFill>
          <a:blip r:embed="rId2"/>
          <a:stretch>
            <a:fillRect/>
          </a:stretch>
        </p:blipFill>
        <p:spPr>
          <a:xfrm>
            <a:off x="0" y="1314835"/>
            <a:ext cx="12192000" cy="4228330"/>
          </a:xfrm>
          <a:prstGeom prst="rect">
            <a:avLst/>
          </a:prstGeom>
        </p:spPr>
      </p:pic>
    </p:spTree>
    <p:extLst>
      <p:ext uri="{BB962C8B-B14F-4D97-AF65-F5344CB8AC3E}">
        <p14:creationId xmlns:p14="http://schemas.microsoft.com/office/powerpoint/2010/main" val="3179113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D78C4-DFF7-8BC6-71E8-88D13923F15B}"/>
              </a:ext>
            </a:extLst>
          </p:cNvPr>
          <p:cNvSpPr>
            <a:spLocks noGrp="1"/>
          </p:cNvSpPr>
          <p:nvPr>
            <p:ph type="title"/>
          </p:nvPr>
        </p:nvSpPr>
        <p:spPr/>
        <p:txBody>
          <a:bodyPr/>
          <a:lstStyle/>
          <a:p>
            <a:r>
              <a:rPr lang="en-IN" b="1" dirty="0"/>
              <a:t>Approximate POMDP solutions</a:t>
            </a:r>
            <a:r>
              <a:rPr lang="en-IN" b="0" i="0" dirty="0">
                <a:solidFill>
                  <a:srgbClr val="000000"/>
                </a:solidFill>
                <a:effectLst/>
                <a:highlight>
                  <a:srgbClr val="FFFFFF"/>
                </a:highlight>
                <a:latin typeface="Linux Libertine"/>
              </a:rPr>
              <a:t/>
            </a:r>
            <a:br>
              <a:rPr lang="en-IN" b="0" i="0" dirty="0">
                <a:solidFill>
                  <a:srgbClr val="000000"/>
                </a:solidFill>
                <a:effectLst/>
                <a:highlight>
                  <a:srgbClr val="FFFFFF"/>
                </a:highlight>
                <a:latin typeface="Linux Libertine"/>
              </a:rPr>
            </a:br>
            <a:endParaRPr lang="en-IN" dirty="0"/>
          </a:p>
        </p:txBody>
      </p:sp>
      <p:sp>
        <p:nvSpPr>
          <p:cNvPr id="3" name="Content Placeholder 2">
            <a:extLst>
              <a:ext uri="{FF2B5EF4-FFF2-40B4-BE49-F238E27FC236}">
                <a16:creationId xmlns:a16="http://schemas.microsoft.com/office/drawing/2014/main" id="{53401C15-5B6E-5988-E5E4-234C1950969C}"/>
              </a:ext>
            </a:extLst>
          </p:cNvPr>
          <p:cNvSpPr>
            <a:spLocks noGrp="1"/>
          </p:cNvSpPr>
          <p:nvPr>
            <p:ph idx="1"/>
          </p:nvPr>
        </p:nvSpPr>
        <p:spPr>
          <a:xfrm>
            <a:off x="1371600" y="2286000"/>
            <a:ext cx="9601200" cy="3992880"/>
          </a:xfrm>
        </p:spPr>
        <p:txBody>
          <a:bodyPr>
            <a:normAutofit/>
          </a:bodyPr>
          <a:lstStyle/>
          <a:p>
            <a:pPr algn="just"/>
            <a:r>
              <a:rPr lang="en-US" sz="2300" b="0" i="0" dirty="0">
                <a:solidFill>
                  <a:srgbClr val="202122"/>
                </a:solidFill>
                <a:effectLst/>
                <a:latin typeface="Cambria" panose="02040503050406030204" pitchFamily="18" charset="0"/>
                <a:ea typeface="Cambria" panose="02040503050406030204" pitchFamily="18" charset="0"/>
              </a:rPr>
              <a:t>In practice, </a:t>
            </a:r>
            <a:r>
              <a:rPr lang="en-US" sz="2300" b="0" i="0" dirty="0">
                <a:solidFill>
                  <a:srgbClr val="202122"/>
                </a:solidFill>
                <a:effectLst/>
                <a:highlight>
                  <a:srgbClr val="FFFF00"/>
                </a:highlight>
                <a:latin typeface="Cambria" panose="02040503050406030204" pitchFamily="18" charset="0"/>
                <a:ea typeface="Cambria" panose="02040503050406030204" pitchFamily="18" charset="0"/>
              </a:rPr>
              <a:t>POMDPs are often computationally </a:t>
            </a:r>
            <a:r>
              <a:rPr lang="en-US" sz="2300" b="0" i="0" u="none" strike="noStrike" dirty="0">
                <a:solidFill>
                  <a:srgbClr val="3366CC"/>
                </a:solidFill>
                <a:effectLst/>
                <a:highlight>
                  <a:srgbClr val="FFFF00"/>
                </a:highlight>
                <a:latin typeface="Cambria" panose="02040503050406030204" pitchFamily="18" charset="0"/>
                <a:ea typeface="Cambria" panose="02040503050406030204" pitchFamily="18" charset="0"/>
                <a:hlinkClick r:id="rId3" tooltip="Computational complexity theory"/>
              </a:rPr>
              <a:t>intractable</a:t>
            </a:r>
            <a:r>
              <a:rPr lang="en-US" sz="2300" b="0" i="0" dirty="0">
                <a:solidFill>
                  <a:srgbClr val="202122"/>
                </a:solidFill>
                <a:effectLst/>
                <a:highlight>
                  <a:srgbClr val="FFFF00"/>
                </a:highlight>
                <a:latin typeface="Cambria" panose="02040503050406030204" pitchFamily="18" charset="0"/>
                <a:ea typeface="Cambria" panose="02040503050406030204" pitchFamily="18" charset="0"/>
              </a:rPr>
              <a:t> to solve exactly. This intractability is often due to the </a:t>
            </a:r>
            <a:r>
              <a:rPr lang="en-US" sz="2300" b="0" i="0" u="none" strike="noStrike" dirty="0">
                <a:solidFill>
                  <a:srgbClr val="3366CC"/>
                </a:solidFill>
                <a:effectLst/>
                <a:highlight>
                  <a:srgbClr val="FFFF00"/>
                </a:highlight>
                <a:latin typeface="Cambria" panose="02040503050406030204" pitchFamily="18" charset="0"/>
                <a:ea typeface="Cambria" panose="02040503050406030204" pitchFamily="18" charset="0"/>
                <a:hlinkClick r:id="rId4" tooltip="Curse of dimensionality"/>
              </a:rPr>
              <a:t>curse of dimensionality</a:t>
            </a:r>
            <a:r>
              <a:rPr lang="en-US" sz="2300" b="0" i="0" dirty="0">
                <a:solidFill>
                  <a:srgbClr val="202122"/>
                </a:solidFill>
                <a:effectLst/>
                <a:highlight>
                  <a:srgbClr val="FFFF00"/>
                </a:highlight>
                <a:latin typeface="Cambria" panose="02040503050406030204" pitchFamily="18" charset="0"/>
                <a:ea typeface="Cambria" panose="02040503050406030204" pitchFamily="18" charset="0"/>
              </a:rPr>
              <a:t> or the curse of history </a:t>
            </a:r>
            <a:r>
              <a:rPr lang="en-US" sz="2300" b="0" i="0" dirty="0">
                <a:solidFill>
                  <a:srgbClr val="202122"/>
                </a:solidFill>
                <a:effectLst/>
                <a:latin typeface="Cambria" panose="02040503050406030204" pitchFamily="18" charset="0"/>
                <a:ea typeface="Cambria" panose="02040503050406030204" pitchFamily="18" charset="0"/>
              </a:rPr>
              <a:t>(the fact that optimal policies may depend on the entire history of actions and observations). </a:t>
            </a:r>
          </a:p>
          <a:p>
            <a:pPr algn="just"/>
            <a:endParaRPr lang="en-US" sz="2300" dirty="0">
              <a:solidFill>
                <a:srgbClr val="202122"/>
              </a:solidFill>
              <a:latin typeface="Cambria" panose="02040503050406030204" pitchFamily="18" charset="0"/>
              <a:ea typeface="Cambria" panose="02040503050406030204" pitchFamily="18" charset="0"/>
            </a:endParaRPr>
          </a:p>
          <a:p>
            <a:pPr algn="just"/>
            <a:r>
              <a:rPr lang="en-US" sz="2300" b="0" i="0" dirty="0">
                <a:solidFill>
                  <a:srgbClr val="202122"/>
                </a:solidFill>
                <a:effectLst/>
                <a:latin typeface="Cambria" panose="02040503050406030204" pitchFamily="18" charset="0"/>
                <a:ea typeface="Cambria" panose="02040503050406030204" pitchFamily="18" charset="0"/>
              </a:rPr>
              <a:t>To address these issues, computer scientists have developed methods that </a:t>
            </a:r>
            <a:r>
              <a:rPr lang="en-US" sz="2300" b="1" i="0" dirty="0">
                <a:solidFill>
                  <a:srgbClr val="FF0000"/>
                </a:solidFill>
                <a:effectLst/>
                <a:highlight>
                  <a:srgbClr val="FFFF00"/>
                </a:highlight>
                <a:latin typeface="Cambria" panose="02040503050406030204" pitchFamily="18" charset="0"/>
                <a:ea typeface="Cambria" panose="02040503050406030204" pitchFamily="18" charset="0"/>
              </a:rPr>
              <a:t>approximate solution</a:t>
            </a:r>
            <a:r>
              <a:rPr lang="en-US" sz="2300" b="0" i="0" dirty="0">
                <a:solidFill>
                  <a:srgbClr val="202122"/>
                </a:solidFill>
                <a:effectLst/>
                <a:highlight>
                  <a:srgbClr val="FFFF00"/>
                </a:highlight>
                <a:latin typeface="Cambria" panose="02040503050406030204" pitchFamily="18" charset="0"/>
                <a:ea typeface="Cambria" panose="02040503050406030204" pitchFamily="18" charset="0"/>
              </a:rPr>
              <a:t>s for POMDPs</a:t>
            </a:r>
            <a:r>
              <a:rPr lang="en-US" sz="2300" b="0" i="0" dirty="0">
                <a:solidFill>
                  <a:srgbClr val="202122"/>
                </a:solidFill>
                <a:effectLst/>
                <a:latin typeface="Cambria" panose="02040503050406030204" pitchFamily="18" charset="0"/>
                <a:ea typeface="Cambria" panose="02040503050406030204" pitchFamily="18" charset="0"/>
              </a:rPr>
              <a:t>. These solutions typically attempt to approximate the problem or solution with a limited number of parameters, plan only over a small part of the belief space online, or </a:t>
            </a:r>
            <a:r>
              <a:rPr lang="en-US" sz="2300" b="0" i="0" dirty="0">
                <a:solidFill>
                  <a:srgbClr val="202122"/>
                </a:solidFill>
                <a:effectLst/>
                <a:highlight>
                  <a:srgbClr val="FFFF00"/>
                </a:highlight>
                <a:latin typeface="Cambria" panose="02040503050406030204" pitchFamily="18" charset="0"/>
                <a:ea typeface="Cambria" panose="02040503050406030204" pitchFamily="18" charset="0"/>
              </a:rPr>
              <a:t>summarize the action-observation history compactly</a:t>
            </a:r>
            <a:r>
              <a:rPr lang="en-US" sz="2300" b="0" i="0" dirty="0">
                <a:solidFill>
                  <a:srgbClr val="202122"/>
                </a:solidFill>
                <a:effectLst/>
                <a:latin typeface="Cambria" panose="02040503050406030204" pitchFamily="18" charset="0"/>
                <a:ea typeface="Cambria" panose="02040503050406030204" pitchFamily="18" charset="0"/>
              </a:rPr>
              <a:t>.</a:t>
            </a:r>
            <a:endParaRPr lang="en-IN" sz="23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20927009"/>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4B3B2-640A-D3C7-5C67-D30FB9AA6B6C}"/>
              </a:ext>
            </a:extLst>
          </p:cNvPr>
          <p:cNvSpPr>
            <a:spLocks noGrp="1"/>
          </p:cNvSpPr>
          <p:nvPr>
            <p:ph type="title"/>
          </p:nvPr>
        </p:nvSpPr>
        <p:spPr/>
        <p:txBody>
          <a:bodyPr/>
          <a:lstStyle/>
          <a:p>
            <a:r>
              <a:rPr lang="en-IN" b="1" dirty="0"/>
              <a:t>Approximate POMDP solutions</a:t>
            </a:r>
            <a:r>
              <a:rPr lang="en-IN" b="0" i="0" dirty="0">
                <a:solidFill>
                  <a:srgbClr val="000000"/>
                </a:solidFill>
                <a:effectLst/>
                <a:highlight>
                  <a:srgbClr val="FFFFFF"/>
                </a:highlight>
                <a:latin typeface="Linux Libertine"/>
              </a:rPr>
              <a:t/>
            </a:r>
            <a:br>
              <a:rPr lang="en-IN" b="0" i="0" dirty="0">
                <a:solidFill>
                  <a:srgbClr val="000000"/>
                </a:solidFill>
                <a:effectLst/>
                <a:highlight>
                  <a:srgbClr val="FFFFFF"/>
                </a:highlight>
                <a:latin typeface="Linux Libertine"/>
              </a:rPr>
            </a:br>
            <a:endParaRPr lang="en-IN" dirty="0"/>
          </a:p>
        </p:txBody>
      </p:sp>
      <p:sp>
        <p:nvSpPr>
          <p:cNvPr id="3" name="Content Placeholder 2">
            <a:extLst>
              <a:ext uri="{FF2B5EF4-FFF2-40B4-BE49-F238E27FC236}">
                <a16:creationId xmlns:a16="http://schemas.microsoft.com/office/drawing/2014/main" id="{F4C4CFDA-42D6-6641-51F6-6D0B59BC089F}"/>
              </a:ext>
            </a:extLst>
          </p:cNvPr>
          <p:cNvSpPr>
            <a:spLocks noGrp="1"/>
          </p:cNvSpPr>
          <p:nvPr>
            <p:ph idx="1"/>
          </p:nvPr>
        </p:nvSpPr>
        <p:spPr>
          <a:xfrm>
            <a:off x="1371600" y="1534160"/>
            <a:ext cx="9601200" cy="4998720"/>
          </a:xfrm>
        </p:spPr>
        <p:txBody>
          <a:bodyPr>
            <a:normAutofit/>
          </a:bodyPr>
          <a:lstStyle/>
          <a:p>
            <a:pPr algn="just"/>
            <a:r>
              <a:rPr lang="en-US" sz="2300" b="1" dirty="0">
                <a:solidFill>
                  <a:srgbClr val="FF0000"/>
                </a:solidFill>
                <a:highlight>
                  <a:srgbClr val="FFFF00"/>
                </a:highlight>
                <a:latin typeface="Cambria" panose="02040503050406030204" pitchFamily="18" charset="0"/>
                <a:ea typeface="Cambria" panose="02040503050406030204" pitchFamily="18" charset="0"/>
              </a:rPr>
              <a:t>Grid-based algorithms </a:t>
            </a:r>
            <a:r>
              <a:rPr lang="en-US" sz="2300" dirty="0">
                <a:solidFill>
                  <a:srgbClr val="202122"/>
                </a:solidFill>
                <a:highlight>
                  <a:srgbClr val="FFFF00"/>
                </a:highlight>
                <a:latin typeface="Cambria" panose="02040503050406030204" pitchFamily="18" charset="0"/>
                <a:ea typeface="Cambria" panose="02040503050406030204" pitchFamily="18" charset="0"/>
              </a:rPr>
              <a:t>comprise one approximate solution technique</a:t>
            </a:r>
            <a:r>
              <a:rPr lang="en-US" sz="2300" dirty="0">
                <a:solidFill>
                  <a:srgbClr val="202122"/>
                </a:solidFill>
                <a:latin typeface="Cambria" panose="02040503050406030204" pitchFamily="18" charset="0"/>
                <a:ea typeface="Cambria" panose="02040503050406030204" pitchFamily="18" charset="0"/>
              </a:rPr>
              <a:t>. </a:t>
            </a:r>
          </a:p>
          <a:p>
            <a:pPr algn="just"/>
            <a:r>
              <a:rPr lang="en-US" sz="2300" dirty="0">
                <a:solidFill>
                  <a:srgbClr val="202122"/>
                </a:solidFill>
                <a:latin typeface="Cambria" panose="02040503050406030204" pitchFamily="18" charset="0"/>
                <a:ea typeface="Cambria" panose="02040503050406030204" pitchFamily="18" charset="0"/>
              </a:rPr>
              <a:t>In this approach, the value function is computed for a set of points in the belief space, and </a:t>
            </a:r>
            <a:r>
              <a:rPr lang="en-US" sz="2300" dirty="0">
                <a:solidFill>
                  <a:srgbClr val="202122"/>
                </a:solidFill>
                <a:highlight>
                  <a:srgbClr val="FFFF00"/>
                </a:highlight>
                <a:latin typeface="Cambria" panose="02040503050406030204" pitchFamily="18" charset="0"/>
                <a:ea typeface="Cambria" panose="02040503050406030204" pitchFamily="18" charset="0"/>
              </a:rPr>
              <a:t>interpolation is used to determine the optimal action to take for other belief states that are encountered which are not in the set of grid points</a:t>
            </a:r>
            <a:r>
              <a:rPr lang="en-US" sz="2300" dirty="0">
                <a:solidFill>
                  <a:srgbClr val="202122"/>
                </a:solidFill>
                <a:latin typeface="Cambria" panose="02040503050406030204" pitchFamily="18" charset="0"/>
                <a:ea typeface="Cambria" panose="02040503050406030204" pitchFamily="18" charset="0"/>
              </a:rPr>
              <a:t>. </a:t>
            </a:r>
          </a:p>
          <a:p>
            <a:pPr algn="just"/>
            <a:r>
              <a:rPr lang="en-US" sz="2300" dirty="0">
                <a:solidFill>
                  <a:srgbClr val="202122"/>
                </a:solidFill>
                <a:latin typeface="Cambria" panose="02040503050406030204" pitchFamily="18" charset="0"/>
                <a:ea typeface="Cambria" panose="02040503050406030204" pitchFamily="18" charset="0"/>
              </a:rPr>
              <a:t>More recent work makes use of </a:t>
            </a:r>
            <a:r>
              <a:rPr lang="en-US" sz="2300" dirty="0">
                <a:solidFill>
                  <a:srgbClr val="202122"/>
                </a:solidFill>
                <a:highlight>
                  <a:srgbClr val="FFFF00"/>
                </a:highlight>
                <a:latin typeface="Cambria" panose="02040503050406030204" pitchFamily="18" charset="0"/>
                <a:ea typeface="Cambria" panose="02040503050406030204" pitchFamily="18" charset="0"/>
              </a:rPr>
              <a:t>sampling techniques, generalization techniques and exploitation of problem structure</a:t>
            </a:r>
            <a:r>
              <a:rPr lang="en-US" sz="2300" dirty="0">
                <a:solidFill>
                  <a:srgbClr val="202122"/>
                </a:solidFill>
                <a:latin typeface="Cambria" panose="02040503050406030204" pitchFamily="18" charset="0"/>
                <a:ea typeface="Cambria" panose="02040503050406030204" pitchFamily="18" charset="0"/>
              </a:rPr>
              <a:t>, and has extended POMDP solving into large domains with millions of states. </a:t>
            </a:r>
          </a:p>
          <a:p>
            <a:pPr algn="just"/>
            <a:endParaRPr lang="en-US" sz="2300" dirty="0">
              <a:solidFill>
                <a:srgbClr val="202122"/>
              </a:solidFill>
              <a:latin typeface="Cambria" panose="02040503050406030204" pitchFamily="18" charset="0"/>
              <a:ea typeface="Cambria" panose="02040503050406030204" pitchFamily="18" charset="0"/>
            </a:endParaRPr>
          </a:p>
          <a:p>
            <a:pPr algn="just"/>
            <a:r>
              <a:rPr lang="en-US" sz="2300" dirty="0">
                <a:solidFill>
                  <a:srgbClr val="202122"/>
                </a:solidFill>
                <a:latin typeface="Cambria" panose="02040503050406030204" pitchFamily="18" charset="0"/>
                <a:ea typeface="Cambria" panose="02040503050406030204" pitchFamily="18" charset="0"/>
              </a:rPr>
              <a:t>For example, adaptive grids and point-based methods sample random reachable belief points to constrain the planning to relevant areas in the belief space. Dimensionality reduction using </a:t>
            </a:r>
            <a:r>
              <a:rPr lang="en-US" sz="2300" dirty="0">
                <a:solidFill>
                  <a:srgbClr val="202122"/>
                </a:solidFill>
                <a:latin typeface="Cambria" panose="02040503050406030204" pitchFamily="18" charset="0"/>
                <a:ea typeface="Cambria" panose="02040503050406030204" pitchFamily="18" charset="0"/>
                <a:hlinkClick r:id="rId2" tooltip="Principle component analysis">
                  <a:extLst>
                    <a:ext uri="{A12FA001-AC4F-418D-AE19-62706E023703}">
                      <ahyp:hlinkClr xmlns:ahyp="http://schemas.microsoft.com/office/drawing/2018/hyperlinkcolor" xmlns="" val="tx"/>
                    </a:ext>
                  </a:extLst>
                </a:hlinkClick>
              </a:rPr>
              <a:t>PCA</a:t>
            </a:r>
            <a:r>
              <a:rPr lang="en-US" sz="2300" dirty="0">
                <a:solidFill>
                  <a:srgbClr val="202122"/>
                </a:solidFill>
                <a:latin typeface="Cambria" panose="02040503050406030204" pitchFamily="18" charset="0"/>
                <a:ea typeface="Cambria" panose="02040503050406030204" pitchFamily="18" charset="0"/>
              </a:rPr>
              <a:t> has also been explored.</a:t>
            </a:r>
            <a:endParaRPr lang="en-IN" sz="2300" dirty="0">
              <a:solidFill>
                <a:srgbClr val="202122"/>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00587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003F-9DB3-3116-6271-462EB29D07D0}"/>
              </a:ext>
            </a:extLst>
          </p:cNvPr>
          <p:cNvSpPr>
            <a:spLocks noGrp="1"/>
          </p:cNvSpPr>
          <p:nvPr>
            <p:ph type="title"/>
          </p:nvPr>
        </p:nvSpPr>
        <p:spPr/>
        <p:txBody>
          <a:bodyPr/>
          <a:lstStyle/>
          <a:p>
            <a:r>
              <a:rPr lang="en-IN" b="1" dirty="0"/>
              <a:t>Approximate POMDP solutions</a:t>
            </a:r>
            <a:r>
              <a:rPr lang="en-IN" b="0" i="0" dirty="0">
                <a:solidFill>
                  <a:srgbClr val="000000"/>
                </a:solidFill>
                <a:effectLst/>
                <a:highlight>
                  <a:srgbClr val="FFFFFF"/>
                </a:highlight>
                <a:latin typeface="Linux Libertine"/>
              </a:rPr>
              <a:t/>
            </a:r>
            <a:br>
              <a:rPr lang="en-IN" b="0" i="0" dirty="0">
                <a:solidFill>
                  <a:srgbClr val="000000"/>
                </a:solidFill>
                <a:effectLst/>
                <a:highlight>
                  <a:srgbClr val="FFFFFF"/>
                </a:highlight>
                <a:latin typeface="Linux Libertine"/>
              </a:rPr>
            </a:br>
            <a:endParaRPr lang="en-IN" dirty="0"/>
          </a:p>
        </p:txBody>
      </p:sp>
      <p:sp>
        <p:nvSpPr>
          <p:cNvPr id="3" name="Content Placeholder 2">
            <a:extLst>
              <a:ext uri="{FF2B5EF4-FFF2-40B4-BE49-F238E27FC236}">
                <a16:creationId xmlns:a16="http://schemas.microsoft.com/office/drawing/2014/main" id="{DA45671D-E1E7-224C-6E8B-28C18987EF37}"/>
              </a:ext>
            </a:extLst>
          </p:cNvPr>
          <p:cNvSpPr>
            <a:spLocks noGrp="1"/>
          </p:cNvSpPr>
          <p:nvPr>
            <p:ph idx="1"/>
          </p:nvPr>
        </p:nvSpPr>
        <p:spPr>
          <a:xfrm>
            <a:off x="1371600" y="2286000"/>
            <a:ext cx="9601200" cy="4155440"/>
          </a:xfrm>
        </p:spPr>
        <p:txBody>
          <a:bodyPr/>
          <a:lstStyle/>
          <a:p>
            <a:pPr algn="just"/>
            <a:r>
              <a:rPr lang="en-US" sz="2300" b="1" dirty="0">
                <a:solidFill>
                  <a:srgbClr val="FF0000"/>
                </a:solidFill>
                <a:highlight>
                  <a:srgbClr val="FFFF00"/>
                </a:highlight>
                <a:latin typeface="Cambria" panose="02040503050406030204" pitchFamily="18" charset="0"/>
                <a:ea typeface="Cambria" panose="02040503050406030204" pitchFamily="18" charset="0"/>
              </a:rPr>
              <a:t>Online planning algorithm</a:t>
            </a:r>
            <a:r>
              <a:rPr lang="en-US" sz="2300" dirty="0">
                <a:solidFill>
                  <a:srgbClr val="202122"/>
                </a:solidFill>
                <a:highlight>
                  <a:srgbClr val="FFFF00"/>
                </a:highlight>
                <a:latin typeface="Cambria" panose="02040503050406030204" pitchFamily="18" charset="0"/>
                <a:ea typeface="Cambria" panose="02040503050406030204" pitchFamily="18" charset="0"/>
              </a:rPr>
              <a:t>s approach large POMDPs by constructing a new policy for the current belief each time a new observation is received</a:t>
            </a:r>
            <a:r>
              <a:rPr lang="en-US" sz="2300" dirty="0">
                <a:solidFill>
                  <a:srgbClr val="202122"/>
                </a:solidFill>
                <a:latin typeface="Cambria" panose="02040503050406030204" pitchFamily="18" charset="0"/>
                <a:ea typeface="Cambria" panose="02040503050406030204" pitchFamily="18" charset="0"/>
              </a:rPr>
              <a:t>. </a:t>
            </a:r>
          </a:p>
          <a:p>
            <a:pPr algn="just"/>
            <a:r>
              <a:rPr lang="en-US" sz="2300" dirty="0">
                <a:solidFill>
                  <a:srgbClr val="202122"/>
                </a:solidFill>
                <a:latin typeface="Cambria" panose="02040503050406030204" pitchFamily="18" charset="0"/>
                <a:ea typeface="Cambria" panose="02040503050406030204" pitchFamily="18" charset="0"/>
              </a:rPr>
              <a:t>Such a policy only needs to consider future beliefs reachable from the current belief, which is often only a very small part of the full belief space. This family includes variants of </a:t>
            </a:r>
            <a:r>
              <a:rPr lang="en-US" sz="2300" dirty="0">
                <a:solidFill>
                  <a:srgbClr val="202122"/>
                </a:solidFill>
                <a:latin typeface="Cambria" panose="02040503050406030204" pitchFamily="18" charset="0"/>
                <a:ea typeface="Cambria" panose="02040503050406030204" pitchFamily="18" charset="0"/>
                <a:hlinkClick r:id="rId2" tooltip="Monte Carlo tree search">
                  <a:extLst>
                    <a:ext uri="{A12FA001-AC4F-418D-AE19-62706E023703}">
                      <ahyp:hlinkClr xmlns:ahyp="http://schemas.microsoft.com/office/drawing/2018/hyperlinkcolor" xmlns="" val="tx"/>
                    </a:ext>
                  </a:extLst>
                </a:hlinkClick>
              </a:rPr>
              <a:t>Monte Carlo tree search</a:t>
            </a:r>
            <a:r>
              <a:rPr lang="en-US" sz="2300" dirty="0">
                <a:solidFill>
                  <a:srgbClr val="202122"/>
                </a:solidFill>
                <a:latin typeface="Cambria" panose="02040503050406030204" pitchFamily="18" charset="0"/>
                <a:ea typeface="Cambria" panose="02040503050406030204" pitchFamily="18" charset="0"/>
              </a:rPr>
              <a:t> and heuristic search. Similar to MDPs, it is possible to construct online algorithms that find arbitrarily near-optimal policies and have no direct computational complexity dependence on the size of the state and observation spaces. </a:t>
            </a:r>
            <a:endParaRPr lang="en-IN" sz="2300" dirty="0">
              <a:solidFill>
                <a:srgbClr val="202122"/>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11652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BBAB1-B63E-BC86-1E12-FFCF9FDA0346}"/>
              </a:ext>
            </a:extLst>
          </p:cNvPr>
          <p:cNvSpPr>
            <a:spLocks noGrp="1"/>
          </p:cNvSpPr>
          <p:nvPr>
            <p:ph type="title"/>
          </p:nvPr>
        </p:nvSpPr>
        <p:spPr/>
        <p:txBody>
          <a:bodyPr/>
          <a:lstStyle/>
          <a:p>
            <a:r>
              <a:rPr lang="en-IN" b="1" dirty="0"/>
              <a:t>Approximate POMDP solutions</a:t>
            </a:r>
            <a:r>
              <a:rPr lang="en-IN" b="0" i="0" dirty="0">
                <a:solidFill>
                  <a:srgbClr val="000000"/>
                </a:solidFill>
                <a:effectLst/>
                <a:highlight>
                  <a:srgbClr val="FFFFFF"/>
                </a:highlight>
                <a:latin typeface="Linux Libertine"/>
              </a:rPr>
              <a:t/>
            </a:r>
            <a:br>
              <a:rPr lang="en-IN" b="0" i="0" dirty="0">
                <a:solidFill>
                  <a:srgbClr val="000000"/>
                </a:solidFill>
                <a:effectLst/>
                <a:highlight>
                  <a:srgbClr val="FFFFFF"/>
                </a:highlight>
                <a:latin typeface="Linux Libertine"/>
              </a:rPr>
            </a:br>
            <a:endParaRPr lang="en-IN" dirty="0"/>
          </a:p>
        </p:txBody>
      </p:sp>
      <p:sp>
        <p:nvSpPr>
          <p:cNvPr id="3" name="Content Placeholder 2">
            <a:extLst>
              <a:ext uri="{FF2B5EF4-FFF2-40B4-BE49-F238E27FC236}">
                <a16:creationId xmlns:a16="http://schemas.microsoft.com/office/drawing/2014/main" id="{442559CF-3CA5-8B6F-BE6F-C4FAA82DA717}"/>
              </a:ext>
            </a:extLst>
          </p:cNvPr>
          <p:cNvSpPr>
            <a:spLocks noGrp="1"/>
          </p:cNvSpPr>
          <p:nvPr>
            <p:ph idx="1"/>
          </p:nvPr>
        </p:nvSpPr>
        <p:spPr/>
        <p:txBody>
          <a:bodyPr/>
          <a:lstStyle/>
          <a:p>
            <a:pPr algn="just"/>
            <a:r>
              <a:rPr lang="en-US" sz="2300" dirty="0">
                <a:solidFill>
                  <a:srgbClr val="202122"/>
                </a:solidFill>
                <a:latin typeface="Cambria" panose="02040503050406030204" pitchFamily="18" charset="0"/>
                <a:ea typeface="Cambria" panose="02040503050406030204" pitchFamily="18" charset="0"/>
              </a:rPr>
              <a:t>Another </a:t>
            </a:r>
            <a:r>
              <a:rPr lang="en-US" sz="2300" b="1" dirty="0">
                <a:solidFill>
                  <a:srgbClr val="FF0000"/>
                </a:solidFill>
                <a:highlight>
                  <a:srgbClr val="FFFF00"/>
                </a:highlight>
                <a:latin typeface="Cambria" panose="02040503050406030204" pitchFamily="18" charset="0"/>
                <a:ea typeface="Cambria" panose="02040503050406030204" pitchFamily="18" charset="0"/>
              </a:rPr>
              <a:t>line of approximate solution techniques </a:t>
            </a:r>
            <a:r>
              <a:rPr lang="en-US" sz="2300" dirty="0">
                <a:solidFill>
                  <a:srgbClr val="202122"/>
                </a:solidFill>
                <a:highlight>
                  <a:srgbClr val="FFFF00"/>
                </a:highlight>
                <a:latin typeface="Cambria" panose="02040503050406030204" pitchFamily="18" charset="0"/>
                <a:ea typeface="Cambria" panose="02040503050406030204" pitchFamily="18" charset="0"/>
              </a:rPr>
              <a:t>for solving POMDPs relies on using (a subset of) the history of previous observations, actions and rewards up to the current time step as a pseudo-state. </a:t>
            </a:r>
            <a:r>
              <a:rPr lang="en-US" sz="2300" dirty="0">
                <a:solidFill>
                  <a:srgbClr val="202122"/>
                </a:solidFill>
                <a:latin typeface="Cambria" panose="02040503050406030204" pitchFamily="18" charset="0"/>
                <a:ea typeface="Cambria" panose="02040503050406030204" pitchFamily="18" charset="0"/>
              </a:rPr>
              <a:t>Usual techniques for solving MDPs based on these pseudo-states can then be used (e.g. </a:t>
            </a:r>
            <a:r>
              <a:rPr lang="en-US" sz="2300" dirty="0">
                <a:solidFill>
                  <a:srgbClr val="202122"/>
                </a:solidFill>
                <a:latin typeface="Cambria" panose="02040503050406030204" pitchFamily="18" charset="0"/>
                <a:ea typeface="Cambria" panose="02040503050406030204" pitchFamily="18" charset="0"/>
                <a:hlinkClick r:id="rId2" tooltip="Q-learning">
                  <a:extLst>
                    <a:ext uri="{A12FA001-AC4F-418D-AE19-62706E023703}">
                      <ahyp:hlinkClr xmlns:ahyp="http://schemas.microsoft.com/office/drawing/2018/hyperlinkcolor" xmlns="" val="tx"/>
                    </a:ext>
                  </a:extLst>
                </a:hlinkClick>
              </a:rPr>
              <a:t>Q-learning</a:t>
            </a:r>
            <a:r>
              <a:rPr lang="en-US" sz="2300" dirty="0">
                <a:solidFill>
                  <a:srgbClr val="202122"/>
                </a:solidFill>
                <a:latin typeface="Cambria" panose="02040503050406030204" pitchFamily="18" charset="0"/>
                <a:ea typeface="Cambria" panose="02040503050406030204" pitchFamily="18" charset="0"/>
              </a:rPr>
              <a:t>). </a:t>
            </a:r>
          </a:p>
          <a:p>
            <a:pPr algn="just"/>
            <a:endParaRPr lang="en-US" sz="2300" dirty="0">
              <a:solidFill>
                <a:srgbClr val="202122"/>
              </a:solidFill>
              <a:latin typeface="Cambria" panose="02040503050406030204" pitchFamily="18" charset="0"/>
              <a:ea typeface="Cambria" panose="02040503050406030204" pitchFamily="18" charset="0"/>
            </a:endParaRPr>
          </a:p>
          <a:p>
            <a:pPr algn="just"/>
            <a:r>
              <a:rPr lang="en-US" sz="2300" dirty="0">
                <a:solidFill>
                  <a:srgbClr val="202122"/>
                </a:solidFill>
                <a:latin typeface="Cambria" panose="02040503050406030204" pitchFamily="18" charset="0"/>
                <a:ea typeface="Cambria" panose="02040503050406030204" pitchFamily="18" charset="0"/>
              </a:rPr>
              <a:t>Ideally the pseudo-states should contain the most important information from the whole history (to reduce bias) while being as compressed as possible (to reduce overfitting).</a:t>
            </a:r>
            <a:endParaRPr lang="en-IN" sz="2300" dirty="0">
              <a:solidFill>
                <a:srgbClr val="202122"/>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45073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136A6-BA02-1E8B-77BE-0B10CB44C577}"/>
              </a:ext>
            </a:extLst>
          </p:cNvPr>
          <p:cNvSpPr>
            <a:spLocks noGrp="1"/>
          </p:cNvSpPr>
          <p:nvPr>
            <p:ph type="title"/>
          </p:nvPr>
        </p:nvSpPr>
        <p:spPr/>
        <p:txBody>
          <a:bodyPr/>
          <a:lstStyle/>
          <a:p>
            <a:r>
              <a:rPr lang="en-IN" b="1" dirty="0"/>
              <a:t>Policy and value function</a:t>
            </a:r>
            <a:r>
              <a:rPr lang="en-IN" b="1" i="0" dirty="0">
                <a:solidFill>
                  <a:srgbClr val="000000"/>
                </a:solidFill>
                <a:effectLst/>
                <a:highlight>
                  <a:srgbClr val="FFFFFF"/>
                </a:highlight>
                <a:latin typeface="Arial" panose="020B0604020202020204" pitchFamily="34" charset="0"/>
              </a:rPr>
              <a:t/>
            </a:r>
            <a:br>
              <a:rPr lang="en-IN" b="1" i="0"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3CDF12A1-3DFC-BD92-A29D-F8F570B30320}"/>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D0A7F41-0447-5C36-39B3-32C1B1FC5EFF}"/>
              </a:ext>
            </a:extLst>
          </p:cNvPr>
          <p:cNvPicPr>
            <a:picLocks noChangeAspect="1"/>
          </p:cNvPicPr>
          <p:nvPr/>
        </p:nvPicPr>
        <p:blipFill>
          <a:blip r:embed="rId2"/>
          <a:stretch>
            <a:fillRect/>
          </a:stretch>
        </p:blipFill>
        <p:spPr>
          <a:xfrm>
            <a:off x="0" y="1568416"/>
            <a:ext cx="12192000" cy="4301525"/>
          </a:xfrm>
          <a:prstGeom prst="rect">
            <a:avLst/>
          </a:prstGeom>
        </p:spPr>
      </p:pic>
    </p:spTree>
    <p:extLst>
      <p:ext uri="{BB962C8B-B14F-4D97-AF65-F5344CB8AC3E}">
        <p14:creationId xmlns:p14="http://schemas.microsoft.com/office/powerpoint/2010/main" val="2582848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13006-DFFF-ED1E-4C1E-9634863053F2}"/>
              </a:ext>
            </a:extLst>
          </p:cNvPr>
          <p:cNvSpPr>
            <a:spLocks noGrp="1"/>
          </p:cNvSpPr>
          <p:nvPr>
            <p:ph type="title"/>
          </p:nvPr>
        </p:nvSpPr>
        <p:spPr/>
        <p:txBody>
          <a:bodyPr/>
          <a:lstStyle/>
          <a:p>
            <a:r>
              <a:rPr lang="en-US" dirty="0"/>
              <a:t>Summary</a:t>
            </a:r>
            <a:endParaRPr lang="en-IN" dirty="0"/>
          </a:p>
        </p:txBody>
      </p:sp>
      <p:sp>
        <p:nvSpPr>
          <p:cNvPr id="3" name="Content Placeholder 2">
            <a:extLst>
              <a:ext uri="{FF2B5EF4-FFF2-40B4-BE49-F238E27FC236}">
                <a16:creationId xmlns:a16="http://schemas.microsoft.com/office/drawing/2014/main" id="{6DAD0FEB-6849-3F09-D9A6-12376D3EECFE}"/>
              </a:ext>
            </a:extLst>
          </p:cNvPr>
          <p:cNvSpPr>
            <a:spLocks noGrp="1"/>
          </p:cNvSpPr>
          <p:nvPr>
            <p:ph idx="1"/>
          </p:nvPr>
        </p:nvSpPr>
        <p:spPr/>
        <p:txBody>
          <a:bodyPr/>
          <a:lstStyle/>
          <a:p>
            <a:pPr algn="just"/>
            <a:r>
              <a:rPr lang="en-US" sz="2300" dirty="0">
                <a:solidFill>
                  <a:srgbClr val="202122"/>
                </a:solidFill>
                <a:latin typeface="Cambria" panose="02040503050406030204" pitchFamily="18" charset="0"/>
                <a:ea typeface="Cambria" panose="02040503050406030204" pitchFamily="18" charset="0"/>
              </a:rPr>
              <a:t>An exact solution to a POMDP yields the optimal action for each possible belief over the world states. </a:t>
            </a:r>
          </a:p>
          <a:p>
            <a:pPr algn="just"/>
            <a:r>
              <a:rPr lang="en-US" sz="2300" dirty="0">
                <a:solidFill>
                  <a:srgbClr val="202122"/>
                </a:solidFill>
                <a:latin typeface="Cambria" panose="02040503050406030204" pitchFamily="18" charset="0"/>
                <a:ea typeface="Cambria" panose="02040503050406030204" pitchFamily="18" charset="0"/>
              </a:rPr>
              <a:t>The optimal action maximizes the expected reward (or minimizes the cost) of the agent over a possibly infinite horizon. The sequence of optimal actions is known as the optimal policy of the agent for interacting with its environment.</a:t>
            </a:r>
            <a:endParaRPr lang="en-IN" sz="2300" dirty="0">
              <a:solidFill>
                <a:srgbClr val="202122"/>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506260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6AABF-22B9-EBFC-C423-2EBE53151E5D}"/>
              </a:ext>
            </a:extLst>
          </p:cNvPr>
          <p:cNvSpPr>
            <a:spLocks noGrp="1"/>
          </p:cNvSpPr>
          <p:nvPr>
            <p:ph type="title"/>
          </p:nvPr>
        </p:nvSpPr>
        <p:spPr/>
        <p:txBody>
          <a:bodyPr/>
          <a:lstStyle/>
          <a:p>
            <a:r>
              <a:rPr lang="en-IN" b="1" dirty="0"/>
              <a:t>Applications</a:t>
            </a:r>
            <a:r>
              <a:rPr lang="en-IN" b="0" i="0" dirty="0">
                <a:solidFill>
                  <a:srgbClr val="000000"/>
                </a:solidFill>
                <a:effectLst/>
                <a:highlight>
                  <a:srgbClr val="FFFFFF"/>
                </a:highlight>
                <a:latin typeface="Linux Libertine"/>
              </a:rPr>
              <a:t/>
            </a:r>
            <a:br>
              <a:rPr lang="en-IN" b="0" i="0" dirty="0">
                <a:solidFill>
                  <a:srgbClr val="000000"/>
                </a:solidFill>
                <a:effectLst/>
                <a:highlight>
                  <a:srgbClr val="FFFFFF"/>
                </a:highlight>
                <a:latin typeface="Linux Libertine"/>
              </a:rPr>
            </a:br>
            <a:endParaRPr lang="en-IN" dirty="0"/>
          </a:p>
        </p:txBody>
      </p:sp>
      <p:sp>
        <p:nvSpPr>
          <p:cNvPr id="3" name="Content Placeholder 2">
            <a:extLst>
              <a:ext uri="{FF2B5EF4-FFF2-40B4-BE49-F238E27FC236}">
                <a16:creationId xmlns:a16="http://schemas.microsoft.com/office/drawing/2014/main" id="{B51A0BDB-04C6-15E9-1EAA-99F925960DFD}"/>
              </a:ext>
            </a:extLst>
          </p:cNvPr>
          <p:cNvSpPr>
            <a:spLocks noGrp="1"/>
          </p:cNvSpPr>
          <p:nvPr>
            <p:ph idx="1"/>
          </p:nvPr>
        </p:nvSpPr>
        <p:spPr>
          <a:xfrm>
            <a:off x="1371600" y="1727200"/>
            <a:ext cx="9601200" cy="4140200"/>
          </a:xfrm>
        </p:spPr>
        <p:txBody>
          <a:bodyPr>
            <a:normAutofit lnSpcReduction="10000"/>
          </a:bodyPr>
          <a:lstStyle/>
          <a:p>
            <a:pPr algn="just"/>
            <a:r>
              <a:rPr lang="en-US" sz="2300" dirty="0">
                <a:solidFill>
                  <a:srgbClr val="202122"/>
                </a:solidFill>
                <a:latin typeface="Cambria" panose="02040503050406030204" pitchFamily="18" charset="0"/>
                <a:ea typeface="Cambria" panose="02040503050406030204" pitchFamily="18" charset="0"/>
              </a:rPr>
              <a:t>POMDPs can be used to model many kinds of real-world problems. </a:t>
            </a:r>
          </a:p>
          <a:p>
            <a:pPr algn="just"/>
            <a:endParaRPr lang="en-US" sz="2300" dirty="0">
              <a:solidFill>
                <a:srgbClr val="202122"/>
              </a:solidFill>
              <a:latin typeface="Cambria" panose="02040503050406030204" pitchFamily="18" charset="0"/>
              <a:ea typeface="Cambria" panose="02040503050406030204" pitchFamily="18" charset="0"/>
            </a:endParaRPr>
          </a:p>
          <a:p>
            <a:pPr algn="just"/>
            <a:r>
              <a:rPr lang="en-US" sz="2300" dirty="0">
                <a:solidFill>
                  <a:srgbClr val="202122"/>
                </a:solidFill>
                <a:latin typeface="Cambria" panose="02040503050406030204" pitchFamily="18" charset="0"/>
                <a:ea typeface="Cambria" panose="02040503050406030204" pitchFamily="18" charset="0"/>
              </a:rPr>
              <a:t>Notable applications include the use of a POMDP in management of patients with ischemic heart disease, assistive technology for persons with dementia (</a:t>
            </a:r>
            <a:r>
              <a:rPr lang="en-IN" sz="2300" dirty="0">
                <a:solidFill>
                  <a:srgbClr val="202122"/>
                </a:solidFill>
                <a:latin typeface="Cambria" panose="02040503050406030204" pitchFamily="18" charset="0"/>
                <a:ea typeface="Cambria" panose="02040503050406030204" pitchFamily="18" charset="0"/>
              </a:rPr>
              <a:t>Alzheimer's disease)</a:t>
            </a:r>
            <a:r>
              <a:rPr lang="en-US" sz="2300" dirty="0">
                <a:solidFill>
                  <a:srgbClr val="202122"/>
                </a:solidFill>
                <a:latin typeface="Cambria" panose="02040503050406030204" pitchFamily="18" charset="0"/>
                <a:ea typeface="Cambria" panose="02040503050406030204" pitchFamily="18" charset="0"/>
              </a:rPr>
              <a:t>, the conservation of the critically endangered and difficult to detect Sumatran tigers and aircraft collision avoidance.</a:t>
            </a:r>
          </a:p>
          <a:p>
            <a:pPr algn="just"/>
            <a:r>
              <a:rPr lang="en-US" sz="2300" dirty="0">
                <a:solidFill>
                  <a:srgbClr val="202122"/>
                </a:solidFill>
                <a:latin typeface="Cambria" panose="02040503050406030204" pitchFamily="18" charset="0"/>
                <a:ea typeface="Cambria" panose="02040503050406030204" pitchFamily="18" charset="0"/>
              </a:rPr>
              <a:t>One application is a teaching case, a crying baby problem, where a parent needs to sequentially decide whether to feed the baby based on the observation of whether the baby is crying or not, which is an imperfect representation of the actual baby's state of hunger.</a:t>
            </a:r>
          </a:p>
          <a:p>
            <a:endParaRPr lang="en-IN" dirty="0"/>
          </a:p>
        </p:txBody>
      </p:sp>
    </p:spTree>
    <p:extLst>
      <p:ext uri="{BB962C8B-B14F-4D97-AF65-F5344CB8AC3E}">
        <p14:creationId xmlns:p14="http://schemas.microsoft.com/office/powerpoint/2010/main" val="1657890766"/>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4A2318"/>
      </a:dk2>
      <a:lt2>
        <a:srgbClr val="EDECEB"/>
      </a:lt2>
      <a:accent1>
        <a:srgbClr val="F3C82E"/>
      </a:accent1>
      <a:accent2>
        <a:srgbClr val="A26176"/>
      </a:accent2>
      <a:accent3>
        <a:srgbClr val="74A94E"/>
      </a:accent3>
      <a:accent4>
        <a:srgbClr val="188E8D"/>
      </a:accent4>
      <a:accent5>
        <a:srgbClr val="EE913A"/>
      </a:accent5>
      <a:accent6>
        <a:srgbClr val="DF5D4A"/>
      </a:accent6>
      <a:hlink>
        <a:srgbClr val="188E8D"/>
      </a:hlink>
      <a:folHlink>
        <a:srgbClr val="A26176"/>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D7AA1D6E-F3E9-4763-A3BC-84DF2E02F6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rop">
    <a:dk1>
      <a:sysClr val="windowText" lastClr="000000"/>
    </a:dk1>
    <a:lt1>
      <a:sysClr val="window" lastClr="FFFFFF"/>
    </a:lt1>
    <a:dk2>
      <a:srgbClr val="4A2318"/>
    </a:dk2>
    <a:lt2>
      <a:srgbClr val="EDECEB"/>
    </a:lt2>
    <a:accent1>
      <a:srgbClr val="F3C82E"/>
    </a:accent1>
    <a:accent2>
      <a:srgbClr val="A26176"/>
    </a:accent2>
    <a:accent3>
      <a:srgbClr val="74A94E"/>
    </a:accent3>
    <a:accent4>
      <a:srgbClr val="188E8D"/>
    </a:accent4>
    <a:accent5>
      <a:srgbClr val="EE913A"/>
    </a:accent5>
    <a:accent6>
      <a:srgbClr val="DF5D4A"/>
    </a:accent6>
    <a:hlink>
      <a:srgbClr val="188E8D"/>
    </a:hlink>
    <a:folHlink>
      <a:srgbClr val="A26176"/>
    </a:folHlink>
  </a:clrScheme>
</a:themeOverride>
</file>

<file path=ppt/theme/themeOverride2.xml><?xml version="1.0" encoding="utf-8"?>
<a:themeOverride xmlns:a="http://schemas.openxmlformats.org/drawingml/2006/main">
  <a:clrScheme name="Crop">
    <a:dk1>
      <a:sysClr val="windowText" lastClr="000000"/>
    </a:dk1>
    <a:lt1>
      <a:sysClr val="window" lastClr="FFFFFF"/>
    </a:lt1>
    <a:dk2>
      <a:srgbClr val="4A2318"/>
    </a:dk2>
    <a:lt2>
      <a:srgbClr val="EDECEB"/>
    </a:lt2>
    <a:accent1>
      <a:srgbClr val="F3C82E"/>
    </a:accent1>
    <a:accent2>
      <a:srgbClr val="A26176"/>
    </a:accent2>
    <a:accent3>
      <a:srgbClr val="74A94E"/>
    </a:accent3>
    <a:accent4>
      <a:srgbClr val="188E8D"/>
    </a:accent4>
    <a:accent5>
      <a:srgbClr val="EE913A"/>
    </a:accent5>
    <a:accent6>
      <a:srgbClr val="DF5D4A"/>
    </a:accent6>
    <a:hlink>
      <a:srgbClr val="188E8D"/>
    </a:hlink>
    <a:folHlink>
      <a:srgbClr val="A2617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4FC1750496BA842B8CDF8D980297702" ma:contentTypeVersion="3" ma:contentTypeDescription="Create a new document." ma:contentTypeScope="" ma:versionID="25b4117b7e7c52874fef60ba29814e78">
  <xsd:schema xmlns:xsd="http://www.w3.org/2001/XMLSchema" xmlns:xs="http://www.w3.org/2001/XMLSchema" xmlns:p="http://schemas.microsoft.com/office/2006/metadata/properties" xmlns:ns2="6b7f7ae6-7a87-4d3a-a44f-b1b75ae19df5" targetNamespace="http://schemas.microsoft.com/office/2006/metadata/properties" ma:root="true" ma:fieldsID="92331ed16946a6a4687e51e0b4ac930e" ns2:_="">
    <xsd:import namespace="6b7f7ae6-7a87-4d3a-a44f-b1b75ae19df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7f7ae6-7a87-4d3a-a44f-b1b75ae19d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C9DE35E-7D40-4835-9CA0-515D25A4DDD5}"/>
</file>

<file path=customXml/itemProps2.xml><?xml version="1.0" encoding="utf-8"?>
<ds:datastoreItem xmlns:ds="http://schemas.openxmlformats.org/officeDocument/2006/customXml" ds:itemID="{1627C894-05DC-4A0F-9CD5-C03C63886D81}"/>
</file>

<file path=customXml/itemProps3.xml><?xml version="1.0" encoding="utf-8"?>
<ds:datastoreItem xmlns:ds="http://schemas.openxmlformats.org/officeDocument/2006/customXml" ds:itemID="{6096EED1-C6FC-4B86-93B0-E7A9A20F5B70}"/>
</file>

<file path=docProps/app.xml><?xml version="1.0" encoding="utf-8"?>
<Properties xmlns="http://schemas.openxmlformats.org/officeDocument/2006/extended-properties" xmlns:vt="http://schemas.openxmlformats.org/officeDocument/2006/docPropsVTypes">
  <Template/>
  <TotalTime>3856</TotalTime>
  <Words>1270</Words>
  <Application>Microsoft Office PowerPoint</Application>
  <PresentationFormat>Widescreen</PresentationFormat>
  <Paragraphs>76</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__Source_Sans_Pro_fa6df0</vt:lpstr>
      <vt:lpstr>Arial</vt:lpstr>
      <vt:lpstr>Calibri</vt:lpstr>
      <vt:lpstr>Cambria</vt:lpstr>
      <vt:lpstr>Franklin Gothic Book</vt:lpstr>
      <vt:lpstr>KaTeX_Main</vt:lpstr>
      <vt:lpstr>Linux Libertine</vt:lpstr>
      <vt:lpstr>Times New Roman</vt:lpstr>
      <vt:lpstr>Crop</vt:lpstr>
      <vt:lpstr>PowerPoint Presentation</vt:lpstr>
      <vt:lpstr>Module No. 6 Hierarchical Reinforcement Learning 8 Hours</vt:lpstr>
      <vt:lpstr>A Partially Observable Markov Decision Process (POMDP) </vt:lpstr>
      <vt:lpstr>A Partially Observable Markov Decision Process (POMDP) </vt:lpstr>
      <vt:lpstr>What are POMDPs? </vt:lpstr>
      <vt:lpstr>Formal definition </vt:lpstr>
      <vt:lpstr>PowerPoint Presentation</vt:lpstr>
      <vt:lpstr>What are POMDPs?</vt:lpstr>
      <vt:lpstr>What are POMDPs?</vt:lpstr>
      <vt:lpstr>Belief update </vt:lpstr>
      <vt:lpstr>Belief MDP</vt:lpstr>
      <vt:lpstr>PowerPoint Presentation</vt:lpstr>
      <vt:lpstr>Approximate POMDP solutions </vt:lpstr>
      <vt:lpstr>Approximate POMDP solutions </vt:lpstr>
      <vt:lpstr>Approximate POMDP solutions </vt:lpstr>
      <vt:lpstr>Approximate POMDP solutions </vt:lpstr>
      <vt:lpstr>Policy and value function </vt:lpstr>
      <vt:lpstr>Summary</vt:lpstr>
      <vt:lpstr>Applications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 347</dc:title>
  <dc:creator>dipen saini</dc:creator>
  <cp:lastModifiedBy>delll</cp:lastModifiedBy>
  <cp:revision>38</cp:revision>
  <dcterms:created xsi:type="dcterms:W3CDTF">2023-01-04T16:33:49Z</dcterms:created>
  <dcterms:modified xsi:type="dcterms:W3CDTF">2026-04-17T00:21:43Z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0x01010004FC1750496BA842B8CDF8D980297702</vt:lpwstr>
  </property>
</Properties>
</file>
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24"/>
  </p:notesMasterIdLst>
  <p:sldIdLst>
    <p:sldId id="585" r:id="rId5"/>
    <p:sldId id="262" r:id="rId6"/>
    <p:sldId id="648" r:id="rId7"/>
    <p:sldId id="670" r:id="rId8"/>
    <p:sldId id="649" r:id="rId9"/>
    <p:sldId id="663" r:id="rId10"/>
    <p:sldId id="650" r:id="rId11"/>
    <p:sldId id="651" r:id="rId12"/>
    <p:sldId id="664" r:id="rId13"/>
    <p:sldId id="665" r:id="rId14"/>
    <p:sldId id="652" r:id="rId15"/>
    <p:sldId id="653" r:id="rId16"/>
    <p:sldId id="668" r:id="rId17"/>
    <p:sldId id="654" r:id="rId18"/>
    <p:sldId id="655" r:id="rId19"/>
    <p:sldId id="659" r:id="rId20"/>
    <p:sldId id="671" r:id="rId21"/>
    <p:sldId id="661" r:id="rId22"/>
    <p:sldId id="67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ngavaram shreyasi" userId="S::shreyasi.23bce9030@vitapstudent.ac.in::442af429-e517-4819-b935-162b5dacdca2" providerId="AD" clId="Web-{01323745-696A-8D1A-B895-B69BF4CD1299}"/>
    <pc:docChg chg="modSld">
      <pc:chgData name="gangavaram shreyasi" userId="S::shreyasi.23bce9030@vitapstudent.ac.in::442af429-e517-4819-b935-162b5dacdca2" providerId="AD" clId="Web-{01323745-696A-8D1A-B895-B69BF4CD1299}" dt="2026-04-18T07:56:05.276" v="3" actId="20577"/>
      <pc:docMkLst>
        <pc:docMk/>
      </pc:docMkLst>
      <pc:sldChg chg="modSp">
        <pc:chgData name="gangavaram shreyasi" userId="S::shreyasi.23bce9030@vitapstudent.ac.in::442af429-e517-4819-b935-162b5dacdca2" providerId="AD" clId="Web-{01323745-696A-8D1A-B895-B69BF4CD1299}" dt="2026-04-18T07:56:05.276" v="3" actId="20577"/>
        <pc:sldMkLst>
          <pc:docMk/>
          <pc:sldMk cId="2540866453" sldId="651"/>
        </pc:sldMkLst>
        <pc:spChg chg="mod">
          <ac:chgData name="gangavaram shreyasi" userId="S::shreyasi.23bce9030@vitapstudent.ac.in::442af429-e517-4819-b935-162b5dacdca2" providerId="AD" clId="Web-{01323745-696A-8D1A-B895-B69BF4CD1299}" dt="2026-04-18T07:56:05.276" v="3" actId="20577"/>
          <ac:spMkLst>
            <pc:docMk/>
            <pc:sldMk cId="2540866453" sldId="651"/>
            <ac:spMk id="3" creationId="{C5E1FB25-F679-EF6A-CAA2-80D891AD777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3F091-54B8-4C54-A889-837C3D111872}" type="datetimeFigureOut">
              <a:rPr lang="en-IN" smtClean="0"/>
              <a:t>18-04-2026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096A8-260D-4569-A24C-A710FFFEEEAB}" type="slidenum">
              <a:rPr lang="en-IN" smtClean="0"/>
              <a:t>‹#›</a:t>
            </a:fld>
            <a:endParaRPr lang="en-IN"/>
          </a:p>
        </p:txBody>
      </p:sp>
    </p:spTree>
    <p:extLst>
      <p:ext uri="{BB962C8B-B14F-4D97-AF65-F5344CB8AC3E}">
        <p14:creationId xmlns:p14="http://schemas.microsoft.com/office/powerpoint/2010/main" val="647172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2B3DD3EA-5372-5F45-9EB0-1B41863C7012}" type="datetimeFigureOut">
              <a:rPr lang="en-US" smtClean="0"/>
              <a:t>4/18/2026</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4BD522E6-407B-3141-A6A0-805FAD6796A0}" type="slidenum">
              <a:rPr lang="en-US" smtClean="0"/>
              <a:t>‹#›</a:t>
            </a:fld>
            <a:endParaRPr lang="en-US"/>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364689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64772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B3DD3EA-5372-5F45-9EB0-1B41863C7012}" type="datetimeFigureOut">
              <a:rPr lang="en-US" smtClean="0"/>
              <a:t>4/18/2026</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693760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3DD3EA-5372-5F45-9EB0-1B41863C7012}"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3907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B3DD3EA-5372-5F45-9EB0-1B41863C7012}" type="datetimeFigureOut">
              <a:rPr lang="en-US" smtClean="0"/>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939228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B3DD3EA-5372-5F45-9EB0-1B41863C7012}"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236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3DD3EA-5372-5F45-9EB0-1B41863C7012}" type="datetimeFigureOut">
              <a:rPr lang="en-US" smtClean="0"/>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469580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4/18/2026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02717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2B3DD3EA-5372-5F45-9EB0-1B41863C7012}" type="datetimeFigureOut">
              <a:rPr lang="en-US" smtClean="0"/>
              <a:t>4/18/2026</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4BD522E6-407B-3141-A6A0-805FAD6796A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792972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2402891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3DD3EA-5372-5F45-9EB0-1B41863C7012}"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D522E6-407B-3141-A6A0-805FAD6796A0}" type="slidenum">
              <a:rPr lang="en-US" smtClean="0"/>
              <a:t>‹#›</a:t>
            </a:fld>
            <a:endParaRPr lang="en-US"/>
          </a:p>
        </p:txBody>
      </p:sp>
    </p:spTree>
    <p:extLst>
      <p:ext uri="{BB962C8B-B14F-4D97-AF65-F5344CB8AC3E}">
        <p14:creationId xmlns:p14="http://schemas.microsoft.com/office/powerpoint/2010/main" val="39271396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B3DD3EA-5372-5F45-9EB0-1B41863C7012}" type="datetimeFigureOut">
              <a:rPr lang="en-US" smtClean="0"/>
              <a:t>4/18/2026</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4BD522E6-407B-3141-A6A0-805FAD6796A0}"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529623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docs.markovmodel.org/lecture_pcca.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D6B1D31-C4E7-8A73-DE3F-694072EBD1FA}"/>
              </a:ext>
            </a:extLst>
          </p:cNvPr>
          <p:cNvSpPr>
            <a:spLocks noGrp="1"/>
          </p:cNvSpPr>
          <p:nvPr>
            <p:ph type="subTitle" idx="1"/>
          </p:nvPr>
        </p:nvSpPr>
        <p:spPr>
          <a:xfrm>
            <a:off x="1320800" y="1341120"/>
            <a:ext cx="10454640" cy="4003040"/>
          </a:xfrm>
        </p:spPr>
        <p:txBody>
          <a:bodyPr>
            <a:noAutofit/>
          </a:bodyPr>
          <a:lstStyle/>
          <a:p>
            <a:pPr algn="l"/>
            <a:r>
              <a:rPr lang="en-US" sz="4000" b="1" cap="all" dirty="0">
                <a:solidFill>
                  <a:schemeClr val="tx2"/>
                </a:solidFill>
                <a:latin typeface="+mj-lt"/>
                <a:ea typeface="+mj-ea"/>
                <a:cs typeface="+mj-cs"/>
              </a:rPr>
              <a:t>CSE4037 </a:t>
            </a:r>
          </a:p>
          <a:p>
            <a:pPr algn="l"/>
            <a:r>
              <a:rPr lang="en-US" sz="4000" b="1" cap="all" dirty="0">
                <a:solidFill>
                  <a:schemeClr val="tx2"/>
                </a:solidFill>
                <a:latin typeface="+mj-lt"/>
                <a:ea typeface="+mj-ea"/>
                <a:cs typeface="+mj-cs"/>
              </a:rPr>
              <a:t>REINFORCEMENT LEARNING</a:t>
            </a:r>
          </a:p>
          <a:p>
            <a:pPr algn="l"/>
            <a:endParaRPr lang="en-US" sz="3000" b="1" cap="all" dirty="0">
              <a:solidFill>
                <a:schemeClr val="tx2"/>
              </a:solidFill>
              <a:latin typeface="+mj-lt"/>
              <a:ea typeface="+mj-ea"/>
              <a:cs typeface="+mj-cs"/>
            </a:endParaRPr>
          </a:p>
          <a:p>
            <a:pPr algn="just"/>
            <a:r>
              <a:rPr lang="en-US" sz="3200" b="1" dirty="0">
                <a:solidFill>
                  <a:srgbClr val="FF0000"/>
                </a:solidFill>
                <a:highlight>
                  <a:srgbClr val="C0C0C0"/>
                </a:highlight>
                <a:latin typeface="Cambria" panose="02040503050406030204" pitchFamily="18" charset="0"/>
                <a:ea typeface="Cambria" panose="02040503050406030204" pitchFamily="18" charset="0"/>
              </a:rPr>
              <a:t>LEARNING WITH OPTIONS</a:t>
            </a:r>
          </a:p>
        </p:txBody>
      </p:sp>
      <p:sp>
        <p:nvSpPr>
          <p:cNvPr id="4" name="Subtitle 2">
            <a:extLst>
              <a:ext uri="{FF2B5EF4-FFF2-40B4-BE49-F238E27FC236}">
                <a16:creationId xmlns:a16="http://schemas.microsoft.com/office/drawing/2014/main" id="{A801DB45-417F-527B-47EB-AC2FEB6B23A9}"/>
              </a:ext>
            </a:extLst>
          </p:cNvPr>
          <p:cNvSpPr txBox="1">
            <a:spLocks/>
          </p:cNvSpPr>
          <p:nvPr/>
        </p:nvSpPr>
        <p:spPr>
          <a:xfrm>
            <a:off x="1493520" y="5100320"/>
            <a:ext cx="6493336" cy="1497032"/>
          </a:xfrm>
          <a:prstGeom prst="rect">
            <a:avLst/>
          </a:prstGeom>
        </p:spPr>
        <p:txBody>
          <a:bodyPr vert="horz" lIns="91440" tIns="45720" rIns="91440" bIns="45720" rtlCol="0">
            <a:normAutofit/>
          </a:bodyPr>
          <a:lstStyle>
            <a:lvl1pPr marL="0" indent="0" algn="ctr" defTabSz="914400" rtl="0" eaLnBrk="1" latinLnBrk="0" hangingPunct="1">
              <a:lnSpc>
                <a:spcPct val="112000"/>
              </a:lnSpc>
              <a:spcBef>
                <a:spcPts val="0"/>
              </a:spcBef>
              <a:spcAft>
                <a:spcPts val="0"/>
              </a:spcAft>
              <a:buFont typeface="Franklin Gothic Book" panose="020B0503020102020204" pitchFamily="34" charset="0"/>
              <a:buNone/>
              <a:defRPr sz="2300" kern="1200" baseline="0">
                <a:solidFill>
                  <a:schemeClr val="bg2"/>
                </a:solidFill>
                <a:latin typeface="+mn-lt"/>
                <a:ea typeface="+mn-ea"/>
                <a:cs typeface="+mn-cs"/>
              </a:defRPr>
            </a:lvl1pPr>
            <a:lvl2pPr marL="457200" indent="0" algn="ctr" defTabSz="914400" rtl="0" eaLnBrk="1" latinLnBrk="0" hangingPunct="1">
              <a:lnSpc>
                <a:spcPct val="94000"/>
              </a:lnSpc>
              <a:spcBef>
                <a:spcPts val="500"/>
              </a:spcBef>
              <a:spcAft>
                <a:spcPts val="200"/>
              </a:spcAft>
              <a:buFont typeface="Franklin Gothic Book" panose="020B0503020102020204" pitchFamily="34" charset="0"/>
              <a:buNone/>
              <a:defRPr sz="2000" i="1" kern="1200" baseline="0">
                <a:solidFill>
                  <a:schemeClr val="tx2"/>
                </a:solidFill>
                <a:latin typeface="+mn-lt"/>
                <a:ea typeface="+mn-ea"/>
                <a:cs typeface="+mn-cs"/>
              </a:defRPr>
            </a:lvl2pPr>
            <a:lvl3pPr marL="914400" indent="0" algn="ctr" defTabSz="914400" rtl="0" eaLnBrk="1" latinLnBrk="0" hangingPunct="1">
              <a:lnSpc>
                <a:spcPct val="94000"/>
              </a:lnSpc>
              <a:spcBef>
                <a:spcPts val="500"/>
              </a:spcBef>
              <a:spcAft>
                <a:spcPts val="200"/>
              </a:spcAft>
              <a:buFont typeface="Franklin Gothic Book" panose="020B0503020102020204" pitchFamily="34" charset="0"/>
              <a:buNone/>
              <a:defRPr sz="1800" kern="1200" baseline="0">
                <a:solidFill>
                  <a:schemeClr val="tx2"/>
                </a:solidFill>
                <a:latin typeface="+mn-lt"/>
                <a:ea typeface="+mn-ea"/>
                <a:cs typeface="+mn-cs"/>
              </a:defRPr>
            </a:lvl3pPr>
            <a:lvl4pPr marL="13716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4pPr>
            <a:lvl5pPr marL="18288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5pPr>
            <a:lvl6pPr marL="22860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6pPr>
            <a:lvl7pPr marL="27432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7pPr>
            <a:lvl8pPr marL="3200400" indent="0" algn="ctr" defTabSz="914400" rtl="0" eaLnBrk="1" latinLnBrk="0" hangingPunct="1">
              <a:lnSpc>
                <a:spcPct val="94000"/>
              </a:lnSpc>
              <a:spcBef>
                <a:spcPts val="500"/>
              </a:spcBef>
              <a:spcAft>
                <a:spcPts val="200"/>
              </a:spcAft>
              <a:buFont typeface="Franklin Gothic Book" panose="020B0503020102020204" pitchFamily="34" charset="0"/>
              <a:buNone/>
              <a:defRPr sz="1600" i="1" kern="1200" baseline="0">
                <a:solidFill>
                  <a:schemeClr val="tx2"/>
                </a:solidFill>
                <a:latin typeface="+mn-lt"/>
                <a:ea typeface="+mn-ea"/>
                <a:cs typeface="+mn-cs"/>
              </a:defRPr>
            </a:lvl8pPr>
            <a:lvl9pPr marL="3657600" indent="0" algn="ctr" defTabSz="914400" rtl="0" eaLnBrk="1" latinLnBrk="0" hangingPunct="1">
              <a:lnSpc>
                <a:spcPct val="94000"/>
              </a:lnSpc>
              <a:spcBef>
                <a:spcPts val="500"/>
              </a:spcBef>
              <a:spcAft>
                <a:spcPts val="200"/>
              </a:spcAft>
              <a:buFont typeface="Franklin Gothic Book" panose="020B0503020102020204" pitchFamily="34" charset="0"/>
              <a:buNone/>
              <a:defRPr sz="1600" kern="1200" baseline="0">
                <a:solidFill>
                  <a:schemeClr val="tx2"/>
                </a:solidFill>
                <a:latin typeface="+mn-lt"/>
                <a:ea typeface="+mn-ea"/>
                <a:cs typeface="+mn-cs"/>
              </a:defRPr>
            </a:lvl9pPr>
          </a:lstStyle>
          <a:p>
            <a:pPr algn="l"/>
            <a:endParaRPr lang="en-IN" sz="2400" dirty="0"/>
          </a:p>
        </p:txBody>
      </p:sp>
      <p:pic>
        <p:nvPicPr>
          <p:cNvPr id="6146" name="Picture 2" descr="GIPHY Engineering | » Part 2: Computer Vision @ GIPHY: How we Created an  AutoTagging Model Using Deep Learning » Part 2: Computer Vision @ GIPHY:  How we Created an AutoTagging Model Using Deep Learning">
            <a:extLst>
              <a:ext uri="{FF2B5EF4-FFF2-40B4-BE49-F238E27FC236}">
                <a16:creationId xmlns:a16="http://schemas.microsoft.com/office/drawing/2014/main" id="{BAC11B92-7D2F-1D38-29A5-997E2829E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1360" y="96520"/>
            <a:ext cx="3738880" cy="2103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029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AC42C-64AF-545B-564B-41469E2F1E54}"/>
              </a:ext>
            </a:extLst>
          </p:cNvPr>
          <p:cNvSpPr>
            <a:spLocks noGrp="1"/>
          </p:cNvSpPr>
          <p:nvPr>
            <p:ph type="title"/>
          </p:nvPr>
        </p:nvSpPr>
        <p:spPr>
          <a:xfrm>
            <a:off x="955040" y="162560"/>
            <a:ext cx="11054080" cy="2009140"/>
          </a:xfrm>
        </p:spPr>
        <p:txBody>
          <a:bodyPr>
            <a:normAutofit/>
          </a:bodyPr>
          <a:lstStyle/>
          <a:p>
            <a:pPr algn="ctr"/>
            <a:r>
              <a:rPr lang="en-US" dirty="0"/>
              <a:t>Module No. 6</a:t>
            </a:r>
            <a:br>
              <a:rPr lang="en-US" dirty="0"/>
            </a:br>
            <a:r>
              <a:rPr lang="en-IN" dirty="0"/>
              <a:t>Hierarchical Reinforcement Learning</a:t>
            </a:r>
            <a:br>
              <a:rPr lang="en-US" dirty="0"/>
            </a:br>
            <a:r>
              <a:rPr lang="en-US" dirty="0"/>
              <a:t>8 Hours</a:t>
            </a:r>
          </a:p>
        </p:txBody>
      </p:sp>
      <p:sp>
        <p:nvSpPr>
          <p:cNvPr id="3" name="Content Placeholder 2">
            <a:extLst>
              <a:ext uri="{FF2B5EF4-FFF2-40B4-BE49-F238E27FC236}">
                <a16:creationId xmlns:a16="http://schemas.microsoft.com/office/drawing/2014/main" id="{7D4E399C-0F79-D05C-02E6-4842741B3DD4}"/>
              </a:ext>
            </a:extLst>
          </p:cNvPr>
          <p:cNvSpPr>
            <a:spLocks noGrp="1"/>
          </p:cNvSpPr>
          <p:nvPr>
            <p:ph idx="1"/>
          </p:nvPr>
        </p:nvSpPr>
        <p:spPr>
          <a:xfrm>
            <a:off x="1371600" y="2286000"/>
            <a:ext cx="10048240" cy="3581400"/>
          </a:xfrm>
        </p:spPr>
        <p:txBody>
          <a:bodyPr>
            <a:normAutofit/>
          </a:bodyPr>
          <a:lstStyle/>
          <a:p>
            <a:pPr algn="just"/>
            <a:r>
              <a:rPr lang="en-US" sz="2400" dirty="0">
                <a:solidFill>
                  <a:srgbClr val="000000"/>
                </a:solidFill>
                <a:latin typeface="Times New Roman" panose="02020603050405020304" pitchFamily="18" charset="0"/>
              </a:rPr>
              <a:t>Hierarchical Reinforcement Learning</a:t>
            </a:r>
          </a:p>
          <a:p>
            <a:pPr algn="just"/>
            <a:r>
              <a:rPr lang="en-US" sz="2400" dirty="0">
                <a:solidFill>
                  <a:srgbClr val="000000"/>
                </a:solidFill>
                <a:latin typeface="Times New Roman" panose="02020603050405020304" pitchFamily="18" charset="0"/>
              </a:rPr>
              <a:t>Types of Optimality</a:t>
            </a:r>
          </a:p>
          <a:p>
            <a:pPr algn="just"/>
            <a:r>
              <a:rPr lang="en-US" sz="2400" dirty="0">
                <a:solidFill>
                  <a:srgbClr val="000000"/>
                </a:solidFill>
                <a:latin typeface="Times New Roman" panose="02020603050405020304" pitchFamily="18" charset="0"/>
              </a:rPr>
              <a:t>Semi MDP Model</a:t>
            </a:r>
          </a:p>
          <a:p>
            <a:pPr algn="just"/>
            <a:r>
              <a:rPr lang="en-US" sz="2400" dirty="0">
                <a:solidFill>
                  <a:srgbClr val="000000"/>
                </a:solidFill>
                <a:latin typeface="Times New Roman" panose="02020603050405020304" pitchFamily="18" charset="0"/>
              </a:rPr>
              <a:t>Options</a:t>
            </a:r>
          </a:p>
          <a:p>
            <a:pPr algn="just"/>
            <a:r>
              <a:rPr lang="en-US" sz="2400" dirty="0">
                <a:solidFill>
                  <a:srgbClr val="000000"/>
                </a:solidFill>
                <a:highlight>
                  <a:srgbClr val="FFFF00"/>
                </a:highlight>
                <a:latin typeface="Times New Roman" panose="02020603050405020304" pitchFamily="18" charset="0"/>
              </a:rPr>
              <a:t>Learning with Options</a:t>
            </a:r>
          </a:p>
          <a:p>
            <a:pPr algn="just"/>
            <a:r>
              <a:rPr lang="en-US" sz="2400" dirty="0">
                <a:solidFill>
                  <a:srgbClr val="000000"/>
                </a:solidFill>
                <a:latin typeface="Times New Roman" panose="02020603050405020304" pitchFamily="18" charset="0"/>
              </a:rPr>
              <a:t>Hierarchical Abstract Machines</a:t>
            </a:r>
          </a:p>
          <a:p>
            <a:pPr algn="just"/>
            <a:r>
              <a:rPr lang="en-US" sz="2400" dirty="0">
                <a:solidFill>
                  <a:srgbClr val="000000"/>
                </a:solidFill>
                <a:latin typeface="Times New Roman" panose="02020603050405020304" pitchFamily="18" charset="0"/>
              </a:rPr>
              <a:t>A partially observable Markov decision process. </a:t>
            </a:r>
            <a:endParaRPr lang="en-IN" sz="2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376155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B60A6-6B0C-C9AB-18D1-EB621C3DCC24}"/>
              </a:ext>
            </a:extLst>
          </p:cNvPr>
          <p:cNvSpPr>
            <a:spLocks noGrp="1"/>
          </p:cNvSpPr>
          <p:nvPr>
            <p:ph type="title"/>
          </p:nvPr>
        </p:nvSpPr>
        <p:spPr/>
        <p:txBody>
          <a:bodyPr/>
          <a:lstStyle/>
          <a:p>
            <a:r>
              <a:rPr lang="en-IN" dirty="0"/>
              <a:t>Option Subgoal Discovery</a:t>
            </a:r>
            <a:br>
              <a:rPr lang="en-IN"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AD0E3AB6-3E65-0640-9B95-A5A1ED54293A}"/>
              </a:ext>
            </a:extLst>
          </p:cNvPr>
          <p:cNvSpPr>
            <a:spLocks noGrp="1"/>
          </p:cNvSpPr>
          <p:nvPr>
            <p:ph idx="1"/>
          </p:nvPr>
        </p:nvSpPr>
        <p:spPr>
          <a:xfrm>
            <a:off x="1371600" y="1595120"/>
            <a:ext cx="10292080" cy="4272280"/>
          </a:xfrm>
        </p:spPr>
        <p:txBody>
          <a:bodyPr>
            <a:noAutofit/>
          </a:bodyPr>
          <a:lstStyle/>
          <a:p>
            <a:pPr algn="just"/>
            <a:r>
              <a:rPr lang="en-US" sz="2300" b="0" i="0" dirty="0">
                <a:solidFill>
                  <a:srgbClr val="222222"/>
                </a:solidFill>
                <a:effectLst/>
                <a:latin typeface="Arial" panose="020B0604020202020204" pitchFamily="34" charset="0"/>
              </a:rPr>
              <a:t>The most common approach of </a:t>
            </a:r>
            <a:r>
              <a:rPr lang="en-US" sz="2300" b="0" i="0" dirty="0">
                <a:solidFill>
                  <a:srgbClr val="222222"/>
                </a:solidFill>
                <a:effectLst/>
                <a:highlight>
                  <a:srgbClr val="FFFF00"/>
                </a:highlight>
                <a:latin typeface="Arial" panose="020B0604020202020204" pitchFamily="34" charset="0"/>
              </a:rPr>
              <a:t>automatically discovering options is focused on finding good termination conditions consisting of reaching a single state. These subgoal states often exhibit special characteristics</a:t>
            </a:r>
            <a:r>
              <a:rPr lang="en-US" sz="2300" b="0" i="0" dirty="0">
                <a:solidFill>
                  <a:srgbClr val="222222"/>
                </a:solidFill>
                <a:effectLst/>
                <a:latin typeface="Arial" panose="020B0604020202020204" pitchFamily="34" charset="0"/>
              </a:rPr>
              <a:t>. </a:t>
            </a:r>
          </a:p>
          <a:p>
            <a:pPr algn="just"/>
            <a:r>
              <a:rPr lang="en-US" sz="2300" b="0" i="0" dirty="0">
                <a:solidFill>
                  <a:srgbClr val="222222"/>
                </a:solidFill>
                <a:effectLst/>
                <a:latin typeface="Arial" panose="020B0604020202020204" pitchFamily="34" charset="0"/>
              </a:rPr>
              <a:t>For example, a doorway of an elevator is a special state because it provides access to otherwise impossible to reach areas. This approach also significantly helps efficient exploration. Easy access to these important states, facilitated by the intra-option policy, will allow the agent to explore further.</a:t>
            </a:r>
          </a:p>
          <a:p>
            <a:pPr algn="just"/>
            <a:r>
              <a:rPr lang="en-US" sz="2300" b="0" i="0" dirty="0">
                <a:solidFill>
                  <a:srgbClr val="222222"/>
                </a:solidFill>
                <a:effectLst/>
                <a:highlight>
                  <a:srgbClr val="FFFF00"/>
                </a:highlight>
                <a:latin typeface="Arial" panose="020B0604020202020204" pitchFamily="34" charset="0"/>
              </a:rPr>
              <a:t>What makes a state a good subgoal? </a:t>
            </a:r>
            <a:r>
              <a:rPr lang="en-US" sz="2300" b="0" i="0" dirty="0">
                <a:solidFill>
                  <a:srgbClr val="222222"/>
                </a:solidFill>
                <a:effectLst/>
                <a:latin typeface="Arial" panose="020B0604020202020204" pitchFamily="34" charset="0"/>
              </a:rPr>
              <a:t>This is a difficult question to answer as there are a lot of often conflicting interesting properties of states that can be used to identify subgoals states</a:t>
            </a:r>
            <a:endParaRPr lang="en-IN" sz="2300" dirty="0"/>
          </a:p>
        </p:txBody>
      </p:sp>
    </p:spTree>
    <p:extLst>
      <p:ext uri="{BB962C8B-B14F-4D97-AF65-F5344CB8AC3E}">
        <p14:creationId xmlns:p14="http://schemas.microsoft.com/office/powerpoint/2010/main" val="1728756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AB76F-2745-579A-2980-4120FD01BCEE}"/>
              </a:ext>
            </a:extLst>
          </p:cNvPr>
          <p:cNvSpPr>
            <a:spLocks noGrp="1"/>
          </p:cNvSpPr>
          <p:nvPr>
            <p:ph type="title"/>
          </p:nvPr>
        </p:nvSpPr>
        <p:spPr/>
        <p:txBody>
          <a:bodyPr>
            <a:normAutofit fontScale="90000"/>
          </a:bodyPr>
          <a:lstStyle/>
          <a:p>
            <a:r>
              <a:rPr lang="en-IN" dirty="0"/>
              <a:t>Option Subgoal Discovery</a:t>
            </a:r>
            <a:br>
              <a:rPr lang="en-IN" dirty="0"/>
            </a:br>
            <a:br>
              <a:rPr lang="en-US" b="0" i="0"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2188192D-5FE2-5731-75E2-4336471C0165}"/>
              </a:ext>
            </a:extLst>
          </p:cNvPr>
          <p:cNvSpPr>
            <a:spLocks noGrp="1"/>
          </p:cNvSpPr>
          <p:nvPr>
            <p:ph idx="1"/>
          </p:nvPr>
        </p:nvSpPr>
        <p:spPr/>
        <p:txBody>
          <a:bodyPr>
            <a:normAutofit/>
          </a:bodyPr>
          <a:lstStyle/>
          <a:p>
            <a:r>
              <a:rPr lang="en-US" sz="2500" b="1" dirty="0">
                <a:solidFill>
                  <a:srgbClr val="FF0000"/>
                </a:solidFill>
              </a:rPr>
              <a:t>Landmark States</a:t>
            </a:r>
          </a:p>
          <a:p>
            <a:r>
              <a:rPr lang="en-US" sz="2500" b="1" dirty="0">
                <a:solidFill>
                  <a:srgbClr val="FF0000"/>
                </a:solidFill>
              </a:rPr>
              <a:t>Reinforcement Learning Signal</a:t>
            </a:r>
          </a:p>
          <a:p>
            <a:r>
              <a:rPr lang="en-US" sz="2500" b="1" dirty="0">
                <a:solidFill>
                  <a:srgbClr val="FF0000"/>
                </a:solidFill>
              </a:rPr>
              <a:t>Bottleneck States</a:t>
            </a:r>
          </a:p>
          <a:p>
            <a:r>
              <a:rPr lang="en-US" sz="2500" b="1" dirty="0">
                <a:solidFill>
                  <a:srgbClr val="FF0000"/>
                </a:solidFill>
              </a:rPr>
              <a:t>Access States</a:t>
            </a:r>
          </a:p>
          <a:p>
            <a:r>
              <a:rPr lang="en-US" sz="2500" b="1" dirty="0">
                <a:solidFill>
                  <a:srgbClr val="FF0000"/>
                </a:solidFill>
              </a:rPr>
              <a:t>Graph Partitioning</a:t>
            </a:r>
          </a:p>
          <a:p>
            <a:r>
              <a:rPr lang="en-US" sz="2500" b="1" dirty="0">
                <a:solidFill>
                  <a:srgbClr val="FF0000"/>
                </a:solidFill>
              </a:rPr>
              <a:t>State Clustering</a:t>
            </a:r>
          </a:p>
          <a:p>
            <a:r>
              <a:rPr lang="en-US" sz="2500" b="1" dirty="0">
                <a:solidFill>
                  <a:srgbClr val="FF0000"/>
                </a:solidFill>
              </a:rPr>
              <a:t>Skill Chaining</a:t>
            </a:r>
            <a:endParaRPr lang="en-IN" sz="2500" dirty="0"/>
          </a:p>
        </p:txBody>
      </p:sp>
    </p:spTree>
    <p:extLst>
      <p:ext uri="{BB962C8B-B14F-4D97-AF65-F5344CB8AC3E}">
        <p14:creationId xmlns:p14="http://schemas.microsoft.com/office/powerpoint/2010/main" val="3238798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F32DF-18CE-E733-930C-74E7212B1D00}"/>
              </a:ext>
            </a:extLst>
          </p:cNvPr>
          <p:cNvSpPr>
            <a:spLocks noGrp="1"/>
          </p:cNvSpPr>
          <p:nvPr>
            <p:ph type="title"/>
          </p:nvPr>
        </p:nvSpPr>
        <p:spPr/>
        <p:txBody>
          <a:bodyPr>
            <a:normAutofit fontScale="90000"/>
          </a:bodyPr>
          <a:lstStyle/>
          <a:p>
            <a:r>
              <a:rPr lang="en-IN" dirty="0"/>
              <a:t>Option Subgoal Discovery</a:t>
            </a:r>
            <a:br>
              <a:rPr lang="en-IN" dirty="0"/>
            </a:br>
            <a:r>
              <a:rPr lang="en-IN" dirty="0"/>
              <a:t> - </a:t>
            </a:r>
            <a:r>
              <a:rPr lang="en-US" b="1" dirty="0">
                <a:solidFill>
                  <a:srgbClr val="FF0000"/>
                </a:solidFill>
              </a:rPr>
              <a:t>Landmark States</a:t>
            </a:r>
            <a:br>
              <a:rPr lang="en-US" b="0" i="0" dirty="0">
                <a:solidFill>
                  <a:srgbClr val="000000"/>
                </a:solidFill>
                <a:effectLst/>
                <a:highlight>
                  <a:srgbClr val="FFFFFF"/>
                </a:highlight>
                <a:latin typeface="Arial" panose="020B0604020202020204" pitchFamily="34" charset="0"/>
              </a:rPr>
            </a:br>
            <a:br>
              <a:rPr lang="en-IN" dirty="0"/>
            </a:br>
            <a:endParaRPr lang="en-IN" dirty="0"/>
          </a:p>
        </p:txBody>
      </p:sp>
      <p:sp>
        <p:nvSpPr>
          <p:cNvPr id="3" name="Content Placeholder 2">
            <a:extLst>
              <a:ext uri="{FF2B5EF4-FFF2-40B4-BE49-F238E27FC236}">
                <a16:creationId xmlns:a16="http://schemas.microsoft.com/office/drawing/2014/main" id="{C279F1D8-FD66-002A-C8E4-2907A413ECB5}"/>
              </a:ext>
            </a:extLst>
          </p:cNvPr>
          <p:cNvSpPr>
            <a:spLocks noGrp="1"/>
          </p:cNvSpPr>
          <p:nvPr>
            <p:ph idx="1"/>
          </p:nvPr>
        </p:nvSpPr>
        <p:spPr>
          <a:xfrm>
            <a:off x="1371600" y="1940560"/>
            <a:ext cx="10414000" cy="3926840"/>
          </a:xfrm>
        </p:spPr>
        <p:txBody>
          <a:bodyPr>
            <a:noAutofit/>
          </a:bodyPr>
          <a:lstStyle/>
          <a:p>
            <a:pPr algn="just"/>
            <a:r>
              <a:rPr lang="en-US" sz="2300" b="0" i="0" dirty="0">
                <a:solidFill>
                  <a:srgbClr val="222222"/>
                </a:solidFill>
                <a:effectLst/>
                <a:highlight>
                  <a:srgbClr val="FFFF00"/>
                </a:highlight>
                <a:latin typeface="Arial" panose="020B0604020202020204" pitchFamily="34" charset="0"/>
              </a:rPr>
              <a:t>A landmark state is a cognitive reference point. It is common for people to organize spatial information hierarchically using such landmarks. </a:t>
            </a:r>
          </a:p>
          <a:p>
            <a:pPr algn="just"/>
            <a:endParaRPr lang="en-US" sz="2300" dirty="0">
              <a:solidFill>
                <a:srgbClr val="222222"/>
              </a:solidFill>
              <a:latin typeface="Arial" panose="020B0604020202020204" pitchFamily="34" charset="0"/>
            </a:endParaRPr>
          </a:p>
          <a:p>
            <a:pPr algn="just"/>
            <a:r>
              <a:rPr lang="en-US" sz="2300" b="0" i="0" dirty="0">
                <a:solidFill>
                  <a:srgbClr val="222222"/>
                </a:solidFill>
                <a:effectLst/>
                <a:latin typeface="Arial" panose="020B0604020202020204" pitchFamily="34" charset="0"/>
              </a:rPr>
              <a:t>Landmarks used by humans, in order to come up with complex plans, are often stored in a low-dimensional representation (e.g., a rough outline of the shape of the Eiffel-tower, instead of a detailed picture).</a:t>
            </a:r>
          </a:p>
        </p:txBody>
      </p:sp>
    </p:spTree>
    <p:extLst>
      <p:ext uri="{BB962C8B-B14F-4D97-AF65-F5344CB8AC3E}">
        <p14:creationId xmlns:p14="http://schemas.microsoft.com/office/powerpoint/2010/main" val="1532738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F32DF-18CE-E733-930C-74E7212B1D00}"/>
              </a:ext>
            </a:extLst>
          </p:cNvPr>
          <p:cNvSpPr>
            <a:spLocks noGrp="1"/>
          </p:cNvSpPr>
          <p:nvPr>
            <p:ph type="title"/>
          </p:nvPr>
        </p:nvSpPr>
        <p:spPr/>
        <p:txBody>
          <a:bodyPr>
            <a:normAutofit fontScale="90000"/>
          </a:bodyPr>
          <a:lstStyle/>
          <a:p>
            <a:r>
              <a:rPr lang="en-IN" dirty="0"/>
              <a:t>Option Subgoal Discovery</a:t>
            </a:r>
            <a:br>
              <a:rPr lang="en-IN" dirty="0"/>
            </a:br>
            <a:r>
              <a:rPr lang="en-IN" dirty="0"/>
              <a:t> - </a:t>
            </a:r>
            <a:r>
              <a:rPr lang="en-US" b="1" dirty="0">
                <a:solidFill>
                  <a:srgbClr val="FF0000"/>
                </a:solidFill>
              </a:rPr>
              <a:t>Landmark States</a:t>
            </a:r>
            <a:br>
              <a:rPr lang="en-US" b="0" i="0" dirty="0">
                <a:solidFill>
                  <a:srgbClr val="000000"/>
                </a:solidFill>
                <a:effectLst/>
                <a:highlight>
                  <a:srgbClr val="FFFFFF"/>
                </a:highlight>
                <a:latin typeface="Arial" panose="020B0604020202020204" pitchFamily="34" charset="0"/>
              </a:rPr>
            </a:br>
            <a:br>
              <a:rPr lang="en-IN" dirty="0"/>
            </a:br>
            <a:endParaRPr lang="en-IN" dirty="0"/>
          </a:p>
        </p:txBody>
      </p:sp>
      <p:sp>
        <p:nvSpPr>
          <p:cNvPr id="3" name="Content Placeholder 2">
            <a:extLst>
              <a:ext uri="{FF2B5EF4-FFF2-40B4-BE49-F238E27FC236}">
                <a16:creationId xmlns:a16="http://schemas.microsoft.com/office/drawing/2014/main" id="{C279F1D8-FD66-002A-C8E4-2907A413ECB5}"/>
              </a:ext>
            </a:extLst>
          </p:cNvPr>
          <p:cNvSpPr>
            <a:spLocks noGrp="1"/>
          </p:cNvSpPr>
          <p:nvPr>
            <p:ph idx="1"/>
          </p:nvPr>
        </p:nvSpPr>
        <p:spPr>
          <a:xfrm>
            <a:off x="1371600" y="1940560"/>
            <a:ext cx="10414000" cy="3926840"/>
          </a:xfrm>
        </p:spPr>
        <p:txBody>
          <a:bodyPr>
            <a:noAutofit/>
          </a:bodyPr>
          <a:lstStyle/>
          <a:p>
            <a:pPr algn="just"/>
            <a:r>
              <a:rPr lang="en-US" sz="2300" b="0" i="0" dirty="0">
                <a:solidFill>
                  <a:srgbClr val="222222"/>
                </a:solidFill>
                <a:effectLst/>
                <a:highlight>
                  <a:srgbClr val="FFFF00"/>
                </a:highlight>
                <a:latin typeface="Arial" panose="020B0604020202020204" pitchFamily="34" charset="0"/>
              </a:rPr>
              <a:t>The Hierarchical Distance to Goal (HDG) algorithm is capable of navigating a complex environment by navigating between landmarks. </a:t>
            </a:r>
            <a:r>
              <a:rPr lang="en-US" sz="2300" b="0" i="0" dirty="0">
                <a:solidFill>
                  <a:srgbClr val="222222"/>
                </a:solidFill>
                <a:effectLst/>
                <a:latin typeface="Arial" panose="020B0604020202020204" pitchFamily="34" charset="0"/>
              </a:rPr>
              <a:t>These landmarks are cluster-centers of regions. These regions need to be specified up front. </a:t>
            </a:r>
          </a:p>
          <a:p>
            <a:pPr algn="just"/>
            <a:endParaRPr lang="en-US" sz="2300" dirty="0">
              <a:solidFill>
                <a:srgbClr val="222222"/>
              </a:solidFill>
              <a:latin typeface="Arial" panose="020B0604020202020204" pitchFamily="34" charset="0"/>
            </a:endParaRPr>
          </a:p>
          <a:p>
            <a:pPr algn="just"/>
            <a:r>
              <a:rPr lang="en-US" sz="2300" b="0" i="0" dirty="0">
                <a:solidFill>
                  <a:srgbClr val="222222"/>
                </a:solidFill>
                <a:effectLst/>
                <a:highlight>
                  <a:srgbClr val="FFFF00"/>
                </a:highlight>
                <a:latin typeface="Arial" panose="020B0604020202020204" pitchFamily="34" charset="0"/>
              </a:rPr>
              <a:t>The agent will first transition between landmarks to navigate to the region which also contains the goal</a:t>
            </a:r>
            <a:r>
              <a:rPr lang="en-US" sz="2300" b="0" i="0" dirty="0">
                <a:solidFill>
                  <a:srgbClr val="222222"/>
                </a:solidFill>
                <a:effectLst/>
                <a:latin typeface="Arial" panose="020B0604020202020204" pitchFamily="34" charset="0"/>
              </a:rPr>
              <a:t>. </a:t>
            </a:r>
            <a:r>
              <a:rPr lang="en-US" sz="2300" b="0" i="0" dirty="0">
                <a:solidFill>
                  <a:srgbClr val="222222"/>
                </a:solidFill>
                <a:effectLst/>
                <a:highlight>
                  <a:srgbClr val="FFFF00"/>
                </a:highlight>
                <a:latin typeface="Arial" panose="020B0604020202020204" pitchFamily="34" charset="0"/>
              </a:rPr>
              <a:t>Once successfully transitioned to the goal region, primitive actions will be used to navigate to the goal state. </a:t>
            </a:r>
            <a:r>
              <a:rPr lang="en-US" sz="2300" b="0" i="0" dirty="0">
                <a:solidFill>
                  <a:srgbClr val="222222"/>
                </a:solidFill>
                <a:effectLst/>
                <a:latin typeface="Arial" panose="020B0604020202020204" pitchFamily="34" charset="0"/>
              </a:rPr>
              <a:t>In order to efficiently navigate between landmarks, or within a single region, the amount of steps required to navigate from one state to another, </a:t>
            </a:r>
            <a:r>
              <a:rPr lang="en-US" sz="2300" b="0" i="0" dirty="0">
                <a:solidFill>
                  <a:srgbClr val="222222"/>
                </a:solidFill>
                <a:effectLst/>
                <a:highlight>
                  <a:srgbClr val="FFFF00"/>
                </a:highlight>
                <a:latin typeface="Arial" panose="020B0604020202020204" pitchFamily="34" charset="0"/>
              </a:rPr>
              <a:t>the distance to goal (DG) is estimated</a:t>
            </a:r>
            <a:r>
              <a:rPr lang="en-US" sz="2300" b="0" i="0" dirty="0">
                <a:solidFill>
                  <a:srgbClr val="222222"/>
                </a:solidFill>
                <a:effectLst/>
                <a:latin typeface="Arial" panose="020B0604020202020204" pitchFamily="34" charset="0"/>
              </a:rPr>
              <a:t>.</a:t>
            </a:r>
            <a:endParaRPr lang="en-IN" sz="2300" dirty="0"/>
          </a:p>
        </p:txBody>
      </p:sp>
    </p:spTree>
    <p:extLst>
      <p:ext uri="{BB962C8B-B14F-4D97-AF65-F5344CB8AC3E}">
        <p14:creationId xmlns:p14="http://schemas.microsoft.com/office/powerpoint/2010/main" val="1101406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8E166-A315-75D6-92E4-E549A73D9258}"/>
              </a:ext>
            </a:extLst>
          </p:cNvPr>
          <p:cNvSpPr>
            <a:spLocks noGrp="1"/>
          </p:cNvSpPr>
          <p:nvPr>
            <p:ph type="title"/>
          </p:nvPr>
        </p:nvSpPr>
        <p:spPr/>
        <p:txBody>
          <a:bodyPr>
            <a:normAutofit fontScale="90000"/>
          </a:bodyPr>
          <a:lstStyle/>
          <a:p>
            <a:r>
              <a:rPr lang="en-IN" dirty="0"/>
              <a:t>Option Subgoal Discovery</a:t>
            </a:r>
            <a:br>
              <a:rPr lang="en-IN" dirty="0"/>
            </a:br>
            <a:r>
              <a:rPr lang="en-IN" dirty="0"/>
              <a:t>- </a:t>
            </a:r>
            <a:r>
              <a:rPr lang="en-US" b="1" dirty="0">
                <a:solidFill>
                  <a:srgbClr val="FF0000"/>
                </a:solidFill>
              </a:rPr>
              <a:t>Reinforcement Learning Signal</a:t>
            </a:r>
            <a:br>
              <a:rPr lang="en-US" b="1" i="0" dirty="0">
                <a:solidFill>
                  <a:srgbClr val="FF0000"/>
                </a:solidFill>
                <a:effectLst/>
                <a:highlight>
                  <a:srgbClr val="FFFFFF"/>
                </a:highlight>
                <a:latin typeface="Arial" panose="020B0604020202020204" pitchFamily="34" charset="0"/>
              </a:rPr>
            </a:br>
            <a:br>
              <a:rPr lang="en-IN"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4E9DC741-A8B4-F50B-DDBC-A8B72B95A74A}"/>
              </a:ext>
            </a:extLst>
          </p:cNvPr>
          <p:cNvSpPr>
            <a:spLocks noGrp="1"/>
          </p:cNvSpPr>
          <p:nvPr>
            <p:ph idx="1"/>
          </p:nvPr>
        </p:nvSpPr>
        <p:spPr/>
        <p:txBody>
          <a:bodyPr>
            <a:normAutofit/>
          </a:bodyPr>
          <a:lstStyle/>
          <a:p>
            <a:pPr algn="just"/>
            <a:r>
              <a:rPr lang="en-US" sz="2400" b="0" i="0" dirty="0">
                <a:solidFill>
                  <a:srgbClr val="222222"/>
                </a:solidFill>
                <a:effectLst/>
                <a:highlight>
                  <a:srgbClr val="FFFF00"/>
                </a:highlight>
                <a:latin typeface="Arial" panose="020B0604020202020204" pitchFamily="34" charset="0"/>
              </a:rPr>
              <a:t>Reinforcement learning signal in order to identify useful subgoal states. </a:t>
            </a:r>
            <a:r>
              <a:rPr lang="en-US" sz="2400" b="0" i="0" dirty="0">
                <a:solidFill>
                  <a:srgbClr val="222222"/>
                </a:solidFill>
                <a:effectLst/>
                <a:latin typeface="Arial" panose="020B0604020202020204" pitchFamily="34" charset="0"/>
              </a:rPr>
              <a:t>States with a high reinforcement signal gradient are non-typical states, and are considered useful states used in more complex navigation tasks. This approach is however limited because </a:t>
            </a:r>
            <a:r>
              <a:rPr lang="en-US" sz="2400" b="0" i="0" dirty="0">
                <a:solidFill>
                  <a:srgbClr val="222222"/>
                </a:solidFill>
                <a:effectLst/>
                <a:highlight>
                  <a:srgbClr val="FFFF00"/>
                </a:highlight>
                <a:latin typeface="Arial" panose="020B0604020202020204" pitchFamily="34" charset="0"/>
              </a:rPr>
              <a:t>it is only applicable in environments with a dense enough reward signal</a:t>
            </a:r>
            <a:r>
              <a:rPr lang="en-US" sz="2400" b="0" i="0" dirty="0">
                <a:solidFill>
                  <a:srgbClr val="222222"/>
                </a:solidFill>
                <a:effectLst/>
                <a:latin typeface="Arial" panose="020B0604020202020204" pitchFamily="34" charset="0"/>
              </a:rPr>
              <a:t>.</a:t>
            </a:r>
          </a:p>
          <a:p>
            <a:endParaRPr lang="en-IN" sz="2400" dirty="0"/>
          </a:p>
        </p:txBody>
      </p:sp>
    </p:spTree>
    <p:extLst>
      <p:ext uri="{BB962C8B-B14F-4D97-AF65-F5344CB8AC3E}">
        <p14:creationId xmlns:p14="http://schemas.microsoft.com/office/powerpoint/2010/main" val="4172055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1CD86-CDBA-750C-A53D-00FABB239E15}"/>
              </a:ext>
            </a:extLst>
          </p:cNvPr>
          <p:cNvSpPr>
            <a:spLocks noGrp="1"/>
          </p:cNvSpPr>
          <p:nvPr>
            <p:ph type="title"/>
          </p:nvPr>
        </p:nvSpPr>
        <p:spPr>
          <a:xfrm>
            <a:off x="1371600" y="243840"/>
            <a:ext cx="9601200" cy="1927860"/>
          </a:xfrm>
        </p:spPr>
        <p:txBody>
          <a:bodyPr>
            <a:normAutofit fontScale="90000"/>
          </a:bodyPr>
          <a:lstStyle/>
          <a:p>
            <a:r>
              <a:rPr lang="en-IN" dirty="0"/>
              <a:t>Option Subgoal Discovery</a:t>
            </a:r>
            <a:br>
              <a:rPr lang="en-IN" dirty="0"/>
            </a:br>
            <a:r>
              <a:rPr lang="en-IN" dirty="0"/>
              <a:t> - </a:t>
            </a:r>
            <a:r>
              <a:rPr lang="en-US" b="1" dirty="0">
                <a:solidFill>
                  <a:srgbClr val="FF0000"/>
                </a:solidFill>
              </a:rPr>
              <a:t>Bottleneck States</a:t>
            </a:r>
            <a:br>
              <a:rPr lang="en-US" b="1" i="0" dirty="0">
                <a:solidFill>
                  <a:srgbClr val="FF0000"/>
                </a:solidFill>
                <a:effectLst/>
                <a:highlight>
                  <a:srgbClr val="FFFFFF"/>
                </a:highlight>
                <a:latin typeface="Arial" panose="020B0604020202020204" pitchFamily="34" charset="0"/>
              </a:rPr>
            </a:br>
            <a:br>
              <a:rPr lang="en-IN"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C5E1FB25-F679-EF6A-CAA2-80D891AD7778}"/>
              </a:ext>
            </a:extLst>
          </p:cNvPr>
          <p:cNvSpPr>
            <a:spLocks noGrp="1"/>
          </p:cNvSpPr>
          <p:nvPr>
            <p:ph idx="1"/>
          </p:nvPr>
        </p:nvSpPr>
        <p:spPr>
          <a:xfrm>
            <a:off x="1371600" y="1717040"/>
            <a:ext cx="10566400" cy="4897120"/>
          </a:xfrm>
        </p:spPr>
        <p:txBody>
          <a:bodyPr vert="horz" lIns="91440" tIns="45720" rIns="91440" bIns="45720" rtlCol="0" anchor="t">
            <a:noAutofit/>
          </a:bodyPr>
          <a:lstStyle/>
          <a:p>
            <a:pPr marL="383540" indent="-383540" algn="just"/>
            <a:r>
              <a:rPr lang="en-US" sz="2400" dirty="0">
                <a:solidFill>
                  <a:srgbClr val="222222"/>
                </a:solidFill>
                <a:highlight>
                  <a:srgbClr val="FFFF00"/>
                </a:highlight>
                <a:latin typeface="Arial"/>
                <a:cs typeface="Arial"/>
              </a:rPr>
              <a:t>Bottleneck states </a:t>
            </a:r>
            <a:r>
              <a:rPr lang="en-US" sz="2400" b="0" i="0" dirty="0">
                <a:solidFill>
                  <a:srgbClr val="222222"/>
                </a:solidFill>
                <a:effectLst/>
                <a:highlight>
                  <a:srgbClr val="FFFF00"/>
                </a:highlight>
                <a:latin typeface="Arial"/>
                <a:cs typeface="Arial"/>
              </a:rPr>
              <a:t>are states</a:t>
            </a:r>
            <a:r>
              <a:rPr lang="en-US" sz="2400" dirty="0">
                <a:solidFill>
                  <a:srgbClr val="222222"/>
                </a:solidFill>
                <a:highlight>
                  <a:srgbClr val="FFFF00"/>
                </a:highlight>
                <a:latin typeface="Arial"/>
                <a:cs typeface="Arial"/>
              </a:rPr>
              <a:t> that are frequently visited on successful trajectories, but not on unsuccessful trajectories.</a:t>
            </a:r>
            <a:endParaRPr lang="en-US"/>
          </a:p>
          <a:p>
            <a:pPr marL="383540" indent="-383540" algn="just"/>
            <a:r>
              <a:rPr lang="en-US" sz="2400" dirty="0">
                <a:solidFill>
                  <a:srgbClr val="222222"/>
                </a:solidFill>
                <a:latin typeface="Arial"/>
                <a:cs typeface="Arial"/>
              </a:rPr>
              <a:t>An </a:t>
            </a:r>
            <a:r>
              <a:rPr lang="en-US" sz="2400" dirty="0">
                <a:solidFill>
                  <a:srgbClr val="222222"/>
                </a:solidFill>
                <a:highlight>
                  <a:srgbClr val="FFFF00"/>
                </a:highlight>
                <a:latin typeface="Arial"/>
                <a:cs typeface="Arial"/>
              </a:rPr>
              <a:t>example</a:t>
            </a:r>
            <a:r>
              <a:rPr lang="en-US" sz="2400" dirty="0">
                <a:solidFill>
                  <a:srgbClr val="222222"/>
                </a:solidFill>
                <a:latin typeface="Arial"/>
                <a:cs typeface="Arial"/>
              </a:rPr>
              <a:t> of a bottleneck state could be a state where the agent picks up a key</a:t>
            </a:r>
            <a:r>
              <a:rPr lang="en-US" sz="2400" b="0" i="0" dirty="0">
                <a:solidFill>
                  <a:srgbClr val="222222"/>
                </a:solidFill>
                <a:effectLst/>
                <a:latin typeface="Arial"/>
                <a:cs typeface="Arial"/>
              </a:rPr>
              <a:t>, </a:t>
            </a:r>
            <a:r>
              <a:rPr lang="en-US" sz="2400" dirty="0">
                <a:solidFill>
                  <a:srgbClr val="222222"/>
                </a:solidFill>
                <a:latin typeface="Arial"/>
                <a:cs typeface="Arial"/>
              </a:rPr>
              <a:t>or utilizes a door. These states </a:t>
            </a:r>
            <a:r>
              <a:rPr lang="en-US" sz="2400" b="0" i="0" dirty="0">
                <a:solidFill>
                  <a:srgbClr val="222222"/>
                </a:solidFill>
                <a:effectLst/>
                <a:latin typeface="Arial"/>
                <a:cs typeface="Arial"/>
              </a:rPr>
              <a:t>are </a:t>
            </a:r>
            <a:r>
              <a:rPr lang="en-US" sz="2400" dirty="0">
                <a:solidFill>
                  <a:srgbClr val="222222"/>
                </a:solidFill>
                <a:latin typeface="Arial"/>
                <a:cs typeface="Arial"/>
              </a:rPr>
              <a:t>essential </a:t>
            </a:r>
            <a:r>
              <a:rPr lang="en-US" sz="2400" b="0" i="0" dirty="0">
                <a:solidFill>
                  <a:srgbClr val="222222"/>
                </a:solidFill>
                <a:effectLst/>
                <a:latin typeface="Arial"/>
                <a:cs typeface="Arial"/>
              </a:rPr>
              <a:t>in </a:t>
            </a:r>
            <a:r>
              <a:rPr lang="en-US" sz="2400" dirty="0">
                <a:solidFill>
                  <a:srgbClr val="222222"/>
                </a:solidFill>
                <a:latin typeface="Arial"/>
                <a:cs typeface="Arial"/>
              </a:rPr>
              <a:t>trajectories that reached the overall goal, while trajectories of failed attempts might not contain these states</a:t>
            </a:r>
            <a:r>
              <a:rPr lang="en-US" sz="2400" b="0" i="0" dirty="0">
                <a:solidFill>
                  <a:srgbClr val="222222"/>
                </a:solidFill>
                <a:effectLst/>
                <a:latin typeface="Arial"/>
                <a:cs typeface="Arial"/>
              </a:rPr>
              <a:t>. </a:t>
            </a:r>
            <a:endParaRPr lang="en-US" sz="2400" dirty="0">
              <a:solidFill>
                <a:srgbClr val="222222"/>
              </a:solidFill>
              <a:latin typeface="Arial"/>
              <a:cs typeface="Arial"/>
            </a:endParaRPr>
          </a:p>
          <a:p>
            <a:pPr marL="383540" indent="-383540" algn="just"/>
            <a:r>
              <a:rPr lang="en-US" sz="2400" dirty="0">
                <a:solidFill>
                  <a:srgbClr val="222222"/>
                </a:solidFill>
                <a:highlight>
                  <a:srgbClr val="FFFF00"/>
                </a:highlight>
                <a:latin typeface="Arial"/>
                <a:cs typeface="Arial"/>
              </a:rPr>
              <a:t>Bottlenecks discovered near the initial position of the agent are especially interesting, as they greatly benefit exploration of areas further away from the initial position.</a:t>
            </a:r>
          </a:p>
          <a:p>
            <a:pPr marL="383540" indent="-383540"/>
            <a:endParaRPr lang="en-IN" sz="2400" dirty="0">
              <a:solidFill>
                <a:srgbClr val="4A2318"/>
              </a:solidFill>
              <a:latin typeface="Franklin Gothic Book"/>
              <a:cs typeface="Arial"/>
            </a:endParaRPr>
          </a:p>
        </p:txBody>
      </p:sp>
    </p:spTree>
    <p:extLst>
      <p:ext uri="{BB962C8B-B14F-4D97-AF65-F5344CB8AC3E}">
        <p14:creationId xmlns:p14="http://schemas.microsoft.com/office/powerpoint/2010/main" val="2540866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E1FB25-F679-EF6A-CAA2-80D891AD7778}"/>
              </a:ext>
            </a:extLst>
          </p:cNvPr>
          <p:cNvSpPr>
            <a:spLocks noGrp="1"/>
          </p:cNvSpPr>
          <p:nvPr>
            <p:ph idx="1"/>
          </p:nvPr>
        </p:nvSpPr>
        <p:spPr>
          <a:xfrm>
            <a:off x="1371600" y="2072640"/>
            <a:ext cx="10515600" cy="4419600"/>
          </a:xfrm>
        </p:spPr>
        <p:txBody>
          <a:bodyPr>
            <a:noAutofit/>
          </a:bodyPr>
          <a:lstStyle/>
          <a:p>
            <a:pPr algn="just"/>
            <a:r>
              <a:rPr lang="en-US" sz="2300" b="0" i="0" dirty="0">
                <a:solidFill>
                  <a:srgbClr val="222222"/>
                </a:solidFill>
                <a:effectLst/>
                <a:highlight>
                  <a:srgbClr val="FFFF00"/>
                </a:highlight>
                <a:latin typeface="Arial" panose="020B0604020202020204" pitchFamily="34" charset="0"/>
              </a:rPr>
              <a:t>Automatically discovering bottleneck states can be done by keeping track of the visitation counts of states in successful trajectories</a:t>
            </a:r>
            <a:r>
              <a:rPr lang="en-US" sz="2300" b="0" i="0" dirty="0">
                <a:solidFill>
                  <a:srgbClr val="222222"/>
                </a:solidFill>
                <a:effectLst/>
                <a:latin typeface="Arial" panose="020B0604020202020204" pitchFamily="34" charset="0"/>
              </a:rPr>
              <a:t>. However, when using this approach, states near the starting position of the agent will be more often selected as potential bottleneck states, because more exploration is often done near the starting position of the agent. To avoid this bias, it is suggested only counting the first visits of states over a set of successful trajectories.</a:t>
            </a:r>
          </a:p>
          <a:p>
            <a:pPr algn="just"/>
            <a:endParaRPr lang="en-US" sz="2300" dirty="0">
              <a:solidFill>
                <a:srgbClr val="222222"/>
              </a:solidFill>
              <a:highlight>
                <a:srgbClr val="FFFFFF"/>
              </a:highlight>
              <a:latin typeface="Arial" panose="020B0604020202020204" pitchFamily="34" charset="0"/>
            </a:endParaRPr>
          </a:p>
          <a:p>
            <a:pPr algn="just"/>
            <a:r>
              <a:rPr lang="en-US" sz="2300" b="0" i="0" dirty="0">
                <a:solidFill>
                  <a:srgbClr val="222222"/>
                </a:solidFill>
                <a:effectLst/>
                <a:latin typeface="Arial" panose="020B0604020202020204" pitchFamily="34" charset="0"/>
              </a:rPr>
              <a:t>The problem of discovering bottleneck states, as an application of multiple-instance learning. </a:t>
            </a:r>
            <a:r>
              <a:rPr lang="en-US" sz="2300" b="0" i="0" dirty="0">
                <a:solidFill>
                  <a:schemeClr val="tx1"/>
                </a:solidFill>
                <a:effectLst/>
                <a:highlight>
                  <a:srgbClr val="FFFF00"/>
                </a:highlight>
                <a:latin typeface="Arial" panose="020B0604020202020204" pitchFamily="34" charset="0"/>
              </a:rPr>
              <a:t>Individual trajectories are considered bags, when a trajectory is successful it is considered a positive bag, when it is unsuccessful it is considered a negative bag</a:t>
            </a:r>
            <a:r>
              <a:rPr lang="en-US" sz="2300" b="0" i="0" dirty="0">
                <a:solidFill>
                  <a:srgbClr val="222222"/>
                </a:solidFill>
                <a:effectLst/>
                <a:latin typeface="Arial" panose="020B0604020202020204" pitchFamily="34" charset="0"/>
              </a:rPr>
              <a:t>. </a:t>
            </a:r>
          </a:p>
          <a:p>
            <a:pPr algn="just"/>
            <a:endParaRPr lang="en-US" sz="2300" b="0" i="0" dirty="0">
              <a:solidFill>
                <a:srgbClr val="222222"/>
              </a:solidFill>
              <a:effectLst/>
              <a:highlight>
                <a:srgbClr val="FFFFFF"/>
              </a:highlight>
              <a:latin typeface="Arial" panose="020B0604020202020204" pitchFamily="34" charset="0"/>
            </a:endParaRPr>
          </a:p>
          <a:p>
            <a:endParaRPr lang="en-IN" sz="2300" dirty="0"/>
          </a:p>
        </p:txBody>
      </p:sp>
      <p:sp>
        <p:nvSpPr>
          <p:cNvPr id="6" name="Title 1">
            <a:extLst>
              <a:ext uri="{FF2B5EF4-FFF2-40B4-BE49-F238E27FC236}">
                <a16:creationId xmlns:a16="http://schemas.microsoft.com/office/drawing/2014/main" id="{8D2F7124-E59C-B45B-BEE3-5347417545F1}"/>
              </a:ext>
            </a:extLst>
          </p:cNvPr>
          <p:cNvSpPr>
            <a:spLocks noGrp="1"/>
          </p:cNvSpPr>
          <p:nvPr>
            <p:ph type="title"/>
          </p:nvPr>
        </p:nvSpPr>
        <p:spPr>
          <a:xfrm>
            <a:off x="1371600" y="243840"/>
            <a:ext cx="9601200" cy="1927860"/>
          </a:xfrm>
        </p:spPr>
        <p:txBody>
          <a:bodyPr>
            <a:normAutofit fontScale="90000"/>
          </a:bodyPr>
          <a:lstStyle/>
          <a:p>
            <a:r>
              <a:rPr lang="en-IN" dirty="0"/>
              <a:t>Option Subgoal Discovery</a:t>
            </a:r>
            <a:br>
              <a:rPr lang="en-IN" dirty="0"/>
            </a:br>
            <a:r>
              <a:rPr lang="en-IN" dirty="0"/>
              <a:t> - </a:t>
            </a:r>
            <a:r>
              <a:rPr lang="en-US" b="1" dirty="0">
                <a:solidFill>
                  <a:srgbClr val="FF0000"/>
                </a:solidFill>
              </a:rPr>
              <a:t>Bottleneck States</a:t>
            </a:r>
            <a:br>
              <a:rPr lang="en-US" b="1" i="0" dirty="0">
                <a:solidFill>
                  <a:srgbClr val="FF0000"/>
                </a:solidFill>
                <a:effectLst/>
                <a:highlight>
                  <a:srgbClr val="FFFFFF"/>
                </a:highlight>
                <a:latin typeface="Arial" panose="020B0604020202020204" pitchFamily="34" charset="0"/>
              </a:rPr>
            </a:br>
            <a:br>
              <a:rPr lang="en-IN" b="0" i="1" dirty="0">
                <a:solidFill>
                  <a:srgbClr val="000000"/>
                </a:solidFill>
                <a:effectLst/>
                <a:highlight>
                  <a:srgbClr val="FFFFFF"/>
                </a:highlight>
                <a:latin typeface="Arial" panose="020B0604020202020204" pitchFamily="34" charset="0"/>
              </a:rPr>
            </a:br>
            <a:endParaRPr lang="en-IN" dirty="0"/>
          </a:p>
        </p:txBody>
      </p:sp>
    </p:spTree>
    <p:extLst>
      <p:ext uri="{BB962C8B-B14F-4D97-AF65-F5344CB8AC3E}">
        <p14:creationId xmlns:p14="http://schemas.microsoft.com/office/powerpoint/2010/main" val="1315015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E1FB25-F679-EF6A-CAA2-80D891AD7778}"/>
              </a:ext>
            </a:extLst>
          </p:cNvPr>
          <p:cNvSpPr>
            <a:spLocks noGrp="1"/>
          </p:cNvSpPr>
          <p:nvPr>
            <p:ph idx="1"/>
          </p:nvPr>
        </p:nvSpPr>
        <p:spPr>
          <a:xfrm>
            <a:off x="1371600" y="1717040"/>
            <a:ext cx="10038080" cy="4150360"/>
          </a:xfrm>
        </p:spPr>
        <p:txBody>
          <a:bodyPr>
            <a:noAutofit/>
          </a:bodyPr>
          <a:lstStyle/>
          <a:p>
            <a:pPr algn="just"/>
            <a:r>
              <a:rPr lang="en-US" sz="2300" b="0" i="0" dirty="0">
                <a:solidFill>
                  <a:srgbClr val="222222"/>
                </a:solidFill>
                <a:effectLst/>
                <a:latin typeface="Arial" panose="020B0604020202020204" pitchFamily="34" charset="0"/>
              </a:rPr>
              <a:t>A method also capable of discovering bottleneck states in high-dimensional state-spaces. The introduced algorithm used a learned approximate successor map. Such a map represents a state in terms of its expected future state occupancy, called the </a:t>
            </a:r>
            <a:r>
              <a:rPr lang="en-US" sz="2300" b="0" i="0" dirty="0">
                <a:solidFill>
                  <a:srgbClr val="222222"/>
                </a:solidFill>
                <a:effectLst/>
                <a:highlight>
                  <a:srgbClr val="FFFF00"/>
                </a:highlight>
                <a:latin typeface="Arial" panose="020B0604020202020204" pitchFamily="34" charset="0"/>
              </a:rPr>
              <a:t>successor representation (SR)</a:t>
            </a:r>
            <a:r>
              <a:rPr lang="en-US" sz="2300" b="0" i="0" dirty="0">
                <a:solidFill>
                  <a:srgbClr val="222222"/>
                </a:solidFill>
                <a:effectLst/>
                <a:latin typeface="Arial" panose="020B0604020202020204" pitchFamily="34" charset="0"/>
              </a:rPr>
              <a:t>. When sufficiently developed by following a random policy, a large set of samples from the SR can be used to discover bottleneck states.</a:t>
            </a:r>
          </a:p>
          <a:p>
            <a:endParaRPr lang="en-IN" sz="2300" dirty="0"/>
          </a:p>
        </p:txBody>
      </p:sp>
      <p:sp>
        <p:nvSpPr>
          <p:cNvPr id="6" name="Title 1">
            <a:extLst>
              <a:ext uri="{FF2B5EF4-FFF2-40B4-BE49-F238E27FC236}">
                <a16:creationId xmlns:a16="http://schemas.microsoft.com/office/drawing/2014/main" id="{55F53452-2128-1AA7-58E4-716D840090A6}"/>
              </a:ext>
            </a:extLst>
          </p:cNvPr>
          <p:cNvSpPr>
            <a:spLocks noGrp="1"/>
          </p:cNvSpPr>
          <p:nvPr>
            <p:ph type="title"/>
          </p:nvPr>
        </p:nvSpPr>
        <p:spPr>
          <a:xfrm>
            <a:off x="1371600" y="243840"/>
            <a:ext cx="9601200" cy="1927860"/>
          </a:xfrm>
        </p:spPr>
        <p:txBody>
          <a:bodyPr>
            <a:normAutofit fontScale="90000"/>
          </a:bodyPr>
          <a:lstStyle/>
          <a:p>
            <a:r>
              <a:rPr lang="en-IN" dirty="0"/>
              <a:t>Option Subgoal Discovery</a:t>
            </a:r>
            <a:br>
              <a:rPr lang="en-IN" dirty="0"/>
            </a:br>
            <a:r>
              <a:rPr lang="en-IN" dirty="0"/>
              <a:t> - </a:t>
            </a:r>
            <a:r>
              <a:rPr lang="en-US" b="1" dirty="0">
                <a:solidFill>
                  <a:srgbClr val="FF0000"/>
                </a:solidFill>
              </a:rPr>
              <a:t>Bottleneck States</a:t>
            </a:r>
            <a:br>
              <a:rPr lang="en-US" b="1" i="0" dirty="0">
                <a:solidFill>
                  <a:srgbClr val="FF0000"/>
                </a:solidFill>
                <a:effectLst/>
                <a:highlight>
                  <a:srgbClr val="FFFFFF"/>
                </a:highlight>
                <a:latin typeface="Arial" panose="020B0604020202020204" pitchFamily="34" charset="0"/>
              </a:rPr>
            </a:br>
            <a:br>
              <a:rPr lang="en-IN" b="0" i="1" dirty="0">
                <a:solidFill>
                  <a:srgbClr val="000000"/>
                </a:solidFill>
                <a:effectLst/>
                <a:highlight>
                  <a:srgbClr val="FFFFFF"/>
                </a:highlight>
                <a:latin typeface="Arial" panose="020B0604020202020204" pitchFamily="34" charset="0"/>
              </a:rPr>
            </a:br>
            <a:endParaRPr lang="en-IN" dirty="0"/>
          </a:p>
        </p:txBody>
      </p:sp>
    </p:spTree>
    <p:extLst>
      <p:ext uri="{BB962C8B-B14F-4D97-AF65-F5344CB8AC3E}">
        <p14:creationId xmlns:p14="http://schemas.microsoft.com/office/powerpoint/2010/main" val="363233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449EF-B874-AD86-1DC0-394E1D2014B1}"/>
              </a:ext>
            </a:extLst>
          </p:cNvPr>
          <p:cNvSpPr>
            <a:spLocks noGrp="1"/>
          </p:cNvSpPr>
          <p:nvPr>
            <p:ph type="title"/>
          </p:nvPr>
        </p:nvSpPr>
        <p:spPr/>
        <p:txBody>
          <a:bodyPr>
            <a:normAutofit fontScale="90000"/>
          </a:bodyPr>
          <a:lstStyle/>
          <a:p>
            <a:r>
              <a:rPr lang="en-IN" dirty="0"/>
              <a:t>Option Subgoal Discovery</a:t>
            </a:r>
            <a:br>
              <a:rPr lang="en-IN" dirty="0"/>
            </a:br>
            <a:r>
              <a:rPr lang="en-IN" dirty="0"/>
              <a:t> - </a:t>
            </a:r>
            <a:r>
              <a:rPr lang="en-US" b="1" dirty="0">
                <a:solidFill>
                  <a:srgbClr val="FF0000"/>
                </a:solidFill>
              </a:rPr>
              <a:t>Access States</a:t>
            </a:r>
            <a:br>
              <a:rPr lang="en-US" b="0" i="0" dirty="0">
                <a:solidFill>
                  <a:srgbClr val="000000"/>
                </a:solidFill>
                <a:effectLst/>
                <a:highlight>
                  <a:srgbClr val="FFFFFF"/>
                </a:highlight>
                <a:latin typeface="Arial" panose="020B0604020202020204" pitchFamily="34" charset="0"/>
              </a:rPr>
            </a:br>
            <a:br>
              <a:rPr lang="en-IN"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81633043-663A-CB1E-9718-F54125C44A8F}"/>
              </a:ext>
            </a:extLst>
          </p:cNvPr>
          <p:cNvSpPr>
            <a:spLocks noGrp="1"/>
          </p:cNvSpPr>
          <p:nvPr>
            <p:ph idx="1"/>
          </p:nvPr>
        </p:nvSpPr>
        <p:spPr>
          <a:xfrm>
            <a:off x="1371600" y="2286000"/>
            <a:ext cx="9956800" cy="3581400"/>
          </a:xfrm>
        </p:spPr>
        <p:txBody>
          <a:bodyPr>
            <a:noAutofit/>
          </a:bodyPr>
          <a:lstStyle/>
          <a:p>
            <a:pPr algn="just"/>
            <a:r>
              <a:rPr lang="en-US" sz="2300" b="0" i="0" dirty="0">
                <a:solidFill>
                  <a:srgbClr val="222222"/>
                </a:solidFill>
                <a:effectLst/>
                <a:latin typeface="Arial" panose="020B0604020202020204" pitchFamily="34" charset="0"/>
              </a:rPr>
              <a:t>Access states allow the agent to transition to regions of the state-space which are otherwise difficult to reach. Example access states include: a doorway between two rooms or an elevator. Access states are natural in navigation tasks, but can also be found in other state-spaces: for example picking up a screwdriver will unlock all kinds of attaching possibilities. </a:t>
            </a:r>
            <a:r>
              <a:rPr lang="en-US" sz="2300" b="0" i="0" dirty="0">
                <a:solidFill>
                  <a:srgbClr val="222222"/>
                </a:solidFill>
                <a:effectLst/>
                <a:highlight>
                  <a:srgbClr val="FFFF00"/>
                </a:highlight>
                <a:latin typeface="Arial" panose="020B0604020202020204" pitchFamily="34" charset="0"/>
              </a:rPr>
              <a:t>Access states are similar to bottleneck states but do not require successful trajectories, which are often difficult to collect. Instead of relying on the reward signal (bottleneck states), access states rely on a measurement of novelty</a:t>
            </a:r>
            <a:r>
              <a:rPr lang="en-US" sz="2300" b="0" i="0" dirty="0">
                <a:solidFill>
                  <a:srgbClr val="222222"/>
                </a:solidFill>
                <a:effectLst/>
                <a:latin typeface="Arial" panose="020B0604020202020204" pitchFamily="34" charset="0"/>
              </a:rPr>
              <a:t>.</a:t>
            </a:r>
          </a:p>
          <a:p>
            <a:endParaRPr lang="en-IN" sz="2300" dirty="0"/>
          </a:p>
        </p:txBody>
      </p:sp>
    </p:spTree>
    <p:extLst>
      <p:ext uri="{BB962C8B-B14F-4D97-AF65-F5344CB8AC3E}">
        <p14:creationId xmlns:p14="http://schemas.microsoft.com/office/powerpoint/2010/main" val="1771308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331EA-2BD3-2DBF-2E0B-AE5A1082A14D}"/>
              </a:ext>
            </a:extLst>
          </p:cNvPr>
          <p:cNvSpPr>
            <a:spLocks noGrp="1"/>
          </p:cNvSpPr>
          <p:nvPr>
            <p:ph type="title"/>
          </p:nvPr>
        </p:nvSpPr>
        <p:spPr/>
        <p:txBody>
          <a:bodyPr>
            <a:normAutofit fontScale="90000"/>
          </a:bodyPr>
          <a:lstStyle/>
          <a:p>
            <a:r>
              <a:rPr lang="en-IN" dirty="0"/>
              <a:t>Option Subgoal Discovery</a:t>
            </a:r>
            <a:br>
              <a:rPr lang="en-IN" dirty="0"/>
            </a:br>
            <a:r>
              <a:rPr lang="en-IN" dirty="0"/>
              <a:t> - </a:t>
            </a:r>
            <a:r>
              <a:rPr lang="en-US" b="1" dirty="0">
                <a:solidFill>
                  <a:srgbClr val="FF0000"/>
                </a:solidFill>
              </a:rPr>
              <a:t>Graph Partitioning</a:t>
            </a:r>
            <a:br>
              <a:rPr lang="en-US" b="0" i="0" dirty="0">
                <a:solidFill>
                  <a:srgbClr val="000000"/>
                </a:solidFill>
                <a:effectLst/>
                <a:highlight>
                  <a:srgbClr val="FFFFFF"/>
                </a:highlight>
                <a:latin typeface="Arial" panose="020B0604020202020204" pitchFamily="34" charset="0"/>
              </a:rPr>
            </a:br>
            <a:br>
              <a:rPr lang="en-IN"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84E6FAFA-43CE-DEA7-D3AD-707CA08B1657}"/>
              </a:ext>
            </a:extLst>
          </p:cNvPr>
          <p:cNvSpPr>
            <a:spLocks noGrp="1"/>
          </p:cNvSpPr>
          <p:nvPr>
            <p:ph idx="1"/>
          </p:nvPr>
        </p:nvSpPr>
        <p:spPr>
          <a:xfrm>
            <a:off x="1371600" y="2042160"/>
            <a:ext cx="10434320" cy="3825240"/>
          </a:xfrm>
        </p:spPr>
        <p:txBody>
          <a:bodyPr>
            <a:noAutofit/>
          </a:bodyPr>
          <a:lstStyle/>
          <a:p>
            <a:pPr algn="just"/>
            <a:r>
              <a:rPr lang="en-US" sz="2500" b="0" i="0" dirty="0">
                <a:solidFill>
                  <a:srgbClr val="222222"/>
                </a:solidFill>
                <a:effectLst/>
                <a:latin typeface="Arial" panose="020B0604020202020204" pitchFamily="34" charset="0"/>
              </a:rPr>
              <a:t>The MDP model, represents the RL problem as a graph. Techniques used to partition graphs in general have also been utilized to discover options.</a:t>
            </a:r>
          </a:p>
          <a:p>
            <a:pPr algn="just"/>
            <a:r>
              <a:rPr lang="en-US" sz="2500" b="0" i="0" dirty="0">
                <a:solidFill>
                  <a:srgbClr val="222222"/>
                </a:solidFill>
                <a:effectLst/>
                <a:highlight>
                  <a:srgbClr val="FFFF00"/>
                </a:highlight>
                <a:latin typeface="Arial" panose="020B0604020202020204" pitchFamily="34" charset="0"/>
              </a:rPr>
              <a:t>The Q-Cut algorithm, models trajectories utilized by an agent in a graph-structure. </a:t>
            </a:r>
            <a:r>
              <a:rPr lang="en-US" sz="2500" b="0" i="0" dirty="0">
                <a:solidFill>
                  <a:srgbClr val="222222"/>
                </a:solidFill>
                <a:effectLst/>
                <a:latin typeface="Arial" panose="020B0604020202020204" pitchFamily="34" charset="0"/>
              </a:rPr>
              <a:t>The nodes in this graph represent the different states, edges are concerned with modeling state transitions. </a:t>
            </a:r>
            <a:r>
              <a:rPr lang="en-US" sz="2500" b="0" i="0" dirty="0">
                <a:solidFill>
                  <a:srgbClr val="222222"/>
                </a:solidFill>
                <a:effectLst/>
                <a:highlight>
                  <a:srgbClr val="FFFF00"/>
                </a:highlight>
                <a:latin typeface="Arial" panose="020B0604020202020204" pitchFamily="34" charset="0"/>
              </a:rPr>
              <a:t>A min-cut approach, will try to discover a set of edges that if we would remove them, the graph would be split into two unconnected graphs. </a:t>
            </a:r>
            <a:r>
              <a:rPr lang="en-US" sz="2500" b="0" i="0" dirty="0">
                <a:solidFill>
                  <a:srgbClr val="222222"/>
                </a:solidFill>
                <a:effectLst/>
                <a:latin typeface="Arial" panose="020B0604020202020204" pitchFamily="34" charset="0"/>
              </a:rPr>
              <a:t>This procedure can be applied iteratively, resulting in multiple detached graphs. Detecting such edges in the learned state-transition graph-structure can lead to the discovery of bottleneck states.</a:t>
            </a:r>
          </a:p>
          <a:p>
            <a:endParaRPr lang="en-IN" sz="2500" dirty="0"/>
          </a:p>
        </p:txBody>
      </p:sp>
    </p:spTree>
    <p:extLst>
      <p:ext uri="{BB962C8B-B14F-4D97-AF65-F5344CB8AC3E}">
        <p14:creationId xmlns:p14="http://schemas.microsoft.com/office/powerpoint/2010/main" val="3419986860"/>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331EA-2BD3-2DBF-2E0B-AE5A1082A14D}"/>
              </a:ext>
            </a:extLst>
          </p:cNvPr>
          <p:cNvSpPr>
            <a:spLocks noGrp="1"/>
          </p:cNvSpPr>
          <p:nvPr>
            <p:ph type="title"/>
          </p:nvPr>
        </p:nvSpPr>
        <p:spPr/>
        <p:txBody>
          <a:bodyPr>
            <a:normAutofit fontScale="90000"/>
          </a:bodyPr>
          <a:lstStyle/>
          <a:p>
            <a:r>
              <a:rPr lang="en-IN" dirty="0"/>
              <a:t>Option Subgoal Discovery</a:t>
            </a:r>
            <a:br>
              <a:rPr lang="en-IN" dirty="0"/>
            </a:br>
            <a:r>
              <a:rPr lang="en-IN" dirty="0"/>
              <a:t> - </a:t>
            </a:r>
            <a:r>
              <a:rPr lang="en-US" b="1" dirty="0">
                <a:solidFill>
                  <a:srgbClr val="FF0000"/>
                </a:solidFill>
              </a:rPr>
              <a:t>Graph Partitioning</a:t>
            </a:r>
            <a:br>
              <a:rPr lang="en-US" b="0" i="0" dirty="0">
                <a:solidFill>
                  <a:srgbClr val="000000"/>
                </a:solidFill>
                <a:effectLst/>
                <a:highlight>
                  <a:srgbClr val="FFFFFF"/>
                </a:highlight>
                <a:latin typeface="Arial" panose="020B0604020202020204" pitchFamily="34" charset="0"/>
              </a:rPr>
            </a:br>
            <a:br>
              <a:rPr lang="en-IN"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84E6FAFA-43CE-DEA7-D3AD-707CA08B1657}"/>
              </a:ext>
            </a:extLst>
          </p:cNvPr>
          <p:cNvSpPr>
            <a:spLocks noGrp="1"/>
          </p:cNvSpPr>
          <p:nvPr>
            <p:ph idx="1"/>
          </p:nvPr>
        </p:nvSpPr>
        <p:spPr>
          <a:xfrm>
            <a:off x="1371600" y="2042160"/>
            <a:ext cx="10434320" cy="3825240"/>
          </a:xfrm>
        </p:spPr>
        <p:txBody>
          <a:bodyPr>
            <a:noAutofit/>
          </a:bodyPr>
          <a:lstStyle/>
          <a:p>
            <a:pPr algn="just"/>
            <a:r>
              <a:rPr lang="en-US" sz="2500" b="0" i="0" dirty="0">
                <a:solidFill>
                  <a:srgbClr val="222222"/>
                </a:solidFill>
                <a:effectLst/>
                <a:highlight>
                  <a:srgbClr val="FFFF00"/>
                </a:highlight>
                <a:latin typeface="Arial" panose="020B0604020202020204" pitchFamily="34" charset="0"/>
              </a:rPr>
              <a:t>a similar approach called L-Cut. This method partitions local state transition graphs, in order to discover access states that can be utilized as useful subgoal-states. </a:t>
            </a:r>
            <a:r>
              <a:rPr lang="en-US" sz="2500" b="0" i="0" dirty="0">
                <a:solidFill>
                  <a:srgbClr val="222222"/>
                </a:solidFill>
                <a:effectLst/>
                <a:latin typeface="Arial" panose="020B0604020202020204" pitchFamily="34" charset="0"/>
              </a:rPr>
              <a:t>The difference with Q-Cut is that L-Cut does not rely on the entire transition-graph, but utilizes a local view of the graph, making it less computationally demanding, and better scalable to larger state-spaces.</a:t>
            </a:r>
          </a:p>
        </p:txBody>
      </p:sp>
    </p:spTree>
    <p:extLst>
      <p:ext uri="{BB962C8B-B14F-4D97-AF65-F5344CB8AC3E}">
        <p14:creationId xmlns:p14="http://schemas.microsoft.com/office/powerpoint/2010/main" val="287185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9C6A6-9E85-A2C1-7F13-A5FF257641A6}"/>
              </a:ext>
            </a:extLst>
          </p:cNvPr>
          <p:cNvSpPr>
            <a:spLocks noGrp="1"/>
          </p:cNvSpPr>
          <p:nvPr>
            <p:ph type="title"/>
          </p:nvPr>
        </p:nvSpPr>
        <p:spPr/>
        <p:txBody>
          <a:bodyPr>
            <a:normAutofit fontScale="90000"/>
          </a:bodyPr>
          <a:lstStyle/>
          <a:p>
            <a:r>
              <a:rPr lang="en-IN" dirty="0"/>
              <a:t>Option Subgoal Discovery</a:t>
            </a:r>
            <a:br>
              <a:rPr lang="en-IN" dirty="0"/>
            </a:br>
            <a:r>
              <a:rPr lang="en-IN" dirty="0"/>
              <a:t> - </a:t>
            </a:r>
            <a:r>
              <a:rPr lang="en-US" b="1" dirty="0">
                <a:solidFill>
                  <a:srgbClr val="FF0000"/>
                </a:solidFill>
              </a:rPr>
              <a:t>State Clustering</a:t>
            </a:r>
            <a:br>
              <a:rPr lang="en-US" b="1" i="0" dirty="0">
                <a:solidFill>
                  <a:srgbClr val="FF0000"/>
                </a:solidFill>
                <a:effectLst/>
                <a:highlight>
                  <a:srgbClr val="FFFFFF"/>
                </a:highlight>
                <a:latin typeface="Arial" panose="020B0604020202020204" pitchFamily="34" charset="0"/>
              </a:rPr>
            </a:br>
            <a:br>
              <a:rPr lang="en-IN"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C1FA20C5-AE55-0223-5C80-64A4021A50CB}"/>
              </a:ext>
            </a:extLst>
          </p:cNvPr>
          <p:cNvSpPr>
            <a:spLocks noGrp="1"/>
          </p:cNvSpPr>
          <p:nvPr>
            <p:ph idx="1"/>
          </p:nvPr>
        </p:nvSpPr>
        <p:spPr/>
        <p:txBody>
          <a:bodyPr>
            <a:normAutofit/>
          </a:bodyPr>
          <a:lstStyle/>
          <a:p>
            <a:pPr algn="just"/>
            <a:r>
              <a:rPr lang="en-US" sz="2300" b="0" i="0" dirty="0">
                <a:solidFill>
                  <a:srgbClr val="222222"/>
                </a:solidFill>
                <a:effectLst/>
                <a:highlight>
                  <a:srgbClr val="FFFF00"/>
                </a:highlight>
                <a:latin typeface="Arial" panose="020B0604020202020204" pitchFamily="34" charset="0"/>
              </a:rPr>
              <a:t>Similar states can also be grouped using clustering techniques. </a:t>
            </a:r>
            <a:r>
              <a:rPr lang="en-US" sz="2300" b="0" i="0" dirty="0">
                <a:solidFill>
                  <a:srgbClr val="222222"/>
                </a:solidFill>
                <a:effectLst/>
                <a:latin typeface="Arial" panose="020B0604020202020204" pitchFamily="34" charset="0"/>
              </a:rPr>
              <a:t>States that facilitate navigating between different clusters are natural bottlenecks.</a:t>
            </a:r>
          </a:p>
          <a:p>
            <a:pPr algn="just"/>
            <a:r>
              <a:rPr lang="en-US" sz="2300" b="0" i="0" dirty="0">
                <a:solidFill>
                  <a:srgbClr val="222222"/>
                </a:solidFill>
                <a:effectLst/>
                <a:highlight>
                  <a:srgbClr val="FFFF00"/>
                </a:highlight>
                <a:latin typeface="Arial" panose="020B0604020202020204" pitchFamily="34" charset="0"/>
              </a:rPr>
              <a:t>spectral clustering algorithm PCCA</a:t>
            </a:r>
            <a:r>
              <a:rPr lang="en-US" sz="2300" dirty="0">
                <a:solidFill>
                  <a:srgbClr val="222222"/>
                </a:solidFill>
                <a:highlight>
                  <a:srgbClr val="FFFF00"/>
                </a:highlight>
                <a:latin typeface="Arial" panose="020B0604020202020204" pitchFamily="34" charset="0"/>
              </a:rPr>
              <a:t>+ (</a:t>
            </a:r>
            <a:r>
              <a:rPr lang="en-IN" sz="2300" dirty="0">
                <a:solidFill>
                  <a:srgbClr val="222222"/>
                </a:solidFill>
                <a:highlight>
                  <a:srgbClr val="FFFF00"/>
                </a:highlight>
                <a:latin typeface="Arial" panose="020B0604020202020204" pitchFamily="34" charset="0"/>
                <a:hlinkClick r:id="rId2">
                  <a:extLst>
                    <a:ext uri="{A12FA001-AC4F-418D-AE19-62706E023703}">
                      <ahyp:hlinkClr xmlns:ahyp="http://schemas.microsoft.com/office/drawing/2018/hyperlinkcolor" val="tx"/>
                    </a:ext>
                  </a:extLst>
                </a:hlinkClick>
              </a:rPr>
              <a:t>Perron-cluster cluster analysis)</a:t>
            </a:r>
            <a:r>
              <a:rPr lang="en-US" sz="2300" dirty="0">
                <a:solidFill>
                  <a:srgbClr val="222222"/>
                </a:solidFill>
                <a:latin typeface="Arial" panose="020B0604020202020204" pitchFamily="34" charset="0"/>
              </a:rPr>
              <a:t>, that is capable of simultaneously partitioning the state-space, and return connectivity info between different partitions from sample trajectories.</a:t>
            </a:r>
          </a:p>
          <a:p>
            <a:endParaRPr lang="en-IN" sz="2300" dirty="0"/>
          </a:p>
        </p:txBody>
      </p:sp>
    </p:spTree>
    <p:extLst>
      <p:ext uri="{BB962C8B-B14F-4D97-AF65-F5344CB8AC3E}">
        <p14:creationId xmlns:p14="http://schemas.microsoft.com/office/powerpoint/2010/main" val="2488320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F1F63-B8F4-7E6C-E3A3-1CF41FEBB7E8}"/>
              </a:ext>
            </a:extLst>
          </p:cNvPr>
          <p:cNvSpPr>
            <a:spLocks noGrp="1"/>
          </p:cNvSpPr>
          <p:nvPr>
            <p:ph type="title"/>
          </p:nvPr>
        </p:nvSpPr>
        <p:spPr>
          <a:xfrm>
            <a:off x="1371600" y="142240"/>
            <a:ext cx="9601200" cy="2029460"/>
          </a:xfrm>
        </p:spPr>
        <p:txBody>
          <a:bodyPr>
            <a:normAutofit fontScale="90000"/>
          </a:bodyPr>
          <a:lstStyle/>
          <a:p>
            <a:r>
              <a:rPr lang="en-IN" dirty="0"/>
              <a:t>Option Subgoal Discovery</a:t>
            </a:r>
            <a:br>
              <a:rPr lang="en-IN" dirty="0"/>
            </a:br>
            <a:r>
              <a:rPr lang="en-IN" dirty="0"/>
              <a:t>- </a:t>
            </a:r>
            <a:r>
              <a:rPr lang="en-US" b="1" dirty="0">
                <a:solidFill>
                  <a:srgbClr val="FF0000"/>
                </a:solidFill>
              </a:rPr>
              <a:t>Skill Chaining</a:t>
            </a:r>
            <a:br>
              <a:rPr lang="en-US" b="0" i="0" dirty="0">
                <a:solidFill>
                  <a:srgbClr val="000000"/>
                </a:solidFill>
                <a:effectLst/>
                <a:highlight>
                  <a:srgbClr val="FFFFFF"/>
                </a:highlight>
                <a:latin typeface="Arial" panose="020B0604020202020204" pitchFamily="34" charset="0"/>
              </a:rPr>
            </a:br>
            <a:br>
              <a:rPr lang="en-IN"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DE55AEAD-AB26-00FB-B8DA-22C7B7FB9587}"/>
              </a:ext>
            </a:extLst>
          </p:cNvPr>
          <p:cNvSpPr>
            <a:spLocks noGrp="1"/>
          </p:cNvSpPr>
          <p:nvPr>
            <p:ph idx="1"/>
          </p:nvPr>
        </p:nvSpPr>
        <p:spPr>
          <a:xfrm>
            <a:off x="1371600" y="1645920"/>
            <a:ext cx="10505440" cy="4221480"/>
          </a:xfrm>
        </p:spPr>
        <p:txBody>
          <a:bodyPr>
            <a:noAutofit/>
          </a:bodyPr>
          <a:lstStyle/>
          <a:p>
            <a:pPr algn="just"/>
            <a:r>
              <a:rPr lang="en-US" sz="2300" b="0" i="0" dirty="0">
                <a:solidFill>
                  <a:srgbClr val="222222"/>
                </a:solidFill>
                <a:effectLst/>
                <a:latin typeface="Arial" panose="020B0604020202020204" pitchFamily="34" charset="0"/>
              </a:rPr>
              <a:t>Previously described methods for automatically discovering subgoals are often limited to work only in a discrete state-space. </a:t>
            </a:r>
            <a:r>
              <a:rPr lang="en-US" sz="2300" b="0" i="0" dirty="0">
                <a:solidFill>
                  <a:srgbClr val="222222"/>
                </a:solidFill>
                <a:effectLst/>
                <a:highlight>
                  <a:srgbClr val="FFFF00"/>
                </a:highlight>
                <a:latin typeface="Arial" panose="020B0604020202020204" pitchFamily="34" charset="0"/>
              </a:rPr>
              <a:t>In a continuous-space, single states are often never visited multiple times. </a:t>
            </a:r>
          </a:p>
          <a:p>
            <a:pPr algn="just"/>
            <a:r>
              <a:rPr lang="en-US" sz="2300" b="0" i="0" dirty="0">
                <a:solidFill>
                  <a:srgbClr val="222222"/>
                </a:solidFill>
                <a:effectLst/>
                <a:latin typeface="Arial" panose="020B0604020202020204" pitchFamily="34" charset="0"/>
              </a:rPr>
              <a:t>an algorithm proposed capable of discovering option-based sub-behaviors in a continuous state-space. Instead of utilizing termination-states in the options framework, </a:t>
            </a:r>
            <a:r>
              <a:rPr lang="en-US" sz="2300" b="0" i="0" dirty="0">
                <a:solidFill>
                  <a:srgbClr val="222222"/>
                </a:solidFill>
                <a:effectLst/>
                <a:highlight>
                  <a:srgbClr val="FFFF00"/>
                </a:highlight>
                <a:latin typeface="Arial" panose="020B0604020202020204" pitchFamily="34" charset="0"/>
              </a:rPr>
              <a:t>skill chaining defines termination regions for the different options. Similarly, the initiation condition is also defined as a region.</a:t>
            </a:r>
          </a:p>
          <a:p>
            <a:r>
              <a:rPr lang="en-US" sz="2300" b="0" i="0" dirty="0">
                <a:solidFill>
                  <a:srgbClr val="222222"/>
                </a:solidFill>
                <a:effectLst/>
                <a:highlight>
                  <a:srgbClr val="FFFF00"/>
                </a:highlight>
                <a:latin typeface="Arial" panose="020B0604020202020204" pitchFamily="34" charset="0"/>
              </a:rPr>
              <a:t>The first option will have the environment-goal as its termination region. Once the initiation set of this option has been learned, a second option can be learned. The termination-region of this option will be the initiation-region of the previously learned option. This procedure is repeated until a chain of options is discovered up to the agent’s starting position. </a:t>
            </a:r>
            <a:r>
              <a:rPr lang="en-US" sz="2300" b="0" i="0" dirty="0">
                <a:solidFill>
                  <a:srgbClr val="222222"/>
                </a:solidFill>
                <a:effectLst/>
                <a:latin typeface="Arial" panose="020B0604020202020204" pitchFamily="34" charset="0"/>
              </a:rPr>
              <a:t>A more complex skill tree could be learned similarly, allowing the discovery of multiple solution-paths.</a:t>
            </a:r>
          </a:p>
          <a:p>
            <a:endParaRPr lang="en-IN" sz="2300" dirty="0"/>
          </a:p>
        </p:txBody>
      </p:sp>
    </p:spTree>
    <p:extLst>
      <p:ext uri="{BB962C8B-B14F-4D97-AF65-F5344CB8AC3E}">
        <p14:creationId xmlns:p14="http://schemas.microsoft.com/office/powerpoint/2010/main" val="442567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D643D-561D-B671-26AD-C9A9B6827478}"/>
              </a:ext>
            </a:extLst>
          </p:cNvPr>
          <p:cNvSpPr>
            <a:spLocks noGrp="1"/>
          </p:cNvSpPr>
          <p:nvPr>
            <p:ph type="title"/>
          </p:nvPr>
        </p:nvSpPr>
        <p:spPr>
          <a:xfrm>
            <a:off x="1371600" y="162560"/>
            <a:ext cx="10495280" cy="2009140"/>
          </a:xfrm>
        </p:spPr>
        <p:txBody>
          <a:bodyPr>
            <a:normAutofit/>
          </a:bodyPr>
          <a:lstStyle/>
          <a:p>
            <a:r>
              <a:rPr lang="en-US" dirty="0"/>
              <a:t>Using Options in High-Dimensional State-Spaces</a:t>
            </a:r>
            <a:br>
              <a:rPr lang="en-US"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3B5C1C42-6E4B-FA42-A48B-178190BA0CE4}"/>
              </a:ext>
            </a:extLst>
          </p:cNvPr>
          <p:cNvSpPr>
            <a:spLocks noGrp="1"/>
          </p:cNvSpPr>
          <p:nvPr>
            <p:ph idx="1"/>
          </p:nvPr>
        </p:nvSpPr>
        <p:spPr>
          <a:xfrm>
            <a:off x="1371600" y="1859280"/>
            <a:ext cx="10403840" cy="4008120"/>
          </a:xfrm>
        </p:spPr>
        <p:txBody>
          <a:bodyPr>
            <a:noAutofit/>
          </a:bodyPr>
          <a:lstStyle/>
          <a:p>
            <a:pPr algn="just"/>
            <a:r>
              <a:rPr lang="en-US" sz="2300" b="0" i="0" dirty="0">
                <a:solidFill>
                  <a:srgbClr val="222222"/>
                </a:solidFill>
                <a:effectLst/>
                <a:highlight>
                  <a:srgbClr val="FFFF00"/>
                </a:highlight>
                <a:latin typeface="Arial" panose="020B0604020202020204" pitchFamily="34" charset="0"/>
              </a:rPr>
              <a:t>Research on automatic option discovery has mostly been focused on low-dimensional state-spaces. </a:t>
            </a:r>
            <a:r>
              <a:rPr lang="en-US" sz="2300" b="0" i="0" dirty="0">
                <a:solidFill>
                  <a:srgbClr val="222222"/>
                </a:solidFill>
                <a:effectLst/>
                <a:latin typeface="Arial" panose="020B0604020202020204" pitchFamily="34" charset="0"/>
              </a:rPr>
              <a:t>However, the options framework has also been demonstrated to be capable of learning options when using </a:t>
            </a:r>
            <a:r>
              <a:rPr lang="en-US" sz="2300" b="0" i="0" dirty="0">
                <a:solidFill>
                  <a:srgbClr val="222222"/>
                </a:solidFill>
                <a:effectLst/>
                <a:highlight>
                  <a:srgbClr val="FFFF00"/>
                </a:highlight>
                <a:latin typeface="Arial" panose="020B0604020202020204" pitchFamily="34" charset="0"/>
              </a:rPr>
              <a:t>function approximation in high-dimensional state-spaces</a:t>
            </a:r>
            <a:r>
              <a:rPr lang="en-US" sz="2300" b="0" i="0" dirty="0">
                <a:solidFill>
                  <a:srgbClr val="222222"/>
                </a:solidFill>
                <a:effectLst/>
                <a:latin typeface="Arial" panose="020B0604020202020204" pitchFamily="34" charset="0"/>
              </a:rPr>
              <a:t>.</a:t>
            </a:r>
          </a:p>
          <a:p>
            <a:pPr algn="just"/>
            <a:endParaRPr lang="en-US" sz="2300" b="0" i="0" dirty="0">
              <a:solidFill>
                <a:srgbClr val="222222"/>
              </a:solidFill>
              <a:effectLst/>
              <a:latin typeface="Arial" panose="020B0604020202020204" pitchFamily="34" charset="0"/>
            </a:endParaRPr>
          </a:p>
          <a:p>
            <a:pPr algn="just"/>
            <a:r>
              <a:rPr lang="en-US" sz="2300" b="0" i="0" dirty="0">
                <a:solidFill>
                  <a:srgbClr val="222222"/>
                </a:solidFill>
                <a:effectLst/>
                <a:latin typeface="Arial" panose="020B0604020202020204" pitchFamily="34" charset="0"/>
              </a:rPr>
              <a:t>option-based hierarchical agents, given a set of expert-provided termination conditions, in the form of the pixels of subgoal states. The resulting </a:t>
            </a:r>
            <a:r>
              <a:rPr lang="en-US" sz="2300" b="0" i="0" dirty="0">
                <a:solidFill>
                  <a:srgbClr val="222222"/>
                </a:solidFill>
                <a:effectLst/>
                <a:highlight>
                  <a:srgbClr val="FFFF00"/>
                </a:highlight>
                <a:latin typeface="Arial" panose="020B0604020202020204" pitchFamily="34" charset="0"/>
              </a:rPr>
              <a:t>Hierarchical-DQN (h-DQN) algorithm uses a two-layered approach, in which the low-level controller uses DQN in order to learn a different intra-option policy for each of the provided termination states</a:t>
            </a:r>
            <a:r>
              <a:rPr lang="en-US" sz="2300" b="0" i="0" dirty="0">
                <a:solidFill>
                  <a:srgbClr val="222222"/>
                </a:solidFill>
                <a:effectLst/>
                <a:latin typeface="Arial" panose="020B0604020202020204" pitchFamily="34" charset="0"/>
              </a:rPr>
              <a:t>. </a:t>
            </a:r>
          </a:p>
          <a:p>
            <a:endParaRPr lang="en-IN" sz="2300" dirty="0"/>
          </a:p>
        </p:txBody>
      </p:sp>
    </p:spTree>
    <p:extLst>
      <p:ext uri="{BB962C8B-B14F-4D97-AF65-F5344CB8AC3E}">
        <p14:creationId xmlns:p14="http://schemas.microsoft.com/office/powerpoint/2010/main" val="3838120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D643D-561D-B671-26AD-C9A9B6827478}"/>
              </a:ext>
            </a:extLst>
          </p:cNvPr>
          <p:cNvSpPr>
            <a:spLocks noGrp="1"/>
          </p:cNvSpPr>
          <p:nvPr>
            <p:ph type="title"/>
          </p:nvPr>
        </p:nvSpPr>
        <p:spPr>
          <a:xfrm>
            <a:off x="1371600" y="162560"/>
            <a:ext cx="10495280" cy="2009140"/>
          </a:xfrm>
        </p:spPr>
        <p:txBody>
          <a:bodyPr>
            <a:normAutofit/>
          </a:bodyPr>
          <a:lstStyle/>
          <a:p>
            <a:r>
              <a:rPr lang="en-US" dirty="0"/>
              <a:t>Using Options in High-Dimensional State-Spaces</a:t>
            </a:r>
            <a:br>
              <a:rPr lang="en-US"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3B5C1C42-6E4B-FA42-A48B-178190BA0CE4}"/>
              </a:ext>
            </a:extLst>
          </p:cNvPr>
          <p:cNvSpPr>
            <a:spLocks noGrp="1"/>
          </p:cNvSpPr>
          <p:nvPr>
            <p:ph idx="1"/>
          </p:nvPr>
        </p:nvSpPr>
        <p:spPr>
          <a:xfrm>
            <a:off x="1371600" y="1767840"/>
            <a:ext cx="10403840" cy="4099560"/>
          </a:xfrm>
        </p:spPr>
        <p:txBody>
          <a:bodyPr>
            <a:noAutofit/>
          </a:bodyPr>
          <a:lstStyle/>
          <a:p>
            <a:pPr algn="just"/>
            <a:r>
              <a:rPr lang="en-US" sz="2300" b="0" i="0" dirty="0">
                <a:solidFill>
                  <a:srgbClr val="222222"/>
                </a:solidFill>
                <a:effectLst/>
                <a:highlight>
                  <a:srgbClr val="FFFF00"/>
                </a:highlight>
                <a:latin typeface="Arial" panose="020B0604020202020204" pitchFamily="34" charset="0"/>
              </a:rPr>
              <a:t>Hierarchical Deep Reinforcement Learning Network (H-DRLN)</a:t>
            </a:r>
            <a:r>
              <a:rPr lang="en-US" sz="2300" b="0" i="0" dirty="0">
                <a:solidFill>
                  <a:srgbClr val="222222"/>
                </a:solidFill>
                <a:effectLst/>
                <a:latin typeface="Arial" panose="020B0604020202020204" pitchFamily="34" charset="0"/>
              </a:rPr>
              <a:t>, which utilizes a form of curriculum learning. The agent first learns to solve simpler sub-tasks, and successfully re-uses this knowledge as sub-behaviors in more complex tasks.</a:t>
            </a:r>
          </a:p>
          <a:p>
            <a:pPr algn="just"/>
            <a:r>
              <a:rPr lang="en-US" sz="2300" b="0" i="0" dirty="0">
                <a:solidFill>
                  <a:srgbClr val="222222"/>
                </a:solidFill>
                <a:effectLst/>
                <a:latin typeface="Arial" panose="020B0604020202020204" pitchFamily="34" charset="0"/>
              </a:rPr>
              <a:t>Different </a:t>
            </a:r>
            <a:r>
              <a:rPr lang="en-US" sz="2300" b="0" i="0" dirty="0">
                <a:solidFill>
                  <a:srgbClr val="222222"/>
                </a:solidFill>
                <a:effectLst/>
                <a:highlight>
                  <a:srgbClr val="FFFF00"/>
                </a:highlight>
                <a:latin typeface="Arial" panose="020B0604020202020204" pitchFamily="34" charset="0"/>
              </a:rPr>
              <a:t>Deep Skill Networks (DSN) </a:t>
            </a:r>
            <a:r>
              <a:rPr lang="en-US" sz="2300" b="0" i="0" dirty="0">
                <a:solidFill>
                  <a:srgbClr val="222222"/>
                </a:solidFill>
                <a:effectLst/>
                <a:latin typeface="Arial" panose="020B0604020202020204" pitchFamily="34" charset="0"/>
              </a:rPr>
              <a:t>were trained to solve different sub-problems, such as navigation tasks, or objects pick-up tasks. In a second phase the H-DRLN agent can solve combinations of slight variations of the sub-problems, in a more sample efficient way than DQN. </a:t>
            </a:r>
          </a:p>
          <a:p>
            <a:pPr algn="just"/>
            <a:r>
              <a:rPr lang="en-US" sz="2300" b="0" i="0" dirty="0">
                <a:solidFill>
                  <a:srgbClr val="222222"/>
                </a:solidFill>
                <a:effectLst/>
                <a:latin typeface="Arial" panose="020B0604020202020204" pitchFamily="34" charset="0"/>
              </a:rPr>
              <a:t>Additionally, a form of policy distillation is proposed in order to merge multiple skills into a single network. This Distilled Multi-Skill Network requires less computing resources than the individual skill networks.</a:t>
            </a:r>
          </a:p>
          <a:p>
            <a:endParaRPr lang="en-IN" sz="2300" dirty="0"/>
          </a:p>
        </p:txBody>
      </p:sp>
    </p:spTree>
    <p:extLst>
      <p:ext uri="{BB962C8B-B14F-4D97-AF65-F5344CB8AC3E}">
        <p14:creationId xmlns:p14="http://schemas.microsoft.com/office/powerpoint/2010/main" val="2402156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016DB-1BBB-C28A-85EE-B3ECDE32C755}"/>
              </a:ext>
            </a:extLst>
          </p:cNvPr>
          <p:cNvSpPr>
            <a:spLocks noGrp="1"/>
          </p:cNvSpPr>
          <p:nvPr>
            <p:ph type="title"/>
          </p:nvPr>
        </p:nvSpPr>
        <p:spPr/>
        <p:txBody>
          <a:bodyPr/>
          <a:lstStyle/>
          <a:p>
            <a:r>
              <a:rPr lang="en-US" dirty="0"/>
              <a:t>Options as a Tool for Meta-Learning</a:t>
            </a:r>
            <a:br>
              <a:rPr lang="en-US"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551459DC-72A3-9012-BBEF-EE65FB12867E}"/>
              </a:ext>
            </a:extLst>
          </p:cNvPr>
          <p:cNvSpPr>
            <a:spLocks noGrp="1"/>
          </p:cNvSpPr>
          <p:nvPr>
            <p:ph idx="1"/>
          </p:nvPr>
        </p:nvSpPr>
        <p:spPr>
          <a:xfrm>
            <a:off x="1371600" y="1788160"/>
            <a:ext cx="10403840" cy="5069840"/>
          </a:xfrm>
        </p:spPr>
        <p:txBody>
          <a:bodyPr>
            <a:noAutofit/>
          </a:bodyPr>
          <a:lstStyle/>
          <a:p>
            <a:pPr algn="just">
              <a:lnSpc>
                <a:spcPct val="114000"/>
              </a:lnSpc>
            </a:pPr>
            <a:r>
              <a:rPr lang="en-US" sz="2300" dirty="0">
                <a:solidFill>
                  <a:srgbClr val="222222"/>
                </a:solidFill>
                <a:latin typeface="Arial" panose="020B0604020202020204" pitchFamily="34" charset="0"/>
              </a:rPr>
              <a:t>In a meta-learning approach, we search for adaptability. </a:t>
            </a:r>
            <a:r>
              <a:rPr lang="en-US" sz="2300" dirty="0">
                <a:solidFill>
                  <a:srgbClr val="222222"/>
                </a:solidFill>
                <a:highlight>
                  <a:srgbClr val="FFFF00"/>
                </a:highlight>
                <a:latin typeface="Arial" panose="020B0604020202020204" pitchFamily="34" charset="0"/>
              </a:rPr>
              <a:t>An agent is not trained to solve a single problem, but rather optimized to quickly solve unseen, similar problems. </a:t>
            </a:r>
            <a:r>
              <a:rPr lang="en-US" sz="2300" dirty="0">
                <a:solidFill>
                  <a:srgbClr val="222222"/>
                </a:solidFill>
                <a:latin typeface="Arial" panose="020B0604020202020204" pitchFamily="34" charset="0"/>
              </a:rPr>
              <a:t>This method is often presented as learning to learn. Options learned, using meta-learning techniques, allow options to become less focused on a single problem, and should facilitate transfer of options to novel problems.</a:t>
            </a:r>
          </a:p>
          <a:p>
            <a:pPr algn="just">
              <a:lnSpc>
                <a:spcPct val="114000"/>
              </a:lnSpc>
            </a:pPr>
            <a:r>
              <a:rPr lang="en-US" sz="2300" dirty="0">
                <a:solidFill>
                  <a:srgbClr val="222222"/>
                </a:solidFill>
                <a:latin typeface="Arial" panose="020B0604020202020204" pitchFamily="34" charset="0"/>
              </a:rPr>
              <a:t>For example, the </a:t>
            </a:r>
            <a:r>
              <a:rPr lang="en-US" sz="2300" dirty="0">
                <a:solidFill>
                  <a:srgbClr val="222222"/>
                </a:solidFill>
                <a:highlight>
                  <a:srgbClr val="FFFF00"/>
                </a:highlight>
                <a:latin typeface="Arial" panose="020B0604020202020204" pitchFamily="34" charset="0"/>
              </a:rPr>
              <a:t>Meta Learning Shared Hierarchies (MLSH) algorithm</a:t>
            </a:r>
            <a:r>
              <a:rPr lang="en-US" sz="2300" dirty="0">
                <a:solidFill>
                  <a:srgbClr val="222222"/>
                </a:solidFill>
                <a:latin typeface="Arial" panose="020B0604020202020204" pitchFamily="34" charset="0"/>
              </a:rPr>
              <a:t>, learns a set of sub-behaviors, by utilizing a distribution of different tasks. For each specific task a policy-over-options is learned. Individual options are optimized in order to learn a good policy-over-options on a new task as quickly as possible. </a:t>
            </a:r>
          </a:p>
        </p:txBody>
      </p:sp>
    </p:spTree>
    <p:extLst>
      <p:ext uri="{BB962C8B-B14F-4D97-AF65-F5344CB8AC3E}">
        <p14:creationId xmlns:p14="http://schemas.microsoft.com/office/powerpoint/2010/main" val="3570972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016DB-1BBB-C28A-85EE-B3ECDE32C755}"/>
              </a:ext>
            </a:extLst>
          </p:cNvPr>
          <p:cNvSpPr>
            <a:spLocks noGrp="1"/>
          </p:cNvSpPr>
          <p:nvPr>
            <p:ph type="title"/>
          </p:nvPr>
        </p:nvSpPr>
        <p:spPr/>
        <p:txBody>
          <a:bodyPr/>
          <a:lstStyle/>
          <a:p>
            <a:r>
              <a:rPr lang="en-US" dirty="0"/>
              <a:t>Options as a Tool for Meta-Learning</a:t>
            </a:r>
            <a:br>
              <a:rPr lang="en-US" b="0" i="1" dirty="0">
                <a:solidFill>
                  <a:srgbClr val="000000"/>
                </a:solidFill>
                <a:effectLst/>
                <a:highlight>
                  <a:srgbClr val="FFFFFF"/>
                </a:highligh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551459DC-72A3-9012-BBEF-EE65FB12867E}"/>
              </a:ext>
            </a:extLst>
          </p:cNvPr>
          <p:cNvSpPr>
            <a:spLocks noGrp="1"/>
          </p:cNvSpPr>
          <p:nvPr>
            <p:ph idx="1"/>
          </p:nvPr>
        </p:nvSpPr>
        <p:spPr>
          <a:xfrm>
            <a:off x="1371600" y="1838960"/>
            <a:ext cx="10403840" cy="5019040"/>
          </a:xfrm>
        </p:spPr>
        <p:txBody>
          <a:bodyPr>
            <a:noAutofit/>
          </a:bodyPr>
          <a:lstStyle/>
          <a:p>
            <a:pPr algn="just">
              <a:lnSpc>
                <a:spcPct val="114000"/>
              </a:lnSpc>
            </a:pPr>
            <a:r>
              <a:rPr lang="en-US" sz="2300" dirty="0">
                <a:solidFill>
                  <a:srgbClr val="222222"/>
                </a:solidFill>
                <a:latin typeface="Arial" panose="020B0604020202020204" pitchFamily="34" charset="0"/>
              </a:rPr>
              <a:t>MLSH uses an incremental approach, in which a single task is sampled first. In this initial stage, the existing options are challenged as-is to solve this task. In a second stage, both the intra-option policies and the policy-over-options are updated jointly. Afterwards a new task is sampled, and the procedure is repeated until convergence.</a:t>
            </a:r>
          </a:p>
          <a:p>
            <a:pPr algn="just">
              <a:lnSpc>
                <a:spcPct val="114000"/>
              </a:lnSpc>
            </a:pPr>
            <a:endParaRPr lang="en-US" sz="2300" dirty="0">
              <a:solidFill>
                <a:srgbClr val="222222"/>
              </a:solidFill>
              <a:latin typeface="Arial" panose="020B0604020202020204" pitchFamily="34" charset="0"/>
            </a:endParaRPr>
          </a:p>
          <a:p>
            <a:pPr algn="just">
              <a:lnSpc>
                <a:spcPct val="114000"/>
              </a:lnSpc>
            </a:pPr>
            <a:r>
              <a:rPr lang="en-US" sz="2300" dirty="0" err="1">
                <a:solidFill>
                  <a:srgbClr val="222222"/>
                </a:solidFill>
                <a:highlight>
                  <a:srgbClr val="FFFF00"/>
                </a:highlight>
                <a:latin typeface="Arial" panose="020B0604020202020204" pitchFamily="34" charset="0"/>
              </a:rPr>
              <a:t>HiPPO</a:t>
            </a:r>
            <a:r>
              <a:rPr lang="en-US" sz="2300" dirty="0">
                <a:solidFill>
                  <a:srgbClr val="222222"/>
                </a:solidFill>
                <a:latin typeface="Arial" panose="020B0604020202020204" pitchFamily="34" charset="0"/>
              </a:rPr>
              <a:t> , similarly focuses on how sub-behaviors can be made more robust to changes in the environment by utilizing a random runtime of the different options. </a:t>
            </a:r>
            <a:r>
              <a:rPr lang="en-US" sz="2300" dirty="0" err="1">
                <a:solidFill>
                  <a:srgbClr val="222222"/>
                </a:solidFill>
                <a:latin typeface="Arial" panose="020B0604020202020204" pitchFamily="34" charset="0"/>
              </a:rPr>
              <a:t>HiPPO</a:t>
            </a:r>
            <a:r>
              <a:rPr lang="en-US" sz="2300" dirty="0">
                <a:solidFill>
                  <a:srgbClr val="222222"/>
                </a:solidFill>
                <a:latin typeface="Arial" panose="020B0604020202020204" pitchFamily="34" charset="0"/>
              </a:rPr>
              <a:t> does not require a complex training scheme and a single task can be used as the base for a different task.</a:t>
            </a:r>
          </a:p>
        </p:txBody>
      </p:sp>
    </p:spTree>
    <p:extLst>
      <p:ext uri="{BB962C8B-B14F-4D97-AF65-F5344CB8AC3E}">
        <p14:creationId xmlns:p14="http://schemas.microsoft.com/office/powerpoint/2010/main" val="2764914379"/>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rop">
    <a:dk1>
      <a:sysClr val="windowText" lastClr="000000"/>
    </a:dk1>
    <a:lt1>
      <a:sysClr val="window" lastClr="FFFFFF"/>
    </a:lt1>
    <a:dk2>
      <a:srgbClr val="4A2318"/>
    </a:dk2>
    <a:lt2>
      <a:srgbClr val="EDECEB"/>
    </a:lt2>
    <a:accent1>
      <a:srgbClr val="F3C82E"/>
    </a:accent1>
    <a:accent2>
      <a:srgbClr val="A26176"/>
    </a:accent2>
    <a:accent3>
      <a:srgbClr val="74A94E"/>
    </a:accent3>
    <a:accent4>
      <a:srgbClr val="188E8D"/>
    </a:accent4>
    <a:accent5>
      <a:srgbClr val="EE913A"/>
    </a:accent5>
    <a:accent6>
      <a:srgbClr val="DF5D4A"/>
    </a:accent6>
    <a:hlink>
      <a:srgbClr val="188E8D"/>
    </a:hlink>
    <a:folHlink>
      <a:srgbClr val="A2617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4FC1750496BA842B8CDF8D980297702" ma:contentTypeVersion="3" ma:contentTypeDescription="Create a new document." ma:contentTypeScope="" ma:versionID="25b4117b7e7c52874fef60ba29814e78">
  <xsd:schema xmlns:xsd="http://www.w3.org/2001/XMLSchema" xmlns:xs="http://www.w3.org/2001/XMLSchema" xmlns:p="http://schemas.microsoft.com/office/2006/metadata/properties" xmlns:ns2="6b7f7ae6-7a87-4d3a-a44f-b1b75ae19df5" targetNamespace="http://schemas.microsoft.com/office/2006/metadata/properties" ma:root="true" ma:fieldsID="92331ed16946a6a4687e51e0b4ac930e" ns2:_="">
    <xsd:import namespace="6b7f7ae6-7a87-4d3a-a44f-b1b75ae19df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7f7ae6-7a87-4d3a-a44f-b1b75ae19d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321557E-BEF2-42F9-918F-2076FC4807B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2D01681-2166-406C-9B9F-8F809E202CF7}">
  <ds:schemaRefs>
    <ds:schemaRef ds:uri="http://schemas.microsoft.com/sharepoint/v3/contenttype/forms"/>
  </ds:schemaRefs>
</ds:datastoreItem>
</file>

<file path=customXml/itemProps3.xml><?xml version="1.0" encoding="utf-8"?>
<ds:datastoreItem xmlns:ds="http://schemas.openxmlformats.org/officeDocument/2006/customXml" ds:itemID="{165E011D-42D4-433C-91C1-14EFF32D04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7f7ae6-7a87-4d3a-a44f-b1b75ae19d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3851</TotalTime>
  <Words>1776</Words>
  <Application>Microsoft Office PowerPoint</Application>
  <PresentationFormat>Widescreen</PresentationFormat>
  <Paragraphs>73</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Crop</vt:lpstr>
      <vt:lpstr>PowerPoint Presentation</vt:lpstr>
      <vt:lpstr>Module No. 6 Hierarchical Reinforcement Learning 8 Hours</vt:lpstr>
      <vt:lpstr>Option Subgoal Discovery </vt:lpstr>
      <vt:lpstr>Option Subgoal Discovery  </vt:lpstr>
      <vt:lpstr>Option Subgoal Discovery  - Landmark States  </vt:lpstr>
      <vt:lpstr>Option Subgoal Discovery  - Landmark States  </vt:lpstr>
      <vt:lpstr>Option Subgoal Discovery - Reinforcement Learning Signal  </vt:lpstr>
      <vt:lpstr>Option Subgoal Discovery  - Bottleneck States  </vt:lpstr>
      <vt:lpstr>Option Subgoal Discovery  - Bottleneck States  </vt:lpstr>
      <vt:lpstr>Option Subgoal Discovery  - Bottleneck States  </vt:lpstr>
      <vt:lpstr>Option Subgoal Discovery  - Access States  </vt:lpstr>
      <vt:lpstr>Option Subgoal Discovery  - Graph Partitioning  </vt:lpstr>
      <vt:lpstr>Option Subgoal Discovery  - Graph Partitioning  </vt:lpstr>
      <vt:lpstr>Option Subgoal Discovery  - State Clustering  </vt:lpstr>
      <vt:lpstr>Option Subgoal Discovery - Skill Chaining  </vt:lpstr>
      <vt:lpstr>Using Options in High-Dimensional State-Spaces </vt:lpstr>
      <vt:lpstr>Using Options in High-Dimensional State-Spaces </vt:lpstr>
      <vt:lpstr>Options as a Tool for Meta-Learning </vt:lpstr>
      <vt:lpstr>Options as a Tool for Meta-Learning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 347</dc:title>
  <dc:creator>dipen saini</dc:creator>
  <cp:lastModifiedBy>delll</cp:lastModifiedBy>
  <cp:revision>44</cp:revision>
  <dcterms:created xsi:type="dcterms:W3CDTF">2023-01-04T16:33:49Z</dcterms:created>
  <dcterms:modified xsi:type="dcterms:W3CDTF">2026-04-18T07:56:09Z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0x01010004FC1750496BA842B8CDF8D980297702</vt:lpwstr>
  </property>
</Properties>
</file>
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0" r:id="rId4"/>
  </p:sldMasterIdLst>
  <p:notesMasterIdLst>
    <p:notesMasterId r:id="rId31"/>
  </p:notesMasterIdLst>
  <p:sldIdLst>
    <p:sldId id="585" r:id="rId5"/>
    <p:sldId id="262" r:id="rId6"/>
    <p:sldId id="630" r:id="rId7"/>
    <p:sldId id="633" r:id="rId8"/>
    <p:sldId id="638" r:id="rId9"/>
    <p:sldId id="642" r:id="rId10"/>
    <p:sldId id="643" r:id="rId11"/>
    <p:sldId id="644" r:id="rId12"/>
    <p:sldId id="645" r:id="rId13"/>
    <p:sldId id="648" r:id="rId14"/>
    <p:sldId id="646" r:id="rId15"/>
    <p:sldId id="647" r:id="rId16"/>
    <p:sldId id="649" r:id="rId17"/>
    <p:sldId id="650" r:id="rId18"/>
    <p:sldId id="651" r:id="rId19"/>
    <p:sldId id="652" r:id="rId20"/>
    <p:sldId id="634" r:id="rId21"/>
    <p:sldId id="653" r:id="rId22"/>
    <p:sldId id="655" r:id="rId23"/>
    <p:sldId id="656" r:id="rId24"/>
    <p:sldId id="657" r:id="rId25"/>
    <p:sldId id="658" r:id="rId26"/>
    <p:sldId id="635" r:id="rId27"/>
    <p:sldId id="636" r:id="rId28"/>
    <p:sldId id="637" r:id="rId29"/>
    <p:sldId id="654"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76E41D1-8924-C565-30EF-BCAB60A34D7A}" v="1" dt="2026-04-27T09:34:07.52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50"/>
  </p:normalViewPr>
  <p:slideViewPr>
    <p:cSldViewPr snapToGrid="0">
      <p:cViewPr varScale="1">
        <p:scale>
          <a:sx n="68" d="100"/>
          <a:sy n="68" d="100"/>
        </p:scale>
        <p:origin x="792"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marthi Kashyap Sri Teja" userId="S::kashyap.23bce8503@vitapstudent.ac.in::bb59d273-728d-4c9b-b153-4853f757ff1f" providerId="AD" clId="Web-{976E41D1-8924-C565-30EF-BCAB60A34D7A}"/>
    <pc:docChg chg="modSld">
      <pc:chgData name="Pamarthi Kashyap Sri Teja" userId="S::kashyap.23bce8503@vitapstudent.ac.in::bb59d273-728d-4c9b-b153-4853f757ff1f" providerId="AD" clId="Web-{976E41D1-8924-C565-30EF-BCAB60A34D7A}" dt="2026-04-27T09:34:07.525" v="0" actId="1076"/>
      <pc:docMkLst>
        <pc:docMk/>
      </pc:docMkLst>
      <pc:sldChg chg="modSp">
        <pc:chgData name="Pamarthi Kashyap Sri Teja" userId="S::kashyap.23bce8503@vitapstudent.ac.in::bb59d273-728d-4c9b-b153-4853f757ff1f" providerId="AD" clId="Web-{976E41D1-8924-C565-30EF-BCAB60A34D7A}" dt="2026-04-27T09:34:07.525" v="0" actId="1076"/>
        <pc:sldMkLst>
          <pc:docMk/>
          <pc:sldMk cId="2773029733" sldId="585"/>
        </pc:sldMkLst>
        <pc:picChg chg="mod">
          <ac:chgData name="Pamarthi Kashyap Sri Teja" userId="S::kashyap.23bce8503@vitapstudent.ac.in::bb59d273-728d-4c9b-b153-4853f757ff1f" providerId="AD" clId="Web-{976E41D1-8924-C565-30EF-BCAB60A34D7A}" dt="2026-04-27T09:34:07.525" v="0" actId="1076"/>
          <ac:picMkLst>
            <pc:docMk/>
            <pc:sldMk cId="2773029733" sldId="585"/>
            <ac:picMk id="6146" creationId="{BAC11B92-7D2F-1D38-29A5-997E2829E44A}"/>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33F091-54B8-4C54-A889-837C3D111872}" type="datetimeFigureOut">
              <a:rPr lang="en-IN" smtClean="0"/>
              <a:t>27-04-2026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6096A8-260D-4569-A24C-A710FFFEEEAB}" type="slidenum">
              <a:rPr lang="en-IN" smtClean="0"/>
              <a:t>‹#›</a:t>
            </a:fld>
            <a:endParaRPr lang="en-IN"/>
          </a:p>
        </p:txBody>
      </p:sp>
    </p:spTree>
    <p:extLst>
      <p:ext uri="{BB962C8B-B14F-4D97-AF65-F5344CB8AC3E}">
        <p14:creationId xmlns:p14="http://schemas.microsoft.com/office/powerpoint/2010/main" val="6471728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2B3DD3EA-5372-5F45-9EB0-1B41863C7012}" type="datetimeFigureOut">
              <a:rPr lang="en-US" smtClean="0"/>
              <a:t>4/27/2026</a:t>
            </a:fld>
            <a:endParaRPr lang="en-US"/>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US"/>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4BD522E6-407B-3141-A6A0-805FAD6796A0}" type="slidenum">
              <a:rPr lang="en-US" smtClean="0"/>
              <a:t>‹#›</a:t>
            </a:fld>
            <a:endParaRPr lang="en-US"/>
          </a:p>
        </p:txBody>
      </p:sp>
      <p:grpSp>
        <p:nvGrpSpPr>
          <p:cNvPr id="9" name="Group 8"/>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extLst>
      <p:ext uri="{BB962C8B-B14F-4D97-AF65-F5344CB8AC3E}">
        <p14:creationId xmlns:p14="http://schemas.microsoft.com/office/powerpoint/2010/main" val="13646896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B3DD3EA-5372-5F45-9EB0-1B41863C7012}" type="datetimeFigureOut">
              <a:rPr lang="en-US" smtClean="0"/>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D522E6-407B-3141-A6A0-805FAD6796A0}" type="slidenum">
              <a:rPr lang="en-US" smtClean="0"/>
              <a:t>‹#›</a:t>
            </a:fld>
            <a:endParaRPr lang="en-US"/>
          </a:p>
        </p:txBody>
      </p:sp>
    </p:spTree>
    <p:extLst>
      <p:ext uri="{BB962C8B-B14F-4D97-AF65-F5344CB8AC3E}">
        <p14:creationId xmlns:p14="http://schemas.microsoft.com/office/powerpoint/2010/main" val="24647727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2B3DD3EA-5372-5F45-9EB0-1B41863C7012}" type="datetimeFigureOut">
              <a:rPr lang="en-US" smtClean="0"/>
              <a:t>4/27/2026</a:t>
            </a:fld>
            <a:endParaRPr lang="en-US"/>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4BD522E6-407B-3141-A6A0-805FAD6796A0}" type="slidenum">
              <a:rPr lang="en-US" smtClean="0"/>
              <a:t>‹#›</a:t>
            </a:fld>
            <a:endParaRPr lang="en-US"/>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accent1"/>
          </a:solidFill>
          <a:ln w="0">
            <a:noFill/>
            <a:prstDash val="solid"/>
            <a:round/>
            <a:headEnd/>
            <a:tailEnd/>
          </a:ln>
        </p:spPr>
      </p:sp>
    </p:spTree>
    <p:extLst>
      <p:ext uri="{BB962C8B-B14F-4D97-AF65-F5344CB8AC3E}">
        <p14:creationId xmlns:p14="http://schemas.microsoft.com/office/powerpoint/2010/main" val="169376098"/>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B3DD3EA-5372-5F45-9EB0-1B41863C7012}" type="datetimeFigureOut">
              <a:rPr lang="en-US" smtClean="0"/>
              <a:t>4/27/2026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BD522E6-407B-3141-A6A0-805FAD6796A0}" type="slidenum">
              <a:rPr lang="en-US" smtClean="0"/>
              <a:t>‹#›</a:t>
            </a:fld>
            <a:endParaRPr lang="en-US"/>
          </a:p>
        </p:txBody>
      </p:sp>
    </p:spTree>
    <p:extLst>
      <p:ext uri="{BB962C8B-B14F-4D97-AF65-F5344CB8AC3E}">
        <p14:creationId xmlns:p14="http://schemas.microsoft.com/office/powerpoint/2010/main" val="33907241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B3DD3EA-5372-5F45-9EB0-1B41863C7012}" type="datetimeFigureOut">
              <a:rPr lang="en-US" smtClean="0"/>
              <a:t>4/27/2026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BD522E6-407B-3141-A6A0-805FAD6796A0}" type="slidenum">
              <a:rPr lang="en-US" smtClean="0"/>
              <a:t>‹#›</a:t>
            </a:fld>
            <a:endParaRPr lang="en-US"/>
          </a:p>
        </p:txBody>
      </p:sp>
    </p:spTree>
    <p:extLst>
      <p:ext uri="{BB962C8B-B14F-4D97-AF65-F5344CB8AC3E}">
        <p14:creationId xmlns:p14="http://schemas.microsoft.com/office/powerpoint/2010/main" val="29392282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B3DD3EA-5372-5F45-9EB0-1B41863C7012}" type="datetimeFigureOut">
              <a:rPr lang="en-US" smtClean="0"/>
              <a:t>4/27/2026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BD522E6-407B-3141-A6A0-805FAD6796A0}" type="slidenum">
              <a:rPr lang="en-US" smtClean="0"/>
              <a:t>‹#›</a:t>
            </a:fld>
            <a:endParaRPr lang="en-US"/>
          </a:p>
        </p:txBody>
      </p:sp>
    </p:spTree>
    <p:extLst>
      <p:ext uri="{BB962C8B-B14F-4D97-AF65-F5344CB8AC3E}">
        <p14:creationId xmlns:p14="http://schemas.microsoft.com/office/powerpoint/2010/main" val="39223630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B3DD3EA-5372-5F45-9EB0-1B41863C7012}" type="datetimeFigureOut">
              <a:rPr lang="en-US" smtClean="0"/>
              <a:t>4/27/2026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BD522E6-407B-3141-A6A0-805FAD6796A0}" type="slidenum">
              <a:rPr lang="en-US" smtClean="0"/>
              <a:t>‹#›</a:t>
            </a:fld>
            <a:endParaRPr lang="en-US"/>
          </a:p>
        </p:txBody>
      </p:sp>
    </p:spTree>
    <p:extLst>
      <p:ext uri="{BB962C8B-B14F-4D97-AF65-F5344CB8AC3E}">
        <p14:creationId xmlns:p14="http://schemas.microsoft.com/office/powerpoint/2010/main" val="4695801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2B3DD3EA-5372-5F45-9EB0-1B41863C7012}" type="datetimeFigureOut">
              <a:rPr lang="en-US" smtClean="0"/>
              <a:t>4/27/2026</a:t>
            </a:fld>
            <a:endParaRPr lang="en-US"/>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4BD522E6-407B-3141-A6A0-805FAD6796A0}" type="slidenum">
              <a:rPr lang="en-US" smtClean="0"/>
              <a:t>‹#›</a:t>
            </a:fld>
            <a:endParaRPr lang="en-US"/>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0027175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2B3DD3EA-5372-5F45-9EB0-1B41863C7012}" type="datetimeFigureOut">
              <a:rPr lang="en-US" smtClean="0"/>
              <a:t>4/27/2026</a:t>
            </a:fld>
            <a:endParaRPr lang="en-US"/>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4BD522E6-407B-3141-A6A0-805FAD6796A0}" type="slidenum">
              <a:rPr lang="en-US" smtClean="0"/>
              <a:t>‹#›</a:t>
            </a:fld>
            <a:endParaRPr lang="en-US"/>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7929722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B3DD3EA-5372-5F45-9EB0-1B41863C7012}" type="datetimeFigureOut">
              <a:rPr lang="en-US" smtClean="0"/>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D522E6-407B-3141-A6A0-805FAD6796A0}" type="slidenum">
              <a:rPr lang="en-US" smtClean="0"/>
              <a:t>‹#›</a:t>
            </a:fld>
            <a:endParaRPr lang="en-US"/>
          </a:p>
        </p:txBody>
      </p:sp>
    </p:spTree>
    <p:extLst>
      <p:ext uri="{BB962C8B-B14F-4D97-AF65-F5344CB8AC3E}">
        <p14:creationId xmlns:p14="http://schemas.microsoft.com/office/powerpoint/2010/main" val="24028911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B3DD3EA-5372-5F45-9EB0-1B41863C7012}" type="datetimeFigureOut">
              <a:rPr lang="en-US" smtClean="0"/>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D522E6-407B-3141-A6A0-805FAD6796A0}" type="slidenum">
              <a:rPr lang="en-US" smtClean="0"/>
              <a:t>‹#›</a:t>
            </a:fld>
            <a:endParaRPr lang="en-US"/>
          </a:p>
        </p:txBody>
      </p:sp>
    </p:spTree>
    <p:extLst>
      <p:ext uri="{BB962C8B-B14F-4D97-AF65-F5344CB8AC3E}">
        <p14:creationId xmlns:p14="http://schemas.microsoft.com/office/powerpoint/2010/main" val="39271396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2B3DD3EA-5372-5F45-9EB0-1B41863C7012}" type="datetimeFigureOut">
              <a:rPr lang="en-US" smtClean="0"/>
              <a:t>4/27/2026</a:t>
            </a:fld>
            <a:endParaRPr lang="en-US"/>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4BD522E6-407B-3141-A6A0-805FAD6796A0}" type="slidenum">
              <a:rPr lang="en-US" smtClean="0"/>
              <a:t>‹#›</a:t>
            </a:fld>
            <a:endParaRPr lang="en-US"/>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55296238"/>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proceedings.neurips.cc/paper/1992/file/d14220ee66aeec73c49038385428ec4c-Paper.pdf" TargetMode="External"/><Relationship Id="rId2" Type="http://schemas.openxmlformats.org/officeDocument/2006/relationships/hyperlink" Target="https://arxiv.org/abs/1609.05140"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FD6B1D31-C4E7-8A73-DE3F-694072EBD1FA}"/>
              </a:ext>
            </a:extLst>
          </p:cNvPr>
          <p:cNvSpPr>
            <a:spLocks noGrp="1"/>
          </p:cNvSpPr>
          <p:nvPr>
            <p:ph type="subTitle" idx="1"/>
          </p:nvPr>
        </p:nvSpPr>
        <p:spPr>
          <a:xfrm>
            <a:off x="1320800" y="1341120"/>
            <a:ext cx="10454640" cy="4003040"/>
          </a:xfrm>
        </p:spPr>
        <p:txBody>
          <a:bodyPr>
            <a:noAutofit/>
          </a:bodyPr>
          <a:lstStyle/>
          <a:p>
            <a:pPr algn="l"/>
            <a:r>
              <a:rPr lang="en-US" sz="4000" b="1" cap="all" dirty="0">
                <a:solidFill>
                  <a:schemeClr val="tx2"/>
                </a:solidFill>
                <a:latin typeface="+mj-lt"/>
                <a:ea typeface="+mj-ea"/>
                <a:cs typeface="+mj-cs"/>
              </a:rPr>
              <a:t>CSE4037 </a:t>
            </a:r>
          </a:p>
          <a:p>
            <a:pPr algn="l"/>
            <a:r>
              <a:rPr lang="en-US" sz="4000" b="1" cap="all" dirty="0">
                <a:solidFill>
                  <a:schemeClr val="tx2"/>
                </a:solidFill>
                <a:latin typeface="+mj-lt"/>
                <a:ea typeface="+mj-ea"/>
                <a:cs typeface="+mj-cs"/>
              </a:rPr>
              <a:t>REINFORCEMENT LEARNING</a:t>
            </a:r>
          </a:p>
          <a:p>
            <a:pPr algn="l"/>
            <a:endParaRPr lang="en-US" sz="3000" b="1" cap="all" dirty="0">
              <a:solidFill>
                <a:schemeClr val="tx2"/>
              </a:solidFill>
              <a:latin typeface="+mj-lt"/>
              <a:ea typeface="+mj-ea"/>
              <a:cs typeface="+mj-cs"/>
            </a:endParaRPr>
          </a:p>
          <a:p>
            <a:pPr algn="just"/>
            <a:r>
              <a:rPr lang="en-US" sz="3200" b="1" dirty="0">
                <a:solidFill>
                  <a:srgbClr val="FF0000"/>
                </a:solidFill>
                <a:highlight>
                  <a:srgbClr val="C0C0C0"/>
                </a:highlight>
                <a:latin typeface="Cambria" panose="02040503050406030204" pitchFamily="18" charset="0"/>
                <a:ea typeface="Cambria" panose="02040503050406030204" pitchFamily="18" charset="0"/>
              </a:rPr>
              <a:t>HIERARCHICAL REINFORCEMENT LEARNING</a:t>
            </a:r>
          </a:p>
        </p:txBody>
      </p:sp>
      <p:sp>
        <p:nvSpPr>
          <p:cNvPr id="4" name="Subtitle 2">
            <a:extLst>
              <a:ext uri="{FF2B5EF4-FFF2-40B4-BE49-F238E27FC236}">
                <a16:creationId xmlns:a16="http://schemas.microsoft.com/office/drawing/2014/main" id="{A801DB45-417F-527B-47EB-AC2FEB6B23A9}"/>
              </a:ext>
            </a:extLst>
          </p:cNvPr>
          <p:cNvSpPr txBox="1">
            <a:spLocks/>
          </p:cNvSpPr>
          <p:nvPr/>
        </p:nvSpPr>
        <p:spPr>
          <a:xfrm>
            <a:off x="1493520" y="5100320"/>
            <a:ext cx="6493336" cy="1497032"/>
          </a:xfrm>
          <a:prstGeom prst="rect">
            <a:avLst/>
          </a:prstGeom>
        </p:spPr>
        <p:txBody>
          <a:bodyPr vert="horz" lIns="91440" tIns="45720" rIns="91440" bIns="45720" rtlCol="0">
            <a:normAutofit/>
          </a:bodyPr>
          <a:lstStyle>
            <a:lvl1pPr marL="0" indent="0" algn="ctr" defTabSz="914400" rtl="0" eaLnBrk="1" latinLnBrk="0" hangingPunct="1">
              <a:lnSpc>
                <a:spcPct val="112000"/>
              </a:lnSpc>
              <a:spcBef>
                <a:spcPts val="0"/>
              </a:spcBef>
              <a:spcAft>
                <a:spcPts val="0"/>
              </a:spcAft>
              <a:buFont typeface="Franklin Gothic Book" panose="020B0503020102020204" pitchFamily="34" charset="0"/>
              <a:buNone/>
              <a:defRPr sz="2300" kern="1200" baseline="0">
                <a:solidFill>
                  <a:schemeClr val="bg2"/>
                </a:solidFill>
                <a:latin typeface="+mn-lt"/>
                <a:ea typeface="+mn-ea"/>
                <a:cs typeface="+mn-cs"/>
              </a:defRPr>
            </a:lvl1pPr>
            <a:lvl2pPr marL="457200" indent="0" algn="ctr" defTabSz="914400" rtl="0" eaLnBrk="1" latinLnBrk="0" hangingPunct="1">
              <a:lnSpc>
                <a:spcPct val="94000"/>
              </a:lnSpc>
              <a:spcBef>
                <a:spcPts val="500"/>
              </a:spcBef>
              <a:spcAft>
                <a:spcPts val="200"/>
              </a:spcAft>
              <a:buFont typeface="Franklin Gothic Book" panose="020B0503020102020204" pitchFamily="34" charset="0"/>
              <a:buNone/>
              <a:defRPr sz="2000" i="1" kern="1200" baseline="0">
                <a:solidFill>
                  <a:schemeClr val="tx2"/>
                </a:solidFill>
                <a:latin typeface="+mn-lt"/>
                <a:ea typeface="+mn-ea"/>
                <a:cs typeface="+mn-cs"/>
              </a:defRPr>
            </a:lvl2pPr>
            <a:lvl3pPr marL="914400" indent="0" algn="ctr" defTabSz="914400" rtl="0" eaLnBrk="1" latinLnBrk="0" hangingPunct="1">
              <a:lnSpc>
                <a:spcPct val="94000"/>
              </a:lnSpc>
              <a:spcBef>
                <a:spcPts val="500"/>
              </a:spcBef>
              <a:spcAft>
                <a:spcPts val="200"/>
              </a:spcAft>
              <a:buFont typeface="Franklin Gothic Book" panose="020B0503020102020204" pitchFamily="34" charset="0"/>
              <a:buNone/>
              <a:defRPr sz="1800" kern="1200" baseline="0">
                <a:solidFill>
                  <a:schemeClr val="tx2"/>
                </a:solidFill>
                <a:latin typeface="+mn-lt"/>
                <a:ea typeface="+mn-ea"/>
                <a:cs typeface="+mn-cs"/>
              </a:defRPr>
            </a:lvl3pPr>
            <a:lvl4pPr marL="1371600" indent="0" algn="ctr" defTabSz="914400" rtl="0" eaLnBrk="1" latinLnBrk="0" hangingPunct="1">
              <a:lnSpc>
                <a:spcPct val="94000"/>
              </a:lnSpc>
              <a:spcBef>
                <a:spcPts val="500"/>
              </a:spcBef>
              <a:spcAft>
                <a:spcPts val="200"/>
              </a:spcAft>
              <a:buFont typeface="Franklin Gothic Book" panose="020B0503020102020204" pitchFamily="34" charset="0"/>
              <a:buNone/>
              <a:defRPr sz="1600" i="1" kern="1200" baseline="0">
                <a:solidFill>
                  <a:schemeClr val="tx2"/>
                </a:solidFill>
                <a:latin typeface="+mn-lt"/>
                <a:ea typeface="+mn-ea"/>
                <a:cs typeface="+mn-cs"/>
              </a:defRPr>
            </a:lvl4pPr>
            <a:lvl5pPr marL="1828800" indent="0" algn="ctr" defTabSz="914400" rtl="0" eaLnBrk="1" latinLnBrk="0" hangingPunct="1">
              <a:lnSpc>
                <a:spcPct val="94000"/>
              </a:lnSpc>
              <a:spcBef>
                <a:spcPts val="500"/>
              </a:spcBef>
              <a:spcAft>
                <a:spcPts val="200"/>
              </a:spcAft>
              <a:buFont typeface="Franklin Gothic Book" panose="020B0503020102020204" pitchFamily="34" charset="0"/>
              <a:buNone/>
              <a:defRPr sz="1600" kern="1200" baseline="0">
                <a:solidFill>
                  <a:schemeClr val="tx2"/>
                </a:solidFill>
                <a:latin typeface="+mn-lt"/>
                <a:ea typeface="+mn-ea"/>
                <a:cs typeface="+mn-cs"/>
              </a:defRPr>
            </a:lvl5pPr>
            <a:lvl6pPr marL="2286000" indent="0" algn="ctr" defTabSz="914400" rtl="0" eaLnBrk="1" latinLnBrk="0" hangingPunct="1">
              <a:lnSpc>
                <a:spcPct val="94000"/>
              </a:lnSpc>
              <a:spcBef>
                <a:spcPts val="500"/>
              </a:spcBef>
              <a:spcAft>
                <a:spcPts val="200"/>
              </a:spcAft>
              <a:buFont typeface="Franklin Gothic Book" panose="020B0503020102020204" pitchFamily="34" charset="0"/>
              <a:buNone/>
              <a:defRPr sz="1600" i="1" kern="1200" baseline="0">
                <a:solidFill>
                  <a:schemeClr val="tx2"/>
                </a:solidFill>
                <a:latin typeface="+mn-lt"/>
                <a:ea typeface="+mn-ea"/>
                <a:cs typeface="+mn-cs"/>
              </a:defRPr>
            </a:lvl6pPr>
            <a:lvl7pPr marL="2743200" indent="0" algn="ctr" defTabSz="914400" rtl="0" eaLnBrk="1" latinLnBrk="0" hangingPunct="1">
              <a:lnSpc>
                <a:spcPct val="94000"/>
              </a:lnSpc>
              <a:spcBef>
                <a:spcPts val="500"/>
              </a:spcBef>
              <a:spcAft>
                <a:spcPts val="200"/>
              </a:spcAft>
              <a:buFont typeface="Franklin Gothic Book" panose="020B0503020102020204" pitchFamily="34" charset="0"/>
              <a:buNone/>
              <a:defRPr sz="1600" kern="1200" baseline="0">
                <a:solidFill>
                  <a:schemeClr val="tx2"/>
                </a:solidFill>
                <a:latin typeface="+mn-lt"/>
                <a:ea typeface="+mn-ea"/>
                <a:cs typeface="+mn-cs"/>
              </a:defRPr>
            </a:lvl7pPr>
            <a:lvl8pPr marL="3200400" indent="0" algn="ctr" defTabSz="914400" rtl="0" eaLnBrk="1" latinLnBrk="0" hangingPunct="1">
              <a:lnSpc>
                <a:spcPct val="94000"/>
              </a:lnSpc>
              <a:spcBef>
                <a:spcPts val="500"/>
              </a:spcBef>
              <a:spcAft>
                <a:spcPts val="200"/>
              </a:spcAft>
              <a:buFont typeface="Franklin Gothic Book" panose="020B0503020102020204" pitchFamily="34" charset="0"/>
              <a:buNone/>
              <a:defRPr sz="1600" i="1" kern="1200" baseline="0">
                <a:solidFill>
                  <a:schemeClr val="tx2"/>
                </a:solidFill>
                <a:latin typeface="+mn-lt"/>
                <a:ea typeface="+mn-ea"/>
                <a:cs typeface="+mn-cs"/>
              </a:defRPr>
            </a:lvl8pPr>
            <a:lvl9pPr marL="3657600" indent="0" algn="ctr" defTabSz="914400" rtl="0" eaLnBrk="1" latinLnBrk="0" hangingPunct="1">
              <a:lnSpc>
                <a:spcPct val="94000"/>
              </a:lnSpc>
              <a:spcBef>
                <a:spcPts val="500"/>
              </a:spcBef>
              <a:spcAft>
                <a:spcPts val="200"/>
              </a:spcAft>
              <a:buFont typeface="Franklin Gothic Book" panose="020B0503020102020204" pitchFamily="34" charset="0"/>
              <a:buNone/>
              <a:defRPr sz="1600" kern="1200" baseline="0">
                <a:solidFill>
                  <a:schemeClr val="tx2"/>
                </a:solidFill>
                <a:latin typeface="+mn-lt"/>
                <a:ea typeface="+mn-ea"/>
                <a:cs typeface="+mn-cs"/>
              </a:defRPr>
            </a:lvl9pPr>
          </a:lstStyle>
          <a:p>
            <a:pPr algn="l"/>
            <a:endParaRPr lang="en-IN" sz="2400" dirty="0"/>
          </a:p>
        </p:txBody>
      </p:sp>
      <p:pic>
        <p:nvPicPr>
          <p:cNvPr id="6146" name="Picture 2" descr="GIPHY Engineering | » Part 2: Computer Vision @ GIPHY: How we Created an  AutoTagging Model Using Deep Learning » Part 2: Computer Vision @ GIPHY:  How we Created an AutoTagging Model Using Deep Learning">
            <a:extLst>
              <a:ext uri="{FF2B5EF4-FFF2-40B4-BE49-F238E27FC236}">
                <a16:creationId xmlns:a16="http://schemas.microsoft.com/office/drawing/2014/main" id="{BAC11B92-7D2F-1D38-29A5-997E2829E4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51798" y="75643"/>
            <a:ext cx="3738880" cy="21031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30297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AC42C-64AF-545B-564B-41469E2F1E54}"/>
              </a:ext>
            </a:extLst>
          </p:cNvPr>
          <p:cNvSpPr>
            <a:spLocks noGrp="1"/>
          </p:cNvSpPr>
          <p:nvPr>
            <p:ph type="title"/>
          </p:nvPr>
        </p:nvSpPr>
        <p:spPr>
          <a:xfrm>
            <a:off x="955040" y="162560"/>
            <a:ext cx="11054080" cy="2009140"/>
          </a:xfrm>
        </p:spPr>
        <p:txBody>
          <a:bodyPr>
            <a:normAutofit/>
          </a:bodyPr>
          <a:lstStyle/>
          <a:p>
            <a:pPr algn="ctr"/>
            <a:r>
              <a:rPr lang="en-US" dirty="0"/>
              <a:t>Module No. 6</a:t>
            </a:r>
            <a:br>
              <a:rPr lang="en-US" dirty="0"/>
            </a:br>
            <a:r>
              <a:rPr lang="en-IN" dirty="0"/>
              <a:t>Hierarchical Reinforcement Learning</a:t>
            </a:r>
            <a:br>
              <a:rPr lang="en-US" dirty="0"/>
            </a:br>
            <a:r>
              <a:rPr lang="en-US" dirty="0"/>
              <a:t>8 Hours</a:t>
            </a:r>
          </a:p>
        </p:txBody>
      </p:sp>
      <p:sp>
        <p:nvSpPr>
          <p:cNvPr id="3" name="Content Placeholder 2">
            <a:extLst>
              <a:ext uri="{FF2B5EF4-FFF2-40B4-BE49-F238E27FC236}">
                <a16:creationId xmlns:a16="http://schemas.microsoft.com/office/drawing/2014/main" id="{7D4E399C-0F79-D05C-02E6-4842741B3DD4}"/>
              </a:ext>
            </a:extLst>
          </p:cNvPr>
          <p:cNvSpPr>
            <a:spLocks noGrp="1"/>
          </p:cNvSpPr>
          <p:nvPr>
            <p:ph idx="1"/>
          </p:nvPr>
        </p:nvSpPr>
        <p:spPr>
          <a:xfrm>
            <a:off x="1371600" y="2286000"/>
            <a:ext cx="10048240" cy="3581400"/>
          </a:xfrm>
        </p:spPr>
        <p:txBody>
          <a:bodyPr>
            <a:normAutofit/>
          </a:bodyPr>
          <a:lstStyle/>
          <a:p>
            <a:pPr algn="just"/>
            <a:r>
              <a:rPr lang="en-US" sz="2400" dirty="0">
                <a:solidFill>
                  <a:srgbClr val="000000"/>
                </a:solidFill>
                <a:highlight>
                  <a:srgbClr val="FFFF00"/>
                </a:highlight>
                <a:latin typeface="Times New Roman" panose="02020603050405020304" pitchFamily="18" charset="0"/>
              </a:rPr>
              <a:t>Hierarchical Reinforcement Learning</a:t>
            </a:r>
          </a:p>
          <a:p>
            <a:pPr algn="just"/>
            <a:r>
              <a:rPr lang="en-US" sz="2400" dirty="0">
                <a:solidFill>
                  <a:srgbClr val="000000"/>
                </a:solidFill>
                <a:latin typeface="Times New Roman" panose="02020603050405020304" pitchFamily="18" charset="0"/>
              </a:rPr>
              <a:t>Types of Optimality</a:t>
            </a:r>
          </a:p>
          <a:p>
            <a:pPr algn="just"/>
            <a:r>
              <a:rPr lang="en-US" sz="2400" dirty="0">
                <a:solidFill>
                  <a:srgbClr val="000000"/>
                </a:solidFill>
                <a:latin typeface="Times New Roman" panose="02020603050405020304" pitchFamily="18" charset="0"/>
              </a:rPr>
              <a:t>Semi MDP Model</a:t>
            </a:r>
          </a:p>
          <a:p>
            <a:pPr algn="just"/>
            <a:r>
              <a:rPr lang="en-US" sz="2400" dirty="0">
                <a:solidFill>
                  <a:srgbClr val="000000"/>
                </a:solidFill>
                <a:latin typeface="Times New Roman" panose="02020603050405020304" pitchFamily="18" charset="0"/>
              </a:rPr>
              <a:t>Options</a:t>
            </a:r>
          </a:p>
          <a:p>
            <a:pPr algn="just"/>
            <a:r>
              <a:rPr lang="en-US" sz="2400" dirty="0">
                <a:solidFill>
                  <a:srgbClr val="000000"/>
                </a:solidFill>
                <a:latin typeface="Times New Roman" panose="02020603050405020304" pitchFamily="18" charset="0"/>
              </a:rPr>
              <a:t>Learning with Options</a:t>
            </a:r>
          </a:p>
          <a:p>
            <a:pPr algn="just"/>
            <a:r>
              <a:rPr lang="en-US" sz="2400" dirty="0">
                <a:solidFill>
                  <a:srgbClr val="000000"/>
                </a:solidFill>
                <a:latin typeface="Times New Roman" panose="02020603050405020304" pitchFamily="18" charset="0"/>
              </a:rPr>
              <a:t>Hierarchical Abstract Machines</a:t>
            </a:r>
          </a:p>
          <a:p>
            <a:pPr algn="just"/>
            <a:r>
              <a:rPr lang="en-US" sz="2400" dirty="0">
                <a:solidFill>
                  <a:srgbClr val="000000"/>
                </a:solidFill>
                <a:latin typeface="Times New Roman" panose="02020603050405020304" pitchFamily="18" charset="0"/>
              </a:rPr>
              <a:t>A partially observable Markov decision process. </a:t>
            </a:r>
            <a:endParaRPr lang="en-IN" sz="2400" dirty="0">
              <a:solidFill>
                <a:srgbClr val="000000"/>
              </a:solidFill>
              <a:latin typeface="Times New Roman" panose="02020603050405020304" pitchFamily="18" charset="0"/>
            </a:endParaRPr>
          </a:p>
        </p:txBody>
      </p:sp>
    </p:spTree>
    <p:extLst>
      <p:ext uri="{BB962C8B-B14F-4D97-AF65-F5344CB8AC3E}">
        <p14:creationId xmlns:p14="http://schemas.microsoft.com/office/powerpoint/2010/main" val="13761553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3780FD-A6E1-B9CA-8629-CE171BDE02DE}"/>
              </a:ext>
            </a:extLst>
          </p:cNvPr>
          <p:cNvSpPr>
            <a:spLocks noGrp="1"/>
          </p:cNvSpPr>
          <p:nvPr>
            <p:ph type="title"/>
          </p:nvPr>
        </p:nvSpPr>
        <p:spPr/>
        <p:txBody>
          <a:bodyPr/>
          <a:lstStyle/>
          <a:p>
            <a:r>
              <a:rPr lang="en-US" dirty="0"/>
              <a:t>Hierarchical Reinforcement Learning</a:t>
            </a:r>
            <a:endParaRPr lang="en-IN" dirty="0"/>
          </a:p>
        </p:txBody>
      </p:sp>
      <p:sp>
        <p:nvSpPr>
          <p:cNvPr id="3" name="Content Placeholder 2">
            <a:extLst>
              <a:ext uri="{FF2B5EF4-FFF2-40B4-BE49-F238E27FC236}">
                <a16:creationId xmlns:a16="http://schemas.microsoft.com/office/drawing/2014/main" id="{E399DA83-57D9-9272-ACAF-0413CC1B5EB9}"/>
              </a:ext>
            </a:extLst>
          </p:cNvPr>
          <p:cNvSpPr>
            <a:spLocks noGrp="1"/>
          </p:cNvSpPr>
          <p:nvPr>
            <p:ph idx="1"/>
          </p:nvPr>
        </p:nvSpPr>
        <p:spPr/>
        <p:txBody>
          <a:bodyPr>
            <a:normAutofit/>
          </a:bodyPr>
          <a:lstStyle/>
          <a:p>
            <a:pPr algn="just"/>
            <a:r>
              <a:rPr lang="en-US" sz="2800" b="0" i="0" dirty="0">
                <a:solidFill>
                  <a:srgbClr val="242424"/>
                </a:solidFill>
                <a:effectLst/>
                <a:latin typeface="source-serif-pro"/>
              </a:rPr>
              <a:t>Hierarchical Reinforcement Learning </a:t>
            </a:r>
            <a:r>
              <a:rPr lang="en-US" sz="2800" b="0" i="0" dirty="0">
                <a:solidFill>
                  <a:srgbClr val="242424"/>
                </a:solidFill>
                <a:effectLst/>
                <a:highlight>
                  <a:srgbClr val="FFFF00"/>
                </a:highlight>
                <a:latin typeface="source-serif-pro"/>
              </a:rPr>
              <a:t>decomposes long horizon decision making process into simpler sub-tasks</a:t>
            </a:r>
            <a:r>
              <a:rPr lang="en-US" sz="2800" b="0" i="0" dirty="0">
                <a:solidFill>
                  <a:srgbClr val="242424"/>
                </a:solidFill>
                <a:effectLst/>
                <a:latin typeface="source-serif-pro"/>
              </a:rPr>
              <a:t>. </a:t>
            </a:r>
          </a:p>
          <a:p>
            <a:pPr algn="just"/>
            <a:endParaRPr lang="en-US" sz="2800" dirty="0">
              <a:solidFill>
                <a:srgbClr val="242424"/>
              </a:solidFill>
              <a:latin typeface="source-serif-pro"/>
            </a:endParaRPr>
          </a:p>
          <a:p>
            <a:pPr algn="just"/>
            <a:r>
              <a:rPr lang="en-US" sz="2800" b="0" i="0" dirty="0">
                <a:solidFill>
                  <a:srgbClr val="242424"/>
                </a:solidFill>
                <a:effectLst/>
                <a:latin typeface="source-serif-pro"/>
              </a:rPr>
              <a:t>This idea is very similar to breaking down large number of lines of code to smaller functions each performing a very specific task.</a:t>
            </a:r>
            <a:endParaRPr lang="en-IN" sz="2800" dirty="0"/>
          </a:p>
        </p:txBody>
      </p:sp>
    </p:spTree>
    <p:extLst>
      <p:ext uri="{BB962C8B-B14F-4D97-AF65-F5344CB8AC3E}">
        <p14:creationId xmlns:p14="http://schemas.microsoft.com/office/powerpoint/2010/main" val="35109797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54FB77-B599-9E55-4802-C9ACD29A671E}"/>
              </a:ext>
            </a:extLst>
          </p:cNvPr>
          <p:cNvSpPr>
            <a:spLocks noGrp="1"/>
          </p:cNvSpPr>
          <p:nvPr>
            <p:ph type="title"/>
          </p:nvPr>
        </p:nvSpPr>
        <p:spPr/>
        <p:txBody>
          <a:bodyPr/>
          <a:lstStyle/>
          <a:p>
            <a:r>
              <a:rPr lang="en-US" dirty="0"/>
              <a:t>Hierarchical Reinforcement Learning</a:t>
            </a:r>
            <a:endParaRPr lang="en-IN" dirty="0"/>
          </a:p>
        </p:txBody>
      </p:sp>
      <p:sp>
        <p:nvSpPr>
          <p:cNvPr id="3" name="Content Placeholder 2">
            <a:extLst>
              <a:ext uri="{FF2B5EF4-FFF2-40B4-BE49-F238E27FC236}">
                <a16:creationId xmlns:a16="http://schemas.microsoft.com/office/drawing/2014/main" id="{8CB9644F-DAB4-A707-EDAA-56B280572136}"/>
              </a:ext>
            </a:extLst>
          </p:cNvPr>
          <p:cNvSpPr>
            <a:spLocks noGrp="1"/>
          </p:cNvSpPr>
          <p:nvPr>
            <p:ph idx="1"/>
          </p:nvPr>
        </p:nvSpPr>
        <p:spPr>
          <a:xfrm>
            <a:off x="1371600" y="1696720"/>
            <a:ext cx="9601200" cy="4988560"/>
          </a:xfrm>
        </p:spPr>
        <p:txBody>
          <a:bodyPr>
            <a:normAutofit/>
          </a:bodyPr>
          <a:lstStyle/>
          <a:p>
            <a:pPr algn="just"/>
            <a:r>
              <a:rPr lang="en-US" sz="2600" b="0" i="0" dirty="0">
                <a:solidFill>
                  <a:srgbClr val="242424"/>
                </a:solidFill>
                <a:effectLst/>
                <a:latin typeface="source-serif-pro"/>
              </a:rPr>
              <a:t>Let’s look at an </a:t>
            </a:r>
            <a:r>
              <a:rPr lang="en-US" sz="2600" b="0" i="0" dirty="0">
                <a:solidFill>
                  <a:srgbClr val="242424"/>
                </a:solidFill>
                <a:effectLst/>
                <a:highlight>
                  <a:srgbClr val="FFFF00"/>
                </a:highlight>
                <a:latin typeface="source-serif-pro"/>
              </a:rPr>
              <a:t>example</a:t>
            </a:r>
            <a:r>
              <a:rPr lang="en-US" sz="2600" b="0" i="0" dirty="0">
                <a:solidFill>
                  <a:srgbClr val="242424"/>
                </a:solidFill>
                <a:effectLst/>
                <a:latin typeface="source-serif-pro"/>
              </a:rPr>
              <a:t>, Suppose the agent has to clear or set a dining table. This includes the task of reaching and grasping dishes. These are high level tasks. </a:t>
            </a:r>
          </a:p>
          <a:p>
            <a:pPr algn="just"/>
            <a:r>
              <a:rPr lang="en-US" sz="2600" b="0" i="0" dirty="0">
                <a:solidFill>
                  <a:srgbClr val="242424"/>
                </a:solidFill>
                <a:effectLst/>
                <a:latin typeface="source-serif-pro"/>
              </a:rPr>
              <a:t>On a lower level, it requires the task of controlling and moving the limbs and then the fingers to reach out and grasp objects and subsequently put them in the proper place. </a:t>
            </a:r>
          </a:p>
          <a:p>
            <a:pPr algn="just"/>
            <a:r>
              <a:rPr lang="en-US" sz="2600" b="0" i="0" dirty="0">
                <a:solidFill>
                  <a:srgbClr val="242424"/>
                </a:solidFill>
                <a:effectLst/>
                <a:latin typeface="source-serif-pro"/>
              </a:rPr>
              <a:t>Hierarchical Reinforcement Learning is designed with the same logic. There are multiple levels of policies with each policy handling a lower level task like moving the fingers and the higher level policies handling tasks like grasping the objects.</a:t>
            </a:r>
            <a:endParaRPr lang="en-IN" sz="2600" dirty="0"/>
          </a:p>
        </p:txBody>
      </p:sp>
    </p:spTree>
    <p:extLst>
      <p:ext uri="{BB962C8B-B14F-4D97-AF65-F5344CB8AC3E}">
        <p14:creationId xmlns:p14="http://schemas.microsoft.com/office/powerpoint/2010/main" val="30620819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29BF4-7FEA-443D-DF12-5508855FF36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88AE0A3-2AE3-A319-8CB9-9796DEA0BE2C}"/>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D0925233-B06E-6954-19B0-6B238DDE2106}"/>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Layer>
                </a14:imgProps>
              </a:ext>
            </a:extLst>
          </a:blip>
          <a:stretch>
            <a:fillRect/>
          </a:stretch>
        </p:blipFill>
        <p:spPr>
          <a:xfrm>
            <a:off x="1128712" y="833437"/>
            <a:ext cx="9934575" cy="5191125"/>
          </a:xfrm>
          <a:prstGeom prst="rect">
            <a:avLst/>
          </a:prstGeom>
        </p:spPr>
      </p:pic>
    </p:spTree>
    <p:extLst>
      <p:ext uri="{BB962C8B-B14F-4D97-AF65-F5344CB8AC3E}">
        <p14:creationId xmlns:p14="http://schemas.microsoft.com/office/powerpoint/2010/main" val="12447918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822B3-A3E8-FAB0-CCCA-9CDA87190FFB}"/>
              </a:ext>
            </a:extLst>
          </p:cNvPr>
          <p:cNvSpPr>
            <a:spLocks noGrp="1"/>
          </p:cNvSpPr>
          <p:nvPr>
            <p:ph type="title"/>
          </p:nvPr>
        </p:nvSpPr>
        <p:spPr>
          <a:xfrm>
            <a:off x="1371600" y="274320"/>
            <a:ext cx="9601200" cy="1897380"/>
          </a:xfrm>
        </p:spPr>
        <p:txBody>
          <a:bodyPr/>
          <a:lstStyle/>
          <a:p>
            <a:r>
              <a:rPr lang="en-US" dirty="0"/>
              <a:t>Hierarchical Reinforcement Learning</a:t>
            </a:r>
            <a:endParaRPr lang="en-IN" dirty="0"/>
          </a:p>
        </p:txBody>
      </p:sp>
      <p:sp>
        <p:nvSpPr>
          <p:cNvPr id="3" name="Content Placeholder 2">
            <a:extLst>
              <a:ext uri="{FF2B5EF4-FFF2-40B4-BE49-F238E27FC236}">
                <a16:creationId xmlns:a16="http://schemas.microsoft.com/office/drawing/2014/main" id="{E5A5A7E0-9741-55DC-2435-EC03F10F036E}"/>
              </a:ext>
            </a:extLst>
          </p:cNvPr>
          <p:cNvSpPr>
            <a:spLocks noGrp="1"/>
          </p:cNvSpPr>
          <p:nvPr>
            <p:ph idx="1"/>
          </p:nvPr>
        </p:nvSpPr>
        <p:spPr>
          <a:xfrm>
            <a:off x="1371600" y="1361440"/>
            <a:ext cx="10576560" cy="5323840"/>
          </a:xfrm>
        </p:spPr>
        <p:txBody>
          <a:bodyPr>
            <a:normAutofit/>
          </a:bodyPr>
          <a:lstStyle/>
          <a:p>
            <a:pPr algn="just"/>
            <a:r>
              <a:rPr lang="en-US" b="0" i="0" dirty="0">
                <a:solidFill>
                  <a:srgbClr val="222222"/>
                </a:solidFill>
                <a:effectLst/>
                <a:highlight>
                  <a:srgbClr val="FFFF00"/>
                </a:highlight>
                <a:latin typeface="Arial" panose="020B0604020202020204" pitchFamily="34" charset="0"/>
              </a:rPr>
              <a:t>State-of-the-art deep RL algorithms require enormous amounts of interaction with the environment</a:t>
            </a:r>
            <a:r>
              <a:rPr lang="en-US" b="0" i="0" dirty="0">
                <a:solidFill>
                  <a:srgbClr val="222222"/>
                </a:solidFill>
                <a:effectLst/>
                <a:latin typeface="Arial" panose="020B0604020202020204" pitchFamily="34" charset="0"/>
              </a:rPr>
              <a:t>, before learning a satisfying control policy. </a:t>
            </a:r>
            <a:r>
              <a:rPr lang="en-US" b="0" i="0" dirty="0">
                <a:solidFill>
                  <a:srgbClr val="222222"/>
                </a:solidFill>
                <a:effectLst/>
                <a:highlight>
                  <a:srgbClr val="FFFF00"/>
                </a:highlight>
                <a:latin typeface="Arial" panose="020B0604020202020204" pitchFamily="34" charset="0"/>
              </a:rPr>
              <a:t>Human intelligence in contrast, typically only requires a fraction of the required training experience</a:t>
            </a:r>
            <a:r>
              <a:rPr lang="en-US" b="0" i="0" dirty="0">
                <a:solidFill>
                  <a:srgbClr val="222222"/>
                </a:solidFill>
                <a:effectLst/>
                <a:latin typeface="Arial" panose="020B0604020202020204" pitchFamily="34" charset="0"/>
              </a:rPr>
              <a:t>, in order to solve the same tasks.</a:t>
            </a:r>
          </a:p>
          <a:p>
            <a:pPr algn="just"/>
            <a:r>
              <a:rPr lang="en-US" b="0" i="0" dirty="0">
                <a:solidFill>
                  <a:srgbClr val="222222"/>
                </a:solidFill>
                <a:effectLst/>
                <a:latin typeface="Arial" panose="020B0604020202020204" pitchFamily="34" charset="0"/>
              </a:rPr>
              <a:t>The idea that new representations can be constructed through the </a:t>
            </a:r>
            <a:r>
              <a:rPr lang="en-US" b="0" i="0" dirty="0">
                <a:solidFill>
                  <a:srgbClr val="222222"/>
                </a:solidFill>
                <a:effectLst/>
                <a:highlight>
                  <a:srgbClr val="FFFF00"/>
                </a:highlight>
                <a:latin typeface="Arial" panose="020B0604020202020204" pitchFamily="34" charset="0"/>
              </a:rPr>
              <a:t>combination of primitive</a:t>
            </a:r>
            <a:r>
              <a:rPr lang="en-US" b="0" i="0" dirty="0">
                <a:solidFill>
                  <a:srgbClr val="222222"/>
                </a:solidFill>
                <a:effectLst/>
                <a:latin typeface="Arial" panose="020B0604020202020204" pitchFamily="34" charset="0"/>
              </a:rPr>
              <a:t>s, as one of the core building blocks of human intelligence, and suggested that it will also be of typical importance in order to advance artificial learning systems. </a:t>
            </a:r>
          </a:p>
          <a:p>
            <a:pPr algn="just"/>
            <a:r>
              <a:rPr lang="en-US" b="0" i="0" dirty="0">
                <a:solidFill>
                  <a:srgbClr val="222222"/>
                </a:solidFill>
                <a:effectLst/>
                <a:latin typeface="Arial" panose="020B0604020202020204" pitchFamily="34" charset="0"/>
              </a:rPr>
              <a:t>Compositionality can be seen as a way to facilitate lifelong learning, learning new concepts, </a:t>
            </a:r>
            <a:r>
              <a:rPr lang="en-US" b="0" i="0" dirty="0">
                <a:solidFill>
                  <a:srgbClr val="222222"/>
                </a:solidFill>
                <a:effectLst/>
                <a:highlight>
                  <a:srgbClr val="FFFF00"/>
                </a:highlight>
                <a:latin typeface="Arial" panose="020B0604020202020204" pitchFamily="34" charset="0"/>
              </a:rPr>
              <a:t>by combining previously learned primitives</a:t>
            </a:r>
            <a:r>
              <a:rPr lang="en-US" b="0" i="0" dirty="0">
                <a:solidFill>
                  <a:srgbClr val="222222"/>
                </a:solidFill>
                <a:effectLst/>
                <a:latin typeface="Arial" panose="020B0604020202020204" pitchFamily="34" charset="0"/>
              </a:rPr>
              <a:t>. </a:t>
            </a:r>
          </a:p>
          <a:p>
            <a:pPr algn="just"/>
            <a:r>
              <a:rPr lang="en-US" b="0" i="0" dirty="0">
                <a:solidFill>
                  <a:srgbClr val="222222"/>
                </a:solidFill>
                <a:effectLst/>
                <a:latin typeface="Arial" panose="020B0604020202020204" pitchFamily="34" charset="0"/>
              </a:rPr>
              <a:t>HRL aims to achieve compositionality, by learning </a:t>
            </a:r>
            <a:r>
              <a:rPr lang="en-US" b="0" i="0" dirty="0">
                <a:solidFill>
                  <a:srgbClr val="222222"/>
                </a:solidFill>
                <a:effectLst/>
                <a:highlight>
                  <a:srgbClr val="FFFF00"/>
                </a:highlight>
                <a:latin typeface="Arial" panose="020B0604020202020204" pitchFamily="34" charset="0"/>
              </a:rPr>
              <a:t>reusable sub-behaviors </a:t>
            </a:r>
            <a:r>
              <a:rPr lang="en-US" b="0" i="0" dirty="0">
                <a:solidFill>
                  <a:srgbClr val="222222"/>
                </a:solidFill>
                <a:effectLst/>
                <a:latin typeface="Arial" panose="020B0604020202020204" pitchFamily="34" charset="0"/>
              </a:rPr>
              <a:t>together with a composition strategy. While compositionality in </a:t>
            </a:r>
            <a:r>
              <a:rPr lang="en-US" b="0" i="0" dirty="0">
                <a:solidFill>
                  <a:srgbClr val="222222"/>
                </a:solidFill>
                <a:effectLst/>
                <a:highlight>
                  <a:srgbClr val="FFFF00"/>
                </a:highlight>
                <a:latin typeface="Arial" panose="020B0604020202020204" pitchFamily="34" charset="0"/>
              </a:rPr>
              <a:t>HRL can be achieved in low-dimensional state-spaces</a:t>
            </a:r>
            <a:r>
              <a:rPr lang="en-US" b="0" i="0" dirty="0">
                <a:solidFill>
                  <a:srgbClr val="222222"/>
                </a:solidFill>
                <a:effectLst/>
                <a:latin typeface="Arial" panose="020B0604020202020204" pitchFamily="34" charset="0"/>
              </a:rPr>
              <a:t>, deep neural networks have been demonstrated to be capable of automatically discovering composable representations, which offer significant opportunities for HRL, to facilitate compositionality directly using high-dimensional inputs.</a:t>
            </a:r>
          </a:p>
        </p:txBody>
      </p:sp>
    </p:spTree>
    <p:extLst>
      <p:ext uri="{BB962C8B-B14F-4D97-AF65-F5344CB8AC3E}">
        <p14:creationId xmlns:p14="http://schemas.microsoft.com/office/powerpoint/2010/main" val="2914969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94F6B2-DC4F-9316-E96B-4C74EBC906AA}"/>
              </a:ext>
            </a:extLst>
          </p:cNvPr>
          <p:cNvSpPr>
            <a:spLocks noGrp="1"/>
          </p:cNvSpPr>
          <p:nvPr>
            <p:ph type="title"/>
          </p:nvPr>
        </p:nvSpPr>
        <p:spPr/>
        <p:txBody>
          <a:bodyPr>
            <a:normAutofit fontScale="90000"/>
          </a:bodyPr>
          <a:lstStyle/>
          <a:p>
            <a:r>
              <a:rPr lang="en-IN" sz="4900" dirty="0"/>
              <a:t>Mechanisms</a:t>
            </a:r>
            <a:br>
              <a:rPr lang="en-IN" sz="4900" dirty="0"/>
            </a:br>
            <a:r>
              <a:rPr lang="en-IN" sz="4900" dirty="0"/>
              <a:t>Temporal Abstractions</a:t>
            </a:r>
            <a:br>
              <a:rPr lang="en-IN" b="0" i="0" dirty="0">
                <a:solidFill>
                  <a:srgbClr val="000000"/>
                </a:solidFill>
                <a:effectLst/>
                <a:highlight>
                  <a:srgbClr val="FFFFFF"/>
                </a:highlight>
                <a:latin typeface="Arial" panose="020B0604020202020204" pitchFamily="34" charset="0"/>
              </a:rPr>
            </a:br>
            <a:endParaRPr lang="en-IN" dirty="0"/>
          </a:p>
        </p:txBody>
      </p:sp>
      <p:sp>
        <p:nvSpPr>
          <p:cNvPr id="3" name="Content Placeholder 2">
            <a:extLst>
              <a:ext uri="{FF2B5EF4-FFF2-40B4-BE49-F238E27FC236}">
                <a16:creationId xmlns:a16="http://schemas.microsoft.com/office/drawing/2014/main" id="{29507F18-5586-05CF-9D56-4004DC78378F}"/>
              </a:ext>
            </a:extLst>
          </p:cNvPr>
          <p:cNvSpPr>
            <a:spLocks noGrp="1"/>
          </p:cNvSpPr>
          <p:nvPr>
            <p:ph idx="1"/>
          </p:nvPr>
        </p:nvSpPr>
        <p:spPr>
          <a:xfrm>
            <a:off x="1371600" y="2286000"/>
            <a:ext cx="10251440" cy="3581400"/>
          </a:xfrm>
        </p:spPr>
        <p:txBody>
          <a:bodyPr>
            <a:noAutofit/>
          </a:bodyPr>
          <a:lstStyle/>
          <a:p>
            <a:pPr algn="just"/>
            <a:r>
              <a:rPr lang="en-US" sz="2400" dirty="0">
                <a:solidFill>
                  <a:srgbClr val="222222"/>
                </a:solidFill>
                <a:latin typeface="Arial" panose="020B0604020202020204" pitchFamily="34" charset="0"/>
              </a:rPr>
              <a:t>One of the core mechanisms of HRL are temporal abstractions. </a:t>
            </a:r>
            <a:r>
              <a:rPr lang="en-US" sz="2400" dirty="0">
                <a:solidFill>
                  <a:srgbClr val="222222"/>
                </a:solidFill>
                <a:highlight>
                  <a:srgbClr val="FFFF00"/>
                </a:highlight>
                <a:latin typeface="Arial" panose="020B0604020202020204" pitchFamily="34" charset="0"/>
              </a:rPr>
              <a:t>Solving complex problems often involves reasoning on multiple time scales</a:t>
            </a:r>
            <a:r>
              <a:rPr lang="en-US" sz="2400" dirty="0">
                <a:solidFill>
                  <a:srgbClr val="222222"/>
                </a:solidFill>
                <a:latin typeface="Arial" panose="020B0604020202020204" pitchFamily="34" charset="0"/>
              </a:rPr>
              <a:t>. For example, when driving to work you typically do not start planning about whether you should steer left or right. You start on a much higher level, by planning for example about what roads to take, and whether you should stop to refuel.</a:t>
            </a:r>
          </a:p>
          <a:p>
            <a:pPr algn="just"/>
            <a:r>
              <a:rPr lang="en-US" sz="2400" dirty="0">
                <a:solidFill>
                  <a:srgbClr val="222222"/>
                </a:solidFill>
                <a:latin typeface="Arial" panose="020B0604020202020204" pitchFamily="34" charset="0"/>
              </a:rPr>
              <a:t>A temporally extended action (sub-behavior), consists of a </a:t>
            </a:r>
            <a:r>
              <a:rPr lang="en-US" sz="2400" dirty="0">
                <a:solidFill>
                  <a:srgbClr val="222222"/>
                </a:solidFill>
                <a:highlight>
                  <a:srgbClr val="FFFF00"/>
                </a:highlight>
                <a:latin typeface="Arial" panose="020B0604020202020204" pitchFamily="34" charset="0"/>
              </a:rPr>
              <a:t>sequence of primitive actions and possibly other temporally extended actions</a:t>
            </a:r>
            <a:r>
              <a:rPr lang="en-US" sz="2400" dirty="0">
                <a:solidFill>
                  <a:srgbClr val="222222"/>
                </a:solidFill>
                <a:latin typeface="Arial" panose="020B0604020202020204" pitchFamily="34" charset="0"/>
              </a:rPr>
              <a:t>. These temporal abstractions can be utilized by a learning agent in order to make decisions on a higher level of abstraction. The sequence of actions that make up a temporally extended action can be fixed, or governed by a policy.</a:t>
            </a:r>
          </a:p>
          <a:p>
            <a:endParaRPr lang="en-IN" sz="2400" dirty="0"/>
          </a:p>
        </p:txBody>
      </p:sp>
    </p:spTree>
    <p:extLst>
      <p:ext uri="{BB962C8B-B14F-4D97-AF65-F5344CB8AC3E}">
        <p14:creationId xmlns:p14="http://schemas.microsoft.com/office/powerpoint/2010/main" val="14967558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268E6-623C-BFB9-0026-EBEB0BF59291}"/>
              </a:ext>
            </a:extLst>
          </p:cNvPr>
          <p:cNvSpPr>
            <a:spLocks noGrp="1"/>
          </p:cNvSpPr>
          <p:nvPr>
            <p:ph type="title"/>
          </p:nvPr>
        </p:nvSpPr>
        <p:spPr/>
        <p:txBody>
          <a:bodyPr/>
          <a:lstStyle/>
          <a:p>
            <a:r>
              <a:rPr lang="en-IN" dirty="0"/>
              <a:t>State Abstractions</a:t>
            </a:r>
            <a:br>
              <a:rPr lang="en-IN" b="0" i="0" dirty="0">
                <a:solidFill>
                  <a:srgbClr val="000000"/>
                </a:solidFill>
                <a:effectLst/>
                <a:highlight>
                  <a:srgbClr val="FFFFFF"/>
                </a:highlight>
                <a:latin typeface="Arial" panose="020B0604020202020204" pitchFamily="34" charset="0"/>
              </a:rPr>
            </a:br>
            <a:endParaRPr lang="en-IN" dirty="0"/>
          </a:p>
        </p:txBody>
      </p:sp>
      <p:sp>
        <p:nvSpPr>
          <p:cNvPr id="3" name="Content Placeholder 2">
            <a:extLst>
              <a:ext uri="{FF2B5EF4-FFF2-40B4-BE49-F238E27FC236}">
                <a16:creationId xmlns:a16="http://schemas.microsoft.com/office/drawing/2014/main" id="{97E66499-60EF-6F04-DFE4-653BA3DDE623}"/>
              </a:ext>
            </a:extLst>
          </p:cNvPr>
          <p:cNvSpPr>
            <a:spLocks noGrp="1"/>
          </p:cNvSpPr>
          <p:nvPr>
            <p:ph idx="1"/>
          </p:nvPr>
        </p:nvSpPr>
        <p:spPr>
          <a:xfrm>
            <a:off x="1371600" y="2082800"/>
            <a:ext cx="10474960" cy="3784600"/>
          </a:xfrm>
        </p:spPr>
        <p:txBody>
          <a:bodyPr>
            <a:noAutofit/>
          </a:bodyPr>
          <a:lstStyle/>
          <a:p>
            <a:pPr algn="just"/>
            <a:r>
              <a:rPr lang="en-US" sz="2300" dirty="0">
                <a:solidFill>
                  <a:srgbClr val="222222"/>
                </a:solidFill>
                <a:latin typeface="Arial" panose="020B0604020202020204" pitchFamily="34" charset="0"/>
              </a:rPr>
              <a:t>A second form of abstraction that is common in HRL, are abstractions imposed on the state-space. It is </a:t>
            </a:r>
            <a:r>
              <a:rPr lang="en-US" sz="2300" dirty="0">
                <a:solidFill>
                  <a:srgbClr val="222222"/>
                </a:solidFill>
                <a:highlight>
                  <a:srgbClr val="FFFF00"/>
                </a:highlight>
                <a:latin typeface="Arial" panose="020B0604020202020204" pitchFamily="34" charset="0"/>
              </a:rPr>
              <a:t>not feasible to learn the best action in every possible state in a high-dimensional input space</a:t>
            </a:r>
            <a:r>
              <a:rPr lang="en-US" sz="2300" dirty="0">
                <a:solidFill>
                  <a:srgbClr val="222222"/>
                </a:solidFill>
                <a:latin typeface="Arial" panose="020B0604020202020204" pitchFamily="34" charset="0"/>
              </a:rPr>
              <a:t>. Instead, we use state abstractions, </a:t>
            </a:r>
            <a:r>
              <a:rPr lang="en-US" sz="2300" dirty="0">
                <a:solidFill>
                  <a:srgbClr val="222222"/>
                </a:solidFill>
                <a:highlight>
                  <a:srgbClr val="FFFF00"/>
                </a:highlight>
                <a:latin typeface="Arial" panose="020B0604020202020204" pitchFamily="34" charset="0"/>
              </a:rPr>
              <a:t>to reason about what action to take</a:t>
            </a:r>
            <a:r>
              <a:rPr lang="en-US" sz="2300" dirty="0">
                <a:solidFill>
                  <a:srgbClr val="222222"/>
                </a:solidFill>
                <a:latin typeface="Arial" panose="020B0604020202020204" pitchFamily="34" charset="0"/>
              </a:rPr>
              <a:t>. Appropriate state abstractions have been demonstrated to significantly increase learning performance in RL problems.</a:t>
            </a:r>
          </a:p>
        </p:txBody>
      </p:sp>
    </p:spTree>
    <p:extLst>
      <p:ext uri="{BB962C8B-B14F-4D97-AF65-F5344CB8AC3E}">
        <p14:creationId xmlns:p14="http://schemas.microsoft.com/office/powerpoint/2010/main" val="26196594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4693A4-8DDD-4D18-269E-1348DF1316BC}"/>
              </a:ext>
            </a:extLst>
          </p:cNvPr>
          <p:cNvSpPr>
            <a:spLocks noGrp="1"/>
          </p:cNvSpPr>
          <p:nvPr>
            <p:ph type="title"/>
          </p:nvPr>
        </p:nvSpPr>
        <p:spPr/>
        <p:txBody>
          <a:bodyPr/>
          <a:lstStyle/>
          <a:p>
            <a:r>
              <a:rPr lang="en-IN" dirty="0"/>
              <a:t>State Abstractions</a:t>
            </a:r>
          </a:p>
        </p:txBody>
      </p:sp>
      <p:sp>
        <p:nvSpPr>
          <p:cNvPr id="3" name="Content Placeholder 2">
            <a:extLst>
              <a:ext uri="{FF2B5EF4-FFF2-40B4-BE49-F238E27FC236}">
                <a16:creationId xmlns:a16="http://schemas.microsoft.com/office/drawing/2014/main" id="{BC6F1F94-3AA5-CA20-FF30-1D155A3361C2}"/>
              </a:ext>
            </a:extLst>
          </p:cNvPr>
          <p:cNvSpPr>
            <a:spLocks noGrp="1"/>
          </p:cNvSpPr>
          <p:nvPr>
            <p:ph idx="1"/>
          </p:nvPr>
        </p:nvSpPr>
        <p:spPr/>
        <p:txBody>
          <a:bodyPr/>
          <a:lstStyle/>
          <a:p>
            <a:endParaRPr lang="en-IN"/>
          </a:p>
        </p:txBody>
      </p:sp>
      <p:pic>
        <p:nvPicPr>
          <p:cNvPr id="2050" name="Picture 2" descr="Make 04 00009 g003 550">
            <a:extLst>
              <a:ext uri="{FF2B5EF4-FFF2-40B4-BE49-F238E27FC236}">
                <a16:creationId xmlns:a16="http://schemas.microsoft.com/office/drawing/2014/main" id="{10EB6872-2103-0370-7633-E423EC7807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05025" y="1928813"/>
            <a:ext cx="8630370" cy="39385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693580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268E6-623C-BFB9-0026-EBEB0BF59291}"/>
              </a:ext>
            </a:extLst>
          </p:cNvPr>
          <p:cNvSpPr>
            <a:spLocks noGrp="1"/>
          </p:cNvSpPr>
          <p:nvPr>
            <p:ph type="title"/>
          </p:nvPr>
        </p:nvSpPr>
        <p:spPr>
          <a:xfrm>
            <a:off x="1371600" y="335280"/>
            <a:ext cx="9601200" cy="1836420"/>
          </a:xfrm>
        </p:spPr>
        <p:txBody>
          <a:bodyPr/>
          <a:lstStyle/>
          <a:p>
            <a:r>
              <a:rPr lang="en-IN" dirty="0"/>
              <a:t>State Abstractions</a:t>
            </a:r>
            <a:br>
              <a:rPr lang="en-IN" b="0" i="0" dirty="0">
                <a:solidFill>
                  <a:srgbClr val="000000"/>
                </a:solidFill>
                <a:effectLst/>
                <a:highlight>
                  <a:srgbClr val="FFFFFF"/>
                </a:highlight>
                <a:latin typeface="Arial" panose="020B0604020202020204" pitchFamily="34" charset="0"/>
              </a:rPr>
            </a:br>
            <a:endParaRPr lang="en-IN" dirty="0"/>
          </a:p>
        </p:txBody>
      </p:sp>
      <p:sp>
        <p:nvSpPr>
          <p:cNvPr id="3" name="Content Placeholder 2">
            <a:extLst>
              <a:ext uri="{FF2B5EF4-FFF2-40B4-BE49-F238E27FC236}">
                <a16:creationId xmlns:a16="http://schemas.microsoft.com/office/drawing/2014/main" id="{97E66499-60EF-6F04-DFE4-653BA3DDE623}"/>
              </a:ext>
            </a:extLst>
          </p:cNvPr>
          <p:cNvSpPr>
            <a:spLocks noGrp="1"/>
          </p:cNvSpPr>
          <p:nvPr>
            <p:ph idx="1"/>
          </p:nvPr>
        </p:nvSpPr>
        <p:spPr>
          <a:xfrm>
            <a:off x="1371600" y="1696720"/>
            <a:ext cx="10474960" cy="4826000"/>
          </a:xfrm>
        </p:spPr>
        <p:txBody>
          <a:bodyPr>
            <a:noAutofit/>
          </a:bodyPr>
          <a:lstStyle/>
          <a:p>
            <a:pPr algn="just"/>
            <a:r>
              <a:rPr lang="en-US" sz="2300" dirty="0">
                <a:solidFill>
                  <a:srgbClr val="222222"/>
                </a:solidFill>
                <a:latin typeface="Arial" panose="020B0604020202020204" pitchFamily="34" charset="0"/>
              </a:rPr>
              <a:t>Current deep RL algorithms are capable of learning their own state abstractions from raw high dimensional state-spaces. These algorithms are for example capable of detecting doors, and learn that it is beneficial to walk through these doors. Unfortunately, </a:t>
            </a:r>
            <a:r>
              <a:rPr lang="en-US" sz="2300" dirty="0">
                <a:solidFill>
                  <a:srgbClr val="222222"/>
                </a:solidFill>
                <a:highlight>
                  <a:srgbClr val="FFFF00"/>
                </a:highlight>
                <a:latin typeface="Arial" panose="020B0604020202020204" pitchFamily="34" charset="0"/>
              </a:rPr>
              <a:t>these learned state representations are often not sufficiently expressive to reason about complex environments, and develop long-horizon plans</a:t>
            </a:r>
            <a:r>
              <a:rPr lang="en-US" sz="2300" dirty="0">
                <a:solidFill>
                  <a:srgbClr val="222222"/>
                </a:solidFill>
                <a:latin typeface="Arial" panose="020B0604020202020204" pitchFamily="34" charset="0"/>
              </a:rPr>
              <a:t>.</a:t>
            </a:r>
          </a:p>
          <a:p>
            <a:pPr algn="just"/>
            <a:r>
              <a:rPr lang="en-US" sz="2300" dirty="0">
                <a:solidFill>
                  <a:srgbClr val="222222"/>
                </a:solidFill>
                <a:latin typeface="Arial" panose="020B0604020202020204" pitchFamily="34" charset="0"/>
              </a:rPr>
              <a:t>Given abstractions over the state-space, and linked temporally extended actions, the agent can reason on a higher-level about the decisions it can make. </a:t>
            </a:r>
            <a:r>
              <a:rPr lang="en-US" sz="2300" dirty="0">
                <a:solidFill>
                  <a:srgbClr val="222222"/>
                </a:solidFill>
                <a:highlight>
                  <a:srgbClr val="FFFF00"/>
                </a:highlight>
                <a:latin typeface="Arial" panose="020B0604020202020204" pitchFamily="34" charset="0"/>
              </a:rPr>
              <a:t>Instead of learning a behavior for controlling the entire raw state-space, a hierarchy of different systems is able to control various abstracted parts of the state-space through temporally extended actions</a:t>
            </a:r>
            <a:r>
              <a:rPr lang="en-US" sz="2300" dirty="0">
                <a:solidFill>
                  <a:srgbClr val="222222"/>
                </a:solidFill>
                <a:latin typeface="Arial" panose="020B0604020202020204" pitchFamily="34" charset="0"/>
              </a:rPr>
              <a:t>.</a:t>
            </a:r>
          </a:p>
          <a:p>
            <a:endParaRPr lang="en-IN" sz="2300" dirty="0"/>
          </a:p>
        </p:txBody>
      </p:sp>
    </p:spTree>
    <p:extLst>
      <p:ext uri="{BB962C8B-B14F-4D97-AF65-F5344CB8AC3E}">
        <p14:creationId xmlns:p14="http://schemas.microsoft.com/office/powerpoint/2010/main" val="42387090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266403-3F07-49B3-71F2-843D25D9A48D}"/>
              </a:ext>
            </a:extLst>
          </p:cNvPr>
          <p:cNvSpPr>
            <a:spLocks noGrp="1"/>
          </p:cNvSpPr>
          <p:nvPr>
            <p:ph type="title"/>
          </p:nvPr>
        </p:nvSpPr>
        <p:spPr/>
        <p:txBody>
          <a:bodyPr/>
          <a:lstStyle/>
          <a:p>
            <a:r>
              <a:rPr lang="en-IN" dirty="0"/>
              <a:t>State Abstractions</a:t>
            </a:r>
            <a:br>
              <a:rPr lang="en-IN" b="0" i="0" dirty="0">
                <a:solidFill>
                  <a:srgbClr val="000000"/>
                </a:solidFill>
                <a:effectLst/>
                <a:highlight>
                  <a:srgbClr val="FFFFFF"/>
                </a:highlight>
                <a:latin typeface="Arial" panose="020B0604020202020204" pitchFamily="34" charset="0"/>
              </a:rPr>
            </a:br>
            <a:endParaRPr lang="en-IN" dirty="0"/>
          </a:p>
        </p:txBody>
      </p:sp>
      <p:sp>
        <p:nvSpPr>
          <p:cNvPr id="3" name="Content Placeholder 2">
            <a:extLst>
              <a:ext uri="{FF2B5EF4-FFF2-40B4-BE49-F238E27FC236}">
                <a16:creationId xmlns:a16="http://schemas.microsoft.com/office/drawing/2014/main" id="{D0A47302-A510-CB16-4B28-54C65DBB6E26}"/>
              </a:ext>
            </a:extLst>
          </p:cNvPr>
          <p:cNvSpPr>
            <a:spLocks noGrp="1"/>
          </p:cNvSpPr>
          <p:nvPr>
            <p:ph idx="1"/>
          </p:nvPr>
        </p:nvSpPr>
        <p:spPr/>
        <p:txBody>
          <a:bodyPr>
            <a:normAutofit/>
          </a:bodyPr>
          <a:lstStyle/>
          <a:p>
            <a:pPr algn="just"/>
            <a:r>
              <a:rPr lang="en-US" sz="2500" dirty="0">
                <a:solidFill>
                  <a:srgbClr val="222222"/>
                </a:solidFill>
                <a:latin typeface="Arial" panose="020B0604020202020204" pitchFamily="34" charset="0"/>
              </a:rPr>
              <a:t>Later, it is identified the benefit of utilizing different state abstractions for different sub-behaviors. The intuition behind this idea is that when performing different sub-behaviors, other aspects of the state-space become relevant. </a:t>
            </a:r>
            <a:r>
              <a:rPr lang="en-US" sz="2500" dirty="0">
                <a:solidFill>
                  <a:srgbClr val="222222"/>
                </a:solidFill>
                <a:highlight>
                  <a:srgbClr val="FFFF00"/>
                </a:highlight>
                <a:latin typeface="Arial" panose="020B0604020202020204" pitchFamily="34" charset="0"/>
              </a:rPr>
              <a:t>Ignoring irrelevant features to the sub-behavior, allows for more efficient exploration</a:t>
            </a:r>
            <a:r>
              <a:rPr lang="en-US" sz="2500" dirty="0">
                <a:solidFill>
                  <a:srgbClr val="222222"/>
                </a:solidFill>
                <a:latin typeface="Arial" panose="020B0604020202020204" pitchFamily="34" charset="0"/>
              </a:rPr>
              <a:t>, and learning of the different temporal abstractions.</a:t>
            </a:r>
            <a:endParaRPr lang="en-IN" sz="2500" dirty="0">
              <a:solidFill>
                <a:srgbClr val="222222"/>
              </a:solidFill>
              <a:latin typeface="Arial" panose="020B0604020202020204" pitchFamily="34" charset="0"/>
            </a:endParaRPr>
          </a:p>
        </p:txBody>
      </p:sp>
    </p:spTree>
    <p:extLst>
      <p:ext uri="{BB962C8B-B14F-4D97-AF65-F5344CB8AC3E}">
        <p14:creationId xmlns:p14="http://schemas.microsoft.com/office/powerpoint/2010/main" val="19596605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F9072C-E762-06BC-6D7A-77A2AC733C67}"/>
              </a:ext>
            </a:extLst>
          </p:cNvPr>
          <p:cNvSpPr>
            <a:spLocks noGrp="1"/>
          </p:cNvSpPr>
          <p:nvPr>
            <p:ph type="title"/>
          </p:nvPr>
        </p:nvSpPr>
        <p:spPr>
          <a:xfrm>
            <a:off x="1371600" y="152400"/>
            <a:ext cx="9601200" cy="2019300"/>
          </a:xfrm>
        </p:spPr>
        <p:txBody>
          <a:bodyPr>
            <a:normAutofit/>
          </a:bodyPr>
          <a:lstStyle/>
          <a:p>
            <a:r>
              <a:rPr lang="en-IN" dirty="0"/>
              <a:t>HRL Advantages</a:t>
            </a:r>
            <a:br>
              <a:rPr lang="en-IN" dirty="0"/>
            </a:br>
            <a:r>
              <a:rPr lang="en-IN" dirty="0"/>
              <a:t>Credit Assignment</a:t>
            </a:r>
            <a:br>
              <a:rPr lang="en-IN" dirty="0"/>
            </a:br>
            <a:endParaRPr lang="en-IN" dirty="0"/>
          </a:p>
        </p:txBody>
      </p:sp>
      <p:sp>
        <p:nvSpPr>
          <p:cNvPr id="3" name="Content Placeholder 2">
            <a:extLst>
              <a:ext uri="{FF2B5EF4-FFF2-40B4-BE49-F238E27FC236}">
                <a16:creationId xmlns:a16="http://schemas.microsoft.com/office/drawing/2014/main" id="{BA730D11-EC78-0CD6-FD12-AD902D242946}"/>
              </a:ext>
            </a:extLst>
          </p:cNvPr>
          <p:cNvSpPr>
            <a:spLocks noGrp="1"/>
          </p:cNvSpPr>
          <p:nvPr>
            <p:ph idx="1"/>
          </p:nvPr>
        </p:nvSpPr>
        <p:spPr>
          <a:xfrm>
            <a:off x="1371600" y="1595120"/>
            <a:ext cx="10454640" cy="5110480"/>
          </a:xfrm>
        </p:spPr>
        <p:txBody>
          <a:bodyPr>
            <a:noAutofit/>
          </a:bodyPr>
          <a:lstStyle/>
          <a:p>
            <a:pPr algn="just"/>
            <a:r>
              <a:rPr lang="en-US" sz="2200" dirty="0">
                <a:solidFill>
                  <a:srgbClr val="222222"/>
                </a:solidFill>
                <a:latin typeface="Arial" panose="020B0604020202020204" pitchFamily="34" charset="0"/>
              </a:rPr>
              <a:t>The issue of credit assignment is a long-standing challenge in RL. Credit assignment is tasked with figuring out which action had which impact on the overall perceived reward.</a:t>
            </a:r>
          </a:p>
          <a:p>
            <a:pPr algn="just"/>
            <a:r>
              <a:rPr lang="en-US" sz="2200" dirty="0">
                <a:solidFill>
                  <a:srgbClr val="222222"/>
                </a:solidFill>
                <a:latin typeface="Arial" panose="020B0604020202020204" pitchFamily="34" charset="0"/>
              </a:rPr>
              <a:t>Temporal and state abstractions can greatly increase the sample efficiency of RL by making credit assignment less challenging. Given a set of temporal abstractions, the agent is freed from the complexity of having to reason about which action to take on every individual step. </a:t>
            </a:r>
            <a:r>
              <a:rPr lang="en-US" sz="2200" dirty="0">
                <a:solidFill>
                  <a:srgbClr val="222222"/>
                </a:solidFill>
                <a:highlight>
                  <a:srgbClr val="FFFF00"/>
                </a:highlight>
                <a:latin typeface="Arial" panose="020B0604020202020204" pitchFamily="34" charset="0"/>
              </a:rPr>
              <a:t>The agent instead activates temporal abstractions which can run for multiple steps</a:t>
            </a:r>
            <a:r>
              <a:rPr lang="en-US" sz="2200" dirty="0">
                <a:solidFill>
                  <a:srgbClr val="222222"/>
                </a:solidFill>
                <a:latin typeface="Arial" panose="020B0604020202020204" pitchFamily="34" charset="0"/>
              </a:rPr>
              <a:t>. </a:t>
            </a:r>
            <a:r>
              <a:rPr lang="en-US" sz="2200" dirty="0">
                <a:solidFill>
                  <a:srgbClr val="222222"/>
                </a:solidFill>
                <a:highlight>
                  <a:srgbClr val="FFFF00"/>
                </a:highlight>
                <a:latin typeface="Arial" panose="020B0604020202020204" pitchFamily="34" charset="0"/>
              </a:rPr>
              <a:t>When performing credit assignment by learning a value function, this has a profound effect on the efficiency of the value-backups. While utilizing primitive actions only, a value backup only goes back one step, thus when reaching a goal-state, only the expected future value of the previously visited state gets updated. </a:t>
            </a:r>
            <a:r>
              <a:rPr lang="en-US" sz="2200" dirty="0">
                <a:solidFill>
                  <a:srgbClr val="222222"/>
                </a:solidFill>
                <a:latin typeface="Arial" panose="020B0604020202020204" pitchFamily="34" charset="0"/>
              </a:rPr>
              <a:t>Using temporal abstractions, this reward gets propagated further back, allowing faster learning of a value function.</a:t>
            </a:r>
            <a:endParaRPr lang="en-IN" sz="2200" dirty="0"/>
          </a:p>
        </p:txBody>
      </p:sp>
    </p:spTree>
    <p:extLst>
      <p:ext uri="{BB962C8B-B14F-4D97-AF65-F5344CB8AC3E}">
        <p14:creationId xmlns:p14="http://schemas.microsoft.com/office/powerpoint/2010/main" val="27851531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4D7D643-5738-AB44-BBFA-65824DBC01DE}"/>
              </a:ext>
            </a:extLst>
          </p:cNvPr>
          <p:cNvSpPr>
            <a:spLocks noGrp="1"/>
          </p:cNvSpPr>
          <p:nvPr>
            <p:ph type="title"/>
          </p:nvPr>
        </p:nvSpPr>
        <p:spPr>
          <a:xfrm>
            <a:off x="1371600" y="152400"/>
            <a:ext cx="9601200" cy="2019300"/>
          </a:xfrm>
        </p:spPr>
        <p:txBody>
          <a:bodyPr>
            <a:normAutofit/>
          </a:bodyPr>
          <a:lstStyle/>
          <a:p>
            <a:r>
              <a:rPr lang="en-IN" dirty="0"/>
              <a:t>HRL Advantages</a:t>
            </a:r>
            <a:br>
              <a:rPr lang="en-IN" dirty="0"/>
            </a:br>
            <a:r>
              <a:rPr lang="en-IN" dirty="0"/>
              <a:t>Credit Assignment</a:t>
            </a:r>
            <a:br>
              <a:rPr lang="en-IN" dirty="0"/>
            </a:br>
            <a:endParaRPr lang="en-IN" dirty="0"/>
          </a:p>
        </p:txBody>
      </p:sp>
      <p:sp>
        <p:nvSpPr>
          <p:cNvPr id="3" name="Content Placeholder 2">
            <a:extLst>
              <a:ext uri="{FF2B5EF4-FFF2-40B4-BE49-F238E27FC236}">
                <a16:creationId xmlns:a16="http://schemas.microsoft.com/office/drawing/2014/main" id="{993C0BB2-17DD-8B66-5D76-7278D31AFD36}"/>
              </a:ext>
            </a:extLst>
          </p:cNvPr>
          <p:cNvSpPr>
            <a:spLocks noGrp="1"/>
          </p:cNvSpPr>
          <p:nvPr>
            <p:ph idx="1"/>
          </p:nvPr>
        </p:nvSpPr>
        <p:spPr>
          <a:xfrm>
            <a:off x="1371600" y="2286000"/>
            <a:ext cx="9601200" cy="4358640"/>
          </a:xfrm>
        </p:spPr>
        <p:txBody>
          <a:bodyPr>
            <a:normAutofit/>
          </a:bodyPr>
          <a:lstStyle/>
          <a:p>
            <a:endParaRPr lang="en-US" b="0" i="0" dirty="0">
              <a:solidFill>
                <a:srgbClr val="222222"/>
              </a:solidFill>
              <a:effectLst/>
              <a:highlight>
                <a:srgbClr val="FFFFFF"/>
              </a:highlight>
              <a:latin typeface="Arial" panose="020B0604020202020204" pitchFamily="34" charset="0"/>
            </a:endParaRPr>
          </a:p>
          <a:p>
            <a:endParaRPr lang="en-US" dirty="0">
              <a:solidFill>
                <a:srgbClr val="222222"/>
              </a:solidFill>
              <a:highlight>
                <a:srgbClr val="FFFFFF"/>
              </a:highlight>
              <a:latin typeface="Arial" panose="020B0604020202020204" pitchFamily="34" charset="0"/>
            </a:endParaRPr>
          </a:p>
          <a:p>
            <a:endParaRPr lang="en-US" b="0" i="0" dirty="0">
              <a:solidFill>
                <a:srgbClr val="222222"/>
              </a:solidFill>
              <a:effectLst/>
              <a:highlight>
                <a:srgbClr val="FFFFFF"/>
              </a:highlight>
              <a:latin typeface="Arial" panose="020B0604020202020204" pitchFamily="34" charset="0"/>
            </a:endParaRPr>
          </a:p>
          <a:p>
            <a:endParaRPr lang="en-US" dirty="0">
              <a:solidFill>
                <a:srgbClr val="222222"/>
              </a:solidFill>
              <a:highlight>
                <a:srgbClr val="FFFFFF"/>
              </a:highlight>
              <a:latin typeface="Arial" panose="020B0604020202020204" pitchFamily="34" charset="0"/>
            </a:endParaRPr>
          </a:p>
          <a:p>
            <a:endParaRPr lang="en-US" b="0" i="0" dirty="0">
              <a:solidFill>
                <a:srgbClr val="222222"/>
              </a:solidFill>
              <a:effectLst/>
              <a:highlight>
                <a:srgbClr val="FFFFFF"/>
              </a:highlight>
              <a:latin typeface="Arial" panose="020B0604020202020204" pitchFamily="34" charset="0"/>
            </a:endParaRPr>
          </a:p>
          <a:p>
            <a:endParaRPr lang="en-US" dirty="0">
              <a:solidFill>
                <a:srgbClr val="222222"/>
              </a:solidFill>
              <a:highlight>
                <a:srgbClr val="FFFFFF"/>
              </a:highlight>
              <a:latin typeface="Arial" panose="020B0604020202020204" pitchFamily="34" charset="0"/>
            </a:endParaRPr>
          </a:p>
          <a:p>
            <a:endParaRPr lang="en-US" b="0" i="0" dirty="0">
              <a:solidFill>
                <a:srgbClr val="222222"/>
              </a:solidFill>
              <a:effectLst/>
              <a:highlight>
                <a:srgbClr val="FFFFFF"/>
              </a:highlight>
              <a:latin typeface="Arial" panose="020B0604020202020204" pitchFamily="34" charset="0"/>
            </a:endParaRPr>
          </a:p>
          <a:p>
            <a:pPr marL="0" indent="0" algn="just">
              <a:buNone/>
            </a:pPr>
            <a:r>
              <a:rPr lang="en-US" sz="2200" dirty="0">
                <a:solidFill>
                  <a:srgbClr val="222222"/>
                </a:solidFill>
                <a:latin typeface="Arial" panose="020B0604020202020204" pitchFamily="34" charset="0"/>
              </a:rPr>
              <a:t>Value backups, (a) using primitive actions, and (b) using temporal abstractions. With temporal abstractions an optimal policy can be found using less value backups.</a:t>
            </a:r>
            <a:endParaRPr lang="en-IN" sz="2200" dirty="0">
              <a:solidFill>
                <a:srgbClr val="222222"/>
              </a:solidFill>
              <a:latin typeface="Arial" panose="020B0604020202020204" pitchFamily="34" charset="0"/>
            </a:endParaRPr>
          </a:p>
        </p:txBody>
      </p:sp>
      <p:pic>
        <p:nvPicPr>
          <p:cNvPr id="3074" name="Picture 2" descr="Make 04 00009 g004 550">
            <a:extLst>
              <a:ext uri="{FF2B5EF4-FFF2-40B4-BE49-F238E27FC236}">
                <a16:creationId xmlns:a16="http://schemas.microsoft.com/office/drawing/2014/main" id="{D00C8782-F6E6-324D-478A-0EA3383C4F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76625" y="1943100"/>
            <a:ext cx="5238750" cy="2971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911764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27572D-58D8-6675-534D-438B4E284FFF}"/>
              </a:ext>
            </a:extLst>
          </p:cNvPr>
          <p:cNvSpPr>
            <a:spLocks noGrp="1"/>
          </p:cNvSpPr>
          <p:nvPr>
            <p:ph type="title"/>
          </p:nvPr>
        </p:nvSpPr>
        <p:spPr>
          <a:xfrm>
            <a:off x="1371600" y="223520"/>
            <a:ext cx="9601200" cy="1948180"/>
          </a:xfrm>
        </p:spPr>
        <p:txBody>
          <a:bodyPr>
            <a:normAutofit fontScale="90000"/>
          </a:bodyPr>
          <a:lstStyle/>
          <a:p>
            <a:r>
              <a:rPr lang="en-IN" sz="4900" dirty="0"/>
              <a:t>HRL Advantages</a:t>
            </a:r>
            <a:br>
              <a:rPr lang="en-IN" sz="4900" dirty="0"/>
            </a:br>
            <a:r>
              <a:rPr lang="en-IN" sz="4900" dirty="0"/>
              <a:t>Exploration</a:t>
            </a:r>
            <a:br>
              <a:rPr lang="en-IN" b="0" i="0" dirty="0">
                <a:solidFill>
                  <a:srgbClr val="000000"/>
                </a:solidFill>
                <a:effectLst/>
                <a:highlight>
                  <a:srgbClr val="FFFFFF"/>
                </a:highlight>
                <a:latin typeface="Arial" panose="020B0604020202020204" pitchFamily="34" charset="0"/>
              </a:rPr>
            </a:br>
            <a:endParaRPr lang="en-IN" dirty="0"/>
          </a:p>
        </p:txBody>
      </p:sp>
      <p:sp>
        <p:nvSpPr>
          <p:cNvPr id="3" name="Content Placeholder 2">
            <a:extLst>
              <a:ext uri="{FF2B5EF4-FFF2-40B4-BE49-F238E27FC236}">
                <a16:creationId xmlns:a16="http://schemas.microsoft.com/office/drawing/2014/main" id="{F4C05794-D750-6102-35C3-35338C884F25}"/>
              </a:ext>
            </a:extLst>
          </p:cNvPr>
          <p:cNvSpPr>
            <a:spLocks noGrp="1"/>
          </p:cNvSpPr>
          <p:nvPr>
            <p:ph idx="1"/>
          </p:nvPr>
        </p:nvSpPr>
        <p:spPr>
          <a:xfrm>
            <a:off x="1371600" y="1676400"/>
            <a:ext cx="9601200" cy="4191000"/>
          </a:xfrm>
        </p:spPr>
        <p:txBody>
          <a:bodyPr>
            <a:noAutofit/>
          </a:bodyPr>
          <a:lstStyle/>
          <a:p>
            <a:pPr algn="just"/>
            <a:r>
              <a:rPr lang="en-US" sz="2500" dirty="0">
                <a:solidFill>
                  <a:srgbClr val="222222"/>
                </a:solidFill>
                <a:latin typeface="Arial" panose="020B0604020202020204" pitchFamily="34" charset="0"/>
              </a:rPr>
              <a:t>While improved sample efficiency through more structured credit assignment is capable of solving RL problems which previous flat RL algorithms could not solve. A recent ablation study, empirically demonstrated that the most significant contribution of current HRL architectures, lies in its capability to explore in a semantically meaningful and temporally extended fashion. </a:t>
            </a:r>
          </a:p>
          <a:p>
            <a:pPr algn="just"/>
            <a:r>
              <a:rPr lang="en-US" sz="2500" dirty="0">
                <a:solidFill>
                  <a:srgbClr val="222222"/>
                </a:solidFill>
                <a:latin typeface="Arial" panose="020B0604020202020204" pitchFamily="34" charset="0"/>
              </a:rPr>
              <a:t>Exploration, using only primitive actions often results in over-exploration of states near the starting state of the agent. Using temporal abstractions for exploration allows the agent to explore the environment in a more structural way, which allows the agent to also explore more difficult to reach states.</a:t>
            </a:r>
            <a:endParaRPr lang="en-IN" sz="2500" dirty="0">
              <a:solidFill>
                <a:srgbClr val="222222"/>
              </a:solidFill>
              <a:latin typeface="Arial" panose="020B0604020202020204" pitchFamily="34" charset="0"/>
            </a:endParaRPr>
          </a:p>
        </p:txBody>
      </p:sp>
    </p:spTree>
    <p:extLst>
      <p:ext uri="{BB962C8B-B14F-4D97-AF65-F5344CB8AC3E}">
        <p14:creationId xmlns:p14="http://schemas.microsoft.com/office/powerpoint/2010/main" val="8183990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E97EFF6-246F-AD34-41A7-6FD5C3B98084}"/>
              </a:ext>
            </a:extLst>
          </p:cNvPr>
          <p:cNvSpPr>
            <a:spLocks noGrp="1"/>
          </p:cNvSpPr>
          <p:nvPr>
            <p:ph type="title"/>
          </p:nvPr>
        </p:nvSpPr>
        <p:spPr>
          <a:xfrm>
            <a:off x="1371600" y="223520"/>
            <a:ext cx="9601200" cy="1948180"/>
          </a:xfrm>
        </p:spPr>
        <p:txBody>
          <a:bodyPr>
            <a:normAutofit fontScale="90000"/>
          </a:bodyPr>
          <a:lstStyle/>
          <a:p>
            <a:r>
              <a:rPr lang="en-IN" sz="4900" dirty="0"/>
              <a:t>HRL Advantages</a:t>
            </a:r>
            <a:br>
              <a:rPr lang="en-IN" sz="4900" dirty="0"/>
            </a:br>
            <a:r>
              <a:rPr lang="en-IN" sz="4900" dirty="0"/>
              <a:t>Exploration</a:t>
            </a:r>
            <a:br>
              <a:rPr lang="en-IN" b="0" i="0" dirty="0">
                <a:solidFill>
                  <a:srgbClr val="000000"/>
                </a:solidFill>
                <a:effectLst/>
                <a:highlight>
                  <a:srgbClr val="FFFFFF"/>
                </a:highlight>
                <a:latin typeface="Arial" panose="020B0604020202020204" pitchFamily="34" charset="0"/>
              </a:rPr>
            </a:br>
            <a:endParaRPr lang="en-IN" dirty="0"/>
          </a:p>
        </p:txBody>
      </p:sp>
      <p:sp>
        <p:nvSpPr>
          <p:cNvPr id="3" name="Content Placeholder 2">
            <a:extLst>
              <a:ext uri="{FF2B5EF4-FFF2-40B4-BE49-F238E27FC236}">
                <a16:creationId xmlns:a16="http://schemas.microsoft.com/office/drawing/2014/main" id="{B5388E45-A7C0-92E5-C2EF-C9F6060CEAB2}"/>
              </a:ext>
            </a:extLst>
          </p:cNvPr>
          <p:cNvSpPr>
            <a:spLocks noGrp="1"/>
          </p:cNvSpPr>
          <p:nvPr>
            <p:ph idx="1"/>
          </p:nvPr>
        </p:nvSpPr>
        <p:spPr>
          <a:xfrm>
            <a:off x="1371600" y="1788160"/>
            <a:ext cx="10424160" cy="4947920"/>
          </a:xfrm>
        </p:spPr>
        <p:txBody>
          <a:bodyPr>
            <a:noAutofit/>
          </a:bodyPr>
          <a:lstStyle/>
          <a:p>
            <a:pPr algn="just"/>
            <a:endParaRPr lang="en-US" sz="2500" b="0" i="0" dirty="0">
              <a:solidFill>
                <a:srgbClr val="222222"/>
              </a:solidFill>
              <a:effectLst/>
              <a:latin typeface="Arial" panose="020B0604020202020204" pitchFamily="34" charset="0"/>
            </a:endParaRPr>
          </a:p>
          <a:p>
            <a:pPr algn="just"/>
            <a:endParaRPr lang="en-US" sz="2500" dirty="0">
              <a:solidFill>
                <a:srgbClr val="222222"/>
              </a:solidFill>
              <a:latin typeface="Arial" panose="020B0604020202020204" pitchFamily="34" charset="0"/>
            </a:endParaRPr>
          </a:p>
          <a:p>
            <a:pPr algn="just"/>
            <a:endParaRPr lang="en-US" sz="2500" b="0" i="0" dirty="0">
              <a:solidFill>
                <a:srgbClr val="222222"/>
              </a:solidFill>
              <a:effectLst/>
              <a:latin typeface="Arial" panose="020B0604020202020204" pitchFamily="34" charset="0"/>
            </a:endParaRPr>
          </a:p>
          <a:p>
            <a:pPr algn="just"/>
            <a:endParaRPr lang="en-US" sz="2500" b="0" i="0" dirty="0">
              <a:solidFill>
                <a:srgbClr val="222222"/>
              </a:solidFill>
              <a:effectLst/>
              <a:latin typeface="Arial" panose="020B0604020202020204" pitchFamily="34" charset="0"/>
            </a:endParaRPr>
          </a:p>
          <a:p>
            <a:pPr algn="just"/>
            <a:r>
              <a:rPr lang="en-US" sz="2500" b="0" i="0" dirty="0">
                <a:solidFill>
                  <a:srgbClr val="222222"/>
                </a:solidFill>
                <a:effectLst/>
                <a:latin typeface="Arial" panose="020B0604020202020204" pitchFamily="34" charset="0"/>
              </a:rPr>
              <a:t>Exploration using only primitive actions, mostly explores states near the starting position of the agent (state visitation counts are represented using a red gradient). Temporal abstractions can help the agent to explore more distant states.</a:t>
            </a:r>
          </a:p>
          <a:p>
            <a:pPr algn="just"/>
            <a:r>
              <a:rPr lang="en-US" sz="2500" b="0" i="0" dirty="0">
                <a:solidFill>
                  <a:srgbClr val="222222"/>
                </a:solidFill>
                <a:effectLst/>
                <a:latin typeface="Arial" panose="020B0604020202020204" pitchFamily="34" charset="0"/>
              </a:rPr>
              <a:t>However, the opposite has also been observed. Given a suboptimal set of sub-behaviors, pathological exploration can easily worsen learning performance</a:t>
            </a:r>
            <a:endParaRPr lang="en-IN" sz="2500" dirty="0"/>
          </a:p>
        </p:txBody>
      </p:sp>
      <p:pic>
        <p:nvPicPr>
          <p:cNvPr id="4098" name="Picture 2" descr="Make 04 00009 g005 550">
            <a:extLst>
              <a:ext uri="{FF2B5EF4-FFF2-40B4-BE49-F238E27FC236}">
                <a16:creationId xmlns:a16="http://schemas.microsoft.com/office/drawing/2014/main" id="{D16E7109-17CD-5C3F-71DE-1134065A51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81650" y="933450"/>
            <a:ext cx="5238750" cy="2857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007092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B84F989-B71E-0EE7-6713-8958C4859273}"/>
              </a:ext>
            </a:extLst>
          </p:cNvPr>
          <p:cNvSpPr>
            <a:spLocks noGrp="1"/>
          </p:cNvSpPr>
          <p:nvPr>
            <p:ph idx="1"/>
          </p:nvPr>
        </p:nvSpPr>
        <p:spPr>
          <a:xfrm>
            <a:off x="1371600" y="1757680"/>
            <a:ext cx="10535920" cy="4805680"/>
          </a:xfrm>
        </p:spPr>
        <p:txBody>
          <a:bodyPr>
            <a:noAutofit/>
          </a:bodyPr>
          <a:lstStyle/>
          <a:p>
            <a:pPr algn="just"/>
            <a:r>
              <a:rPr lang="en-US" b="0" i="0" dirty="0">
                <a:solidFill>
                  <a:srgbClr val="222222"/>
                </a:solidFill>
                <a:effectLst/>
                <a:latin typeface="Arial" panose="020B0604020202020204" pitchFamily="34" charset="0"/>
              </a:rPr>
              <a:t>Problems in RL are most of the time solved from scratch, starting without any prior information. While finding a learning algorithm, capable of solving problems requiring long-term planning, without any priors, is certainly an interesting research direction. In the short-term the sample efficiency of RL can greatly be improved by building upon previously learned knowledge.</a:t>
            </a:r>
          </a:p>
          <a:p>
            <a:pPr algn="just"/>
            <a:r>
              <a:rPr lang="en-US" b="0" i="0" dirty="0">
                <a:solidFill>
                  <a:srgbClr val="222222"/>
                </a:solidFill>
                <a:effectLst/>
                <a:latin typeface="Arial" panose="020B0604020202020204" pitchFamily="34" charset="0"/>
              </a:rPr>
              <a:t>A policy learned without any abstractions is very difficult to transfer to a new problem (e.g., use a set of steering directions to navigate to a different location). In contrast, once learned, sub-behaviors can be transferred to solve different problems in similar environments. Thus, the cost associated with learning sub-behaviors should not only be weighted on a single task, but should possibly be considered over multiple tasks.</a:t>
            </a:r>
          </a:p>
          <a:p>
            <a:pPr algn="just"/>
            <a:r>
              <a:rPr lang="en-US" b="0" i="0" dirty="0">
                <a:solidFill>
                  <a:srgbClr val="222222"/>
                </a:solidFill>
                <a:effectLst/>
                <a:latin typeface="Arial" panose="020B0604020202020204" pitchFamily="34" charset="0"/>
              </a:rPr>
              <a:t>The ability of sub-behavior re-use is an important stepping stone towards agents which are capable of continual learning. More complex problems can be solved if an agent is efficiently able to improve upon what it already has learned from previous problems.</a:t>
            </a:r>
          </a:p>
          <a:p>
            <a:endParaRPr lang="en-IN" dirty="0"/>
          </a:p>
        </p:txBody>
      </p:sp>
      <p:sp>
        <p:nvSpPr>
          <p:cNvPr id="4" name="Title 1">
            <a:extLst>
              <a:ext uri="{FF2B5EF4-FFF2-40B4-BE49-F238E27FC236}">
                <a16:creationId xmlns:a16="http://schemas.microsoft.com/office/drawing/2014/main" id="{AB625D04-E574-8F8E-BBBC-512269FE1283}"/>
              </a:ext>
            </a:extLst>
          </p:cNvPr>
          <p:cNvSpPr txBox="1">
            <a:spLocks/>
          </p:cNvSpPr>
          <p:nvPr/>
        </p:nvSpPr>
        <p:spPr>
          <a:xfrm>
            <a:off x="1371600" y="223520"/>
            <a:ext cx="9601200" cy="1948180"/>
          </a:xfrm>
          <a:prstGeom prst="rect">
            <a:avLst/>
          </a:prstGeom>
        </p:spPr>
        <p:txBody>
          <a:bodyPr vert="horz" lIns="91440" tIns="45720" rIns="91440" bIns="45720" rtlCol="0" anchor="t">
            <a:normAutofit fontScale="97500" lnSpcReduction="10000"/>
          </a:bodyPr>
          <a:lst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a:lstStyle>
          <a:p>
            <a:r>
              <a:rPr lang="en-IN" sz="4900" dirty="0"/>
              <a:t>HRL Advantages</a:t>
            </a:r>
            <a:br>
              <a:rPr lang="en-IN" sz="4900" dirty="0"/>
            </a:br>
            <a:r>
              <a:rPr lang="en-IN" sz="4900" dirty="0"/>
              <a:t>Continual Learning</a:t>
            </a:r>
            <a:br>
              <a:rPr lang="en-IN" dirty="0">
                <a:solidFill>
                  <a:srgbClr val="000000"/>
                </a:solidFill>
                <a:highlight>
                  <a:srgbClr val="FFFFFF"/>
                </a:highlight>
                <a:latin typeface="Arial" panose="020B0604020202020204" pitchFamily="34" charset="0"/>
              </a:rPr>
            </a:br>
            <a:endParaRPr lang="en-IN" dirty="0"/>
          </a:p>
        </p:txBody>
      </p:sp>
    </p:spTree>
    <p:extLst>
      <p:ext uri="{BB962C8B-B14F-4D97-AF65-F5344CB8AC3E}">
        <p14:creationId xmlns:p14="http://schemas.microsoft.com/office/powerpoint/2010/main" val="36328051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D85B95-8CF9-7CBD-FFB5-E0998BA81D96}"/>
              </a:ext>
            </a:extLst>
          </p:cNvPr>
          <p:cNvSpPr>
            <a:spLocks noGrp="1"/>
          </p:cNvSpPr>
          <p:nvPr>
            <p:ph type="title"/>
          </p:nvPr>
        </p:nvSpPr>
        <p:spPr/>
        <p:txBody>
          <a:bodyPr/>
          <a:lstStyle/>
          <a:p>
            <a:r>
              <a:rPr lang="en-US" dirty="0"/>
              <a:t>Hierarchical Reinforcement Learning</a:t>
            </a:r>
            <a:endParaRPr lang="en-IN" dirty="0"/>
          </a:p>
        </p:txBody>
      </p:sp>
      <p:sp>
        <p:nvSpPr>
          <p:cNvPr id="3" name="Content Placeholder 2">
            <a:extLst>
              <a:ext uri="{FF2B5EF4-FFF2-40B4-BE49-F238E27FC236}">
                <a16:creationId xmlns:a16="http://schemas.microsoft.com/office/drawing/2014/main" id="{8FD72C92-EDA0-1763-317A-649CD843A71D}"/>
              </a:ext>
            </a:extLst>
          </p:cNvPr>
          <p:cNvSpPr>
            <a:spLocks noGrp="1"/>
          </p:cNvSpPr>
          <p:nvPr>
            <p:ph idx="1"/>
          </p:nvPr>
        </p:nvSpPr>
        <p:spPr>
          <a:xfrm>
            <a:off x="1371600" y="1656080"/>
            <a:ext cx="9601200" cy="4211320"/>
          </a:xfrm>
        </p:spPr>
        <p:txBody>
          <a:bodyPr>
            <a:noAutofit/>
          </a:bodyPr>
          <a:lstStyle/>
          <a:p>
            <a:pPr marL="0" indent="0" algn="just">
              <a:buNone/>
            </a:pPr>
            <a:r>
              <a:rPr lang="en-US" sz="2600" b="0" i="0" dirty="0">
                <a:solidFill>
                  <a:srgbClr val="242424"/>
                </a:solidFill>
                <a:effectLst/>
                <a:latin typeface="source-serif-pro"/>
              </a:rPr>
              <a:t>HRL gives us multiple benefits during training and exploration:</a:t>
            </a:r>
          </a:p>
          <a:p>
            <a:pPr algn="just">
              <a:buFont typeface="+mj-lt"/>
              <a:buAutoNum type="arabicPeriod"/>
            </a:pPr>
            <a:r>
              <a:rPr lang="en-US" sz="2600" b="0" i="0" dirty="0">
                <a:solidFill>
                  <a:srgbClr val="242424"/>
                </a:solidFill>
                <a:effectLst/>
                <a:highlight>
                  <a:srgbClr val="FFFF00"/>
                </a:highlight>
                <a:latin typeface="source-serif-pro"/>
              </a:rPr>
              <a:t>Training</a:t>
            </a:r>
            <a:r>
              <a:rPr lang="en-US" sz="2600" b="0" i="0" dirty="0">
                <a:solidFill>
                  <a:srgbClr val="242424"/>
                </a:solidFill>
                <a:effectLst/>
                <a:latin typeface="source-serif-pro"/>
              </a:rPr>
              <a:t> : Since high level correspond to multiple environmental steps, episodes are relatively shorter, thus propagating rewards faster and improving learning.</a:t>
            </a:r>
          </a:p>
          <a:p>
            <a:pPr algn="just">
              <a:buFont typeface="+mj-lt"/>
              <a:buAutoNum type="arabicPeriod"/>
            </a:pPr>
            <a:r>
              <a:rPr lang="en-US" sz="2600" b="0" i="0" dirty="0">
                <a:solidFill>
                  <a:srgbClr val="242424"/>
                </a:solidFill>
                <a:effectLst/>
                <a:latin typeface="source-serif-pro"/>
              </a:rPr>
              <a:t>Since </a:t>
            </a:r>
            <a:r>
              <a:rPr lang="en-US" sz="2600" dirty="0">
                <a:solidFill>
                  <a:srgbClr val="242424"/>
                </a:solidFill>
                <a:highlight>
                  <a:srgbClr val="FFFF00"/>
                </a:highlight>
                <a:latin typeface="source-serif-pro"/>
              </a:rPr>
              <a:t>E</a:t>
            </a:r>
            <a:r>
              <a:rPr lang="en-US" sz="2600" b="0" i="0" dirty="0">
                <a:solidFill>
                  <a:srgbClr val="242424"/>
                </a:solidFill>
                <a:effectLst/>
                <a:highlight>
                  <a:srgbClr val="FFFF00"/>
                </a:highlight>
                <a:latin typeface="source-serif-pro"/>
              </a:rPr>
              <a:t>xploration</a:t>
            </a:r>
            <a:r>
              <a:rPr lang="en-US" sz="2600" b="0" i="0" dirty="0">
                <a:solidFill>
                  <a:srgbClr val="242424"/>
                </a:solidFill>
                <a:effectLst/>
                <a:latin typeface="source-serif-pro"/>
              </a:rPr>
              <a:t> happens at a higher level, it is able to learn more meaningful policies and thus take more meaningful actions than those taken on an atomic level. Example, agent would learn better policies to reach the goal at the level of grasping objects than at the level of understanding joint movements of fingers.</a:t>
            </a:r>
          </a:p>
          <a:p>
            <a:pPr algn="just"/>
            <a:endParaRPr lang="en-IN" sz="2600" dirty="0"/>
          </a:p>
        </p:txBody>
      </p:sp>
    </p:spTree>
    <p:extLst>
      <p:ext uri="{BB962C8B-B14F-4D97-AF65-F5344CB8AC3E}">
        <p14:creationId xmlns:p14="http://schemas.microsoft.com/office/powerpoint/2010/main" val="32952951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8CFDC2-A869-732D-C9F4-3E5966A6DA10}"/>
              </a:ext>
            </a:extLst>
          </p:cNvPr>
          <p:cNvSpPr>
            <a:spLocks noGrp="1"/>
          </p:cNvSpPr>
          <p:nvPr>
            <p:ph type="title"/>
          </p:nvPr>
        </p:nvSpPr>
        <p:spPr/>
        <p:txBody>
          <a:bodyPr/>
          <a:lstStyle/>
          <a:p>
            <a:r>
              <a:rPr lang="en-IN" dirty="0"/>
              <a:t>HRL Challenges</a:t>
            </a:r>
            <a:br>
              <a:rPr lang="en-IN" b="0" i="1" dirty="0">
                <a:solidFill>
                  <a:srgbClr val="000000"/>
                </a:solidFill>
                <a:effectLst/>
                <a:highlight>
                  <a:srgbClr val="FFFFFF"/>
                </a:highlight>
                <a:latin typeface="Arial" panose="020B0604020202020204" pitchFamily="34" charset="0"/>
              </a:rPr>
            </a:br>
            <a:endParaRPr lang="en-IN" dirty="0"/>
          </a:p>
        </p:txBody>
      </p:sp>
      <p:sp>
        <p:nvSpPr>
          <p:cNvPr id="3" name="Content Placeholder 2">
            <a:extLst>
              <a:ext uri="{FF2B5EF4-FFF2-40B4-BE49-F238E27FC236}">
                <a16:creationId xmlns:a16="http://schemas.microsoft.com/office/drawing/2014/main" id="{FAD7FF7D-0EA0-2F91-EA1D-A2CBB73485FF}"/>
              </a:ext>
            </a:extLst>
          </p:cNvPr>
          <p:cNvSpPr>
            <a:spLocks noGrp="1"/>
          </p:cNvSpPr>
          <p:nvPr>
            <p:ph idx="1"/>
          </p:nvPr>
        </p:nvSpPr>
        <p:spPr/>
        <p:txBody>
          <a:bodyPr>
            <a:normAutofit fontScale="92500" lnSpcReduction="10000"/>
          </a:bodyPr>
          <a:lstStyle/>
          <a:p>
            <a:pPr marL="0" indent="0">
              <a:buNone/>
            </a:pPr>
            <a:r>
              <a:rPr lang="en-US" sz="2600" dirty="0">
                <a:solidFill>
                  <a:srgbClr val="242424"/>
                </a:solidFill>
                <a:latin typeface="source-serif-pro"/>
              </a:rPr>
              <a:t>Learning algorithms that utilize hierarchical compositions of temporally extended actions will have to define how these sub-behaviors should be discovered, how they can be developed, how efficient state-abstractions can be learned and how they can be composed</a:t>
            </a:r>
          </a:p>
          <a:p>
            <a:r>
              <a:rPr lang="en-US" sz="2600" dirty="0">
                <a:solidFill>
                  <a:srgbClr val="242424"/>
                </a:solidFill>
                <a:latin typeface="source-serif-pro"/>
              </a:rPr>
              <a:t>Automatic Discovery of Abstractions</a:t>
            </a:r>
          </a:p>
          <a:p>
            <a:r>
              <a:rPr lang="en-IN" sz="2600" dirty="0">
                <a:solidFill>
                  <a:srgbClr val="242424"/>
                </a:solidFill>
                <a:latin typeface="source-serif-pro"/>
              </a:rPr>
              <a:t>Development of Abstractions</a:t>
            </a:r>
          </a:p>
          <a:p>
            <a:r>
              <a:rPr lang="en-IN" sz="2600" dirty="0">
                <a:solidFill>
                  <a:srgbClr val="242424"/>
                </a:solidFill>
                <a:latin typeface="source-serif-pro"/>
              </a:rPr>
              <a:t>Decomposing Example Trajectories</a:t>
            </a:r>
          </a:p>
          <a:p>
            <a:r>
              <a:rPr lang="en-IN" sz="2600" dirty="0">
                <a:solidFill>
                  <a:srgbClr val="242424"/>
                </a:solidFill>
                <a:latin typeface="source-serif-pro"/>
              </a:rPr>
              <a:t>Composition</a:t>
            </a:r>
          </a:p>
          <a:p>
            <a:endParaRPr lang="en-IN" dirty="0"/>
          </a:p>
        </p:txBody>
      </p:sp>
    </p:spTree>
    <p:extLst>
      <p:ext uri="{BB962C8B-B14F-4D97-AF65-F5344CB8AC3E}">
        <p14:creationId xmlns:p14="http://schemas.microsoft.com/office/powerpoint/2010/main" val="23279214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06561D-DBAE-C0EA-00E0-ECB7DE70BF9A}"/>
              </a:ext>
            </a:extLst>
          </p:cNvPr>
          <p:cNvSpPr>
            <a:spLocks noGrp="1"/>
          </p:cNvSpPr>
          <p:nvPr>
            <p:ph type="title"/>
          </p:nvPr>
        </p:nvSpPr>
        <p:spPr/>
        <p:txBody>
          <a:bodyPr>
            <a:normAutofit fontScale="90000"/>
          </a:bodyPr>
          <a:lstStyle/>
          <a:p>
            <a:r>
              <a:rPr lang="en-IN" dirty="0"/>
              <a:t>HRL Challenges</a:t>
            </a:r>
            <a:br>
              <a:rPr lang="en-IN" dirty="0"/>
            </a:br>
            <a:r>
              <a:rPr lang="en-US" dirty="0"/>
              <a:t>Automatic Discovery of Abstractions</a:t>
            </a:r>
            <a:br>
              <a:rPr lang="en-US" b="0" i="0" dirty="0">
                <a:solidFill>
                  <a:srgbClr val="000000"/>
                </a:solidFill>
                <a:effectLst/>
                <a:highlight>
                  <a:srgbClr val="FFFFFF"/>
                </a:highlight>
                <a:latin typeface="Arial" panose="020B0604020202020204" pitchFamily="34" charset="0"/>
              </a:rPr>
            </a:br>
            <a:br>
              <a:rPr lang="en-IN" dirty="0"/>
            </a:br>
            <a:endParaRPr lang="en-IN" dirty="0"/>
          </a:p>
        </p:txBody>
      </p:sp>
      <p:sp>
        <p:nvSpPr>
          <p:cNvPr id="3" name="Content Placeholder 2">
            <a:extLst>
              <a:ext uri="{FF2B5EF4-FFF2-40B4-BE49-F238E27FC236}">
                <a16:creationId xmlns:a16="http://schemas.microsoft.com/office/drawing/2014/main" id="{B2599BF8-E9F5-2937-A94F-DF1BAC998B66}"/>
              </a:ext>
            </a:extLst>
          </p:cNvPr>
          <p:cNvSpPr>
            <a:spLocks noGrp="1"/>
          </p:cNvSpPr>
          <p:nvPr>
            <p:ph idx="1"/>
          </p:nvPr>
        </p:nvSpPr>
        <p:spPr>
          <a:xfrm>
            <a:off x="1371600" y="2021840"/>
            <a:ext cx="10515600" cy="3845560"/>
          </a:xfrm>
        </p:spPr>
        <p:txBody>
          <a:bodyPr>
            <a:noAutofit/>
          </a:bodyPr>
          <a:lstStyle/>
          <a:p>
            <a:pPr algn="just"/>
            <a:r>
              <a:rPr lang="en-US" sz="2300" b="0" i="0" dirty="0">
                <a:solidFill>
                  <a:srgbClr val="222222"/>
                </a:solidFill>
                <a:effectLst/>
                <a:latin typeface="Arial" panose="020B0604020202020204" pitchFamily="34" charset="0"/>
              </a:rPr>
              <a:t>A lot of empirical research has been conducted on algorithms that are capable of automatically learning meaningful sub-behaviors, from interaction with the environment, without any knowledge provided by an external expert, in a sample efficient way. </a:t>
            </a:r>
          </a:p>
          <a:p>
            <a:pPr algn="just"/>
            <a:r>
              <a:rPr lang="en-US" sz="2300" b="0" i="0" dirty="0">
                <a:solidFill>
                  <a:srgbClr val="222222"/>
                </a:solidFill>
                <a:effectLst/>
                <a:latin typeface="Arial" panose="020B0604020202020204" pitchFamily="34" charset="0"/>
              </a:rPr>
              <a:t>finding a small set of sub-behaviors in a limited number of steps is an </a:t>
            </a:r>
            <a:r>
              <a:rPr lang="en-US" sz="2300" b="0" i="0" dirty="0">
                <a:solidFill>
                  <a:srgbClr val="222222"/>
                </a:solidFill>
                <a:effectLst/>
                <a:highlight>
                  <a:srgbClr val="FFFF00"/>
                </a:highlight>
                <a:latin typeface="Arial" panose="020B0604020202020204" pitchFamily="34" charset="0"/>
              </a:rPr>
              <a:t>NP-hard problem</a:t>
            </a:r>
            <a:r>
              <a:rPr lang="en-US" sz="2300" b="0" i="0" dirty="0">
                <a:solidFill>
                  <a:srgbClr val="222222"/>
                </a:solidFill>
                <a:effectLst/>
                <a:latin typeface="Arial" panose="020B0604020202020204" pitchFamily="34" charset="0"/>
              </a:rPr>
              <a:t>. </a:t>
            </a:r>
          </a:p>
          <a:p>
            <a:pPr algn="just"/>
            <a:r>
              <a:rPr lang="en-US" sz="2300" b="0" i="0" dirty="0">
                <a:solidFill>
                  <a:srgbClr val="222222"/>
                </a:solidFill>
                <a:effectLst/>
                <a:latin typeface="Arial" panose="020B0604020202020204" pitchFamily="34" charset="0"/>
              </a:rPr>
              <a:t>sets of state abstractions and temporal abstractions are capable of preserving representation of near-optimal policies</a:t>
            </a:r>
            <a:r>
              <a:rPr lang="en-US" sz="2300" dirty="0">
                <a:solidFill>
                  <a:srgbClr val="222222"/>
                </a:solidFill>
                <a:latin typeface="Arial" panose="020B0604020202020204" pitchFamily="34" charset="0"/>
              </a:rPr>
              <a:t>, </a:t>
            </a:r>
            <a:r>
              <a:rPr lang="en-US" sz="2300" b="0" i="0" dirty="0">
                <a:solidFill>
                  <a:srgbClr val="222222"/>
                </a:solidFill>
                <a:effectLst/>
                <a:highlight>
                  <a:srgbClr val="FFFF00"/>
                </a:highlight>
                <a:latin typeface="Arial" panose="020B0604020202020204" pitchFamily="34" charset="0"/>
              </a:rPr>
              <a:t>method requires MDP</a:t>
            </a:r>
            <a:r>
              <a:rPr lang="en-US" sz="2300" b="0" i="0" dirty="0">
                <a:solidFill>
                  <a:srgbClr val="222222"/>
                </a:solidFill>
                <a:effectLst/>
                <a:latin typeface="Arial" panose="020B0604020202020204" pitchFamily="34" charset="0"/>
              </a:rPr>
              <a:t>.</a:t>
            </a:r>
          </a:p>
          <a:p>
            <a:pPr algn="just"/>
            <a:r>
              <a:rPr lang="en-US" sz="2300" b="0" i="0" dirty="0">
                <a:solidFill>
                  <a:srgbClr val="222222"/>
                </a:solidFill>
                <a:effectLst/>
                <a:highlight>
                  <a:srgbClr val="FFFF00"/>
                </a:highlight>
                <a:latin typeface="Arial" panose="020B0604020202020204" pitchFamily="34" charset="0"/>
              </a:rPr>
              <a:t>The most commonly used techniques to automatically discover temporal abstractions, either utilize special properties of different states, or correlate trajectories with a sub-behavior random variable</a:t>
            </a:r>
            <a:r>
              <a:rPr lang="en-US" sz="2300" b="0" i="0" dirty="0">
                <a:solidFill>
                  <a:srgbClr val="222222"/>
                </a:solidFill>
                <a:effectLst/>
                <a:latin typeface="Arial" panose="020B0604020202020204" pitchFamily="34" charset="0"/>
              </a:rPr>
              <a:t>.</a:t>
            </a:r>
          </a:p>
          <a:p>
            <a:endParaRPr lang="en-IN" sz="2300" dirty="0"/>
          </a:p>
        </p:txBody>
      </p:sp>
    </p:spTree>
    <p:extLst>
      <p:ext uri="{BB962C8B-B14F-4D97-AF65-F5344CB8AC3E}">
        <p14:creationId xmlns:p14="http://schemas.microsoft.com/office/powerpoint/2010/main" val="25255768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8180E0-B3DA-4CDB-96F4-BACA19E4458C}"/>
              </a:ext>
            </a:extLst>
          </p:cNvPr>
          <p:cNvSpPr>
            <a:spLocks noGrp="1"/>
          </p:cNvSpPr>
          <p:nvPr>
            <p:ph type="title"/>
          </p:nvPr>
        </p:nvSpPr>
        <p:spPr/>
        <p:txBody>
          <a:bodyPr>
            <a:normAutofit fontScale="90000"/>
          </a:bodyPr>
          <a:lstStyle/>
          <a:p>
            <a:r>
              <a:rPr lang="en-IN" dirty="0"/>
              <a:t>HRL Challenges</a:t>
            </a:r>
            <a:br>
              <a:rPr lang="en-US" dirty="0"/>
            </a:br>
            <a:r>
              <a:rPr lang="en-US" dirty="0"/>
              <a:t>Development of Abstractions</a:t>
            </a:r>
            <a:br>
              <a:rPr lang="en-US" b="0" i="0" dirty="0">
                <a:solidFill>
                  <a:srgbClr val="000000"/>
                </a:solidFill>
                <a:effectLst/>
                <a:highlight>
                  <a:srgbClr val="FFFFFF"/>
                </a:highlight>
                <a:latin typeface="Arial" panose="020B0604020202020204" pitchFamily="34" charset="0"/>
              </a:rPr>
            </a:br>
            <a:endParaRPr lang="en-IN" dirty="0"/>
          </a:p>
        </p:txBody>
      </p:sp>
      <p:sp>
        <p:nvSpPr>
          <p:cNvPr id="3" name="Content Placeholder 2">
            <a:extLst>
              <a:ext uri="{FF2B5EF4-FFF2-40B4-BE49-F238E27FC236}">
                <a16:creationId xmlns:a16="http://schemas.microsoft.com/office/drawing/2014/main" id="{4A95A235-D5DC-4229-4168-1FF89290790C}"/>
              </a:ext>
            </a:extLst>
          </p:cNvPr>
          <p:cNvSpPr>
            <a:spLocks noGrp="1"/>
          </p:cNvSpPr>
          <p:nvPr>
            <p:ph idx="1"/>
          </p:nvPr>
        </p:nvSpPr>
        <p:spPr>
          <a:xfrm>
            <a:off x="1371600" y="1930400"/>
            <a:ext cx="10474960" cy="4673600"/>
          </a:xfrm>
        </p:spPr>
        <p:txBody>
          <a:bodyPr>
            <a:noAutofit/>
          </a:bodyPr>
          <a:lstStyle/>
          <a:p>
            <a:pPr algn="just"/>
            <a:r>
              <a:rPr lang="en-US" sz="2400" dirty="0">
                <a:solidFill>
                  <a:srgbClr val="222222"/>
                </a:solidFill>
                <a:latin typeface="Arial" panose="020B0604020202020204" pitchFamily="34" charset="0"/>
              </a:rPr>
              <a:t>In order to use temporally extended actions, they need to receive enough suitable samples from the environment in order to become sufficiently developed.</a:t>
            </a:r>
          </a:p>
          <a:p>
            <a:pPr algn="just"/>
            <a:r>
              <a:rPr lang="en-US" sz="2400" dirty="0">
                <a:solidFill>
                  <a:srgbClr val="222222"/>
                </a:solidFill>
                <a:latin typeface="Arial" panose="020B0604020202020204" pitchFamily="34" charset="0"/>
              </a:rPr>
              <a:t>In the most promising HRL approaches, sub-behaviors are developed end-to-end, while they are also being discovered.</a:t>
            </a:r>
          </a:p>
          <a:p>
            <a:pPr algn="just"/>
            <a:r>
              <a:rPr lang="en-US" sz="2400" dirty="0">
                <a:solidFill>
                  <a:srgbClr val="222222"/>
                </a:solidFill>
                <a:latin typeface="Arial" panose="020B0604020202020204" pitchFamily="34" charset="0"/>
              </a:rPr>
              <a:t>For example: </a:t>
            </a:r>
            <a:r>
              <a:rPr lang="en-US" sz="2400" dirty="0">
                <a:solidFill>
                  <a:srgbClr val="222222"/>
                </a:solidFill>
                <a:highlight>
                  <a:srgbClr val="FFFF00"/>
                </a:highlight>
                <a:latin typeface="Arial" panose="020B0604020202020204" pitchFamily="34" charset="0"/>
              </a:rPr>
              <a:t>the state-space could be split in a few equal parts, with a sub-behavior assigned to each part. In a second phase, the sub-behaviors can be developed by for example randomly activating them</a:t>
            </a:r>
            <a:r>
              <a:rPr lang="en-US" sz="2400" dirty="0">
                <a:solidFill>
                  <a:srgbClr val="222222"/>
                </a:solidFill>
                <a:latin typeface="Arial" panose="020B0604020202020204" pitchFamily="34" charset="0"/>
              </a:rPr>
              <a:t>. </a:t>
            </a:r>
          </a:p>
          <a:p>
            <a:pPr algn="just"/>
            <a:r>
              <a:rPr lang="en-US" sz="2400" dirty="0">
                <a:solidFill>
                  <a:srgbClr val="222222"/>
                </a:solidFill>
                <a:latin typeface="Arial" panose="020B0604020202020204" pitchFamily="34" charset="0"/>
              </a:rPr>
              <a:t>If multiple sub-behaviors are generalized by a single parameterized function, samples can be used to train multiple sub-behaviors at the same time. Similarly, </a:t>
            </a:r>
            <a:r>
              <a:rPr lang="en-US" sz="2400" dirty="0">
                <a:solidFill>
                  <a:srgbClr val="222222"/>
                </a:solidFill>
                <a:highlight>
                  <a:srgbClr val="FFFF00"/>
                </a:highlight>
                <a:latin typeface="Arial" panose="020B0604020202020204" pitchFamily="34" charset="0"/>
              </a:rPr>
              <a:t>off-policy methods can be used to simultaneously develop multiple abstractions</a:t>
            </a:r>
            <a:r>
              <a:rPr lang="en-US" sz="2400" dirty="0">
                <a:solidFill>
                  <a:srgbClr val="222222"/>
                </a:solidFill>
                <a:latin typeface="Arial" panose="020B0604020202020204" pitchFamily="34" charset="0"/>
              </a:rPr>
              <a:t>.</a:t>
            </a:r>
          </a:p>
          <a:p>
            <a:endParaRPr lang="en-IN" sz="2400" dirty="0"/>
          </a:p>
        </p:txBody>
      </p:sp>
    </p:spTree>
    <p:extLst>
      <p:ext uri="{BB962C8B-B14F-4D97-AF65-F5344CB8AC3E}">
        <p14:creationId xmlns:p14="http://schemas.microsoft.com/office/powerpoint/2010/main" val="12297686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377035-938B-6EEF-160D-FB31E87C393B}"/>
              </a:ext>
            </a:extLst>
          </p:cNvPr>
          <p:cNvSpPr>
            <a:spLocks noGrp="1"/>
          </p:cNvSpPr>
          <p:nvPr>
            <p:ph type="title"/>
          </p:nvPr>
        </p:nvSpPr>
        <p:spPr/>
        <p:txBody>
          <a:bodyPr>
            <a:normAutofit fontScale="90000"/>
          </a:bodyPr>
          <a:lstStyle/>
          <a:p>
            <a:r>
              <a:rPr lang="en-IN" dirty="0"/>
              <a:t>HRL Challenges</a:t>
            </a:r>
            <a:br>
              <a:rPr lang="en-US" dirty="0"/>
            </a:br>
            <a:r>
              <a:rPr lang="en-US" dirty="0"/>
              <a:t>Decomposing Example Trajectories</a:t>
            </a:r>
            <a:br>
              <a:rPr lang="en-US" b="0" i="0" dirty="0">
                <a:solidFill>
                  <a:srgbClr val="000000"/>
                </a:solidFill>
                <a:effectLst/>
                <a:highlight>
                  <a:srgbClr val="FFFFFF"/>
                </a:highlight>
                <a:latin typeface="Arial" panose="020B0604020202020204" pitchFamily="34" charset="0"/>
              </a:rPr>
            </a:br>
            <a:br>
              <a:rPr lang="en-US" b="0" i="0" dirty="0">
                <a:solidFill>
                  <a:srgbClr val="000000"/>
                </a:solidFill>
                <a:effectLst/>
                <a:highlight>
                  <a:srgbClr val="FFFFFF"/>
                </a:highlight>
                <a:latin typeface="Arial" panose="020B0604020202020204" pitchFamily="34" charset="0"/>
              </a:rPr>
            </a:br>
            <a:endParaRPr lang="en-IN" dirty="0"/>
          </a:p>
        </p:txBody>
      </p:sp>
      <p:sp>
        <p:nvSpPr>
          <p:cNvPr id="3" name="Content Placeholder 2">
            <a:extLst>
              <a:ext uri="{FF2B5EF4-FFF2-40B4-BE49-F238E27FC236}">
                <a16:creationId xmlns:a16="http://schemas.microsoft.com/office/drawing/2014/main" id="{81B69C23-FCFE-7DA9-EC2D-A44B38819D04}"/>
              </a:ext>
            </a:extLst>
          </p:cNvPr>
          <p:cNvSpPr>
            <a:spLocks noGrp="1"/>
          </p:cNvSpPr>
          <p:nvPr>
            <p:ph idx="1"/>
          </p:nvPr>
        </p:nvSpPr>
        <p:spPr>
          <a:xfrm>
            <a:off x="1371600" y="2286000"/>
            <a:ext cx="10546080" cy="3581400"/>
          </a:xfrm>
        </p:spPr>
        <p:txBody>
          <a:bodyPr>
            <a:noAutofit/>
          </a:bodyPr>
          <a:lstStyle/>
          <a:p>
            <a:pPr algn="just"/>
            <a:r>
              <a:rPr lang="en-US" sz="2400" dirty="0">
                <a:solidFill>
                  <a:srgbClr val="222222"/>
                </a:solidFill>
                <a:latin typeface="Arial" panose="020B0604020202020204" pitchFamily="34" charset="0"/>
              </a:rPr>
              <a:t>HRL can maximize the utility of demonstrations by decomposing them into sub-behaviors. </a:t>
            </a:r>
            <a:r>
              <a:rPr lang="en-US" sz="2400" dirty="0">
                <a:solidFill>
                  <a:srgbClr val="222222"/>
                </a:solidFill>
                <a:highlight>
                  <a:srgbClr val="FFFF00"/>
                </a:highlight>
                <a:latin typeface="Arial" panose="020B0604020202020204" pitchFamily="34" charset="0"/>
              </a:rPr>
              <a:t>Instead of learning a single task from demonstrations, the discovered sub-behaviors can be used as building blocks to solve a range of related tasks, potentially without the need of additional demonstrations</a:t>
            </a:r>
            <a:r>
              <a:rPr lang="en-US" sz="2400" dirty="0">
                <a:solidFill>
                  <a:srgbClr val="222222"/>
                </a:solidFill>
                <a:latin typeface="Arial" panose="020B0604020202020204" pitchFamily="34" charset="0"/>
              </a:rPr>
              <a:t>.</a:t>
            </a:r>
          </a:p>
          <a:p>
            <a:pPr algn="just"/>
            <a:r>
              <a:rPr lang="en-US" sz="2400" dirty="0">
                <a:solidFill>
                  <a:srgbClr val="222222"/>
                </a:solidFill>
                <a:latin typeface="Arial" panose="020B0604020202020204" pitchFamily="34" charset="0"/>
              </a:rPr>
              <a:t>While imitation learning typically is used to solve a single problem, if imitation learning is used to discover temporal abstractions, these abstractions might be </a:t>
            </a:r>
            <a:r>
              <a:rPr lang="en-US" sz="2400" dirty="0">
                <a:solidFill>
                  <a:srgbClr val="222222"/>
                </a:solidFill>
                <a:highlight>
                  <a:srgbClr val="FFFF00"/>
                </a:highlight>
                <a:latin typeface="Arial" panose="020B0604020202020204" pitchFamily="34" charset="0"/>
              </a:rPr>
              <a:t>re-used to solve multiple similar problems</a:t>
            </a:r>
            <a:r>
              <a:rPr lang="en-US" sz="2400" dirty="0">
                <a:solidFill>
                  <a:srgbClr val="222222"/>
                </a:solidFill>
                <a:latin typeface="Arial" panose="020B0604020202020204" pitchFamily="34" charset="0"/>
              </a:rPr>
              <a:t>.</a:t>
            </a:r>
          </a:p>
          <a:p>
            <a:pPr algn="just"/>
            <a:r>
              <a:rPr lang="en-US" sz="2400" dirty="0">
                <a:solidFill>
                  <a:srgbClr val="222222"/>
                </a:solidFill>
                <a:latin typeface="Arial" panose="020B0604020202020204" pitchFamily="34" charset="0"/>
              </a:rPr>
              <a:t>Providing a reward-function for a control problem is often a complex issue in itself</a:t>
            </a:r>
            <a:endParaRPr lang="en-IN" sz="2400" dirty="0">
              <a:solidFill>
                <a:srgbClr val="222222"/>
              </a:solidFill>
              <a:latin typeface="Arial" panose="020B0604020202020204" pitchFamily="34" charset="0"/>
            </a:endParaRPr>
          </a:p>
        </p:txBody>
      </p:sp>
    </p:spTree>
    <p:extLst>
      <p:ext uri="{BB962C8B-B14F-4D97-AF65-F5344CB8AC3E}">
        <p14:creationId xmlns:p14="http://schemas.microsoft.com/office/powerpoint/2010/main" val="5228440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DCC54-BDCE-38FD-4E88-524AAEC5F84C}"/>
              </a:ext>
            </a:extLst>
          </p:cNvPr>
          <p:cNvSpPr>
            <a:spLocks noGrp="1"/>
          </p:cNvSpPr>
          <p:nvPr>
            <p:ph type="title"/>
          </p:nvPr>
        </p:nvSpPr>
        <p:spPr/>
        <p:txBody>
          <a:bodyPr/>
          <a:lstStyle/>
          <a:p>
            <a:r>
              <a:rPr lang="en-IN" dirty="0"/>
              <a:t>HRL Challenges</a:t>
            </a:r>
            <a:br>
              <a:rPr lang="en-US" dirty="0"/>
            </a:br>
            <a:r>
              <a:rPr lang="en-US" dirty="0"/>
              <a:t>Composition</a:t>
            </a:r>
            <a:endParaRPr lang="en-IN" dirty="0"/>
          </a:p>
        </p:txBody>
      </p:sp>
      <p:sp>
        <p:nvSpPr>
          <p:cNvPr id="3" name="Content Placeholder 2">
            <a:extLst>
              <a:ext uri="{FF2B5EF4-FFF2-40B4-BE49-F238E27FC236}">
                <a16:creationId xmlns:a16="http://schemas.microsoft.com/office/drawing/2014/main" id="{91F0F25A-4CBA-FCE3-DE91-E5CD724D683A}"/>
              </a:ext>
            </a:extLst>
          </p:cNvPr>
          <p:cNvSpPr>
            <a:spLocks noGrp="1"/>
          </p:cNvSpPr>
          <p:nvPr>
            <p:ph idx="1"/>
          </p:nvPr>
        </p:nvSpPr>
        <p:spPr>
          <a:xfrm>
            <a:off x="1371600" y="2082800"/>
            <a:ext cx="10312400" cy="3784600"/>
          </a:xfrm>
        </p:spPr>
        <p:txBody>
          <a:bodyPr>
            <a:noAutofit/>
          </a:bodyPr>
          <a:lstStyle/>
          <a:p>
            <a:pPr algn="just"/>
            <a:r>
              <a:rPr lang="en-US" sz="2300" dirty="0"/>
              <a:t>Sub-behaviors alone are not enough to solve HRL problems. They need to be composed in order to form complex plans. There are two major approaches which are commonly used to learn compositions:</a:t>
            </a:r>
          </a:p>
          <a:p>
            <a:pPr algn="just"/>
            <a:r>
              <a:rPr lang="en-US" sz="2300" dirty="0"/>
              <a:t>Bottom-up training: the sub-behaviors are discovered and developed first. Once they have been sufficiently developed, they are frozen, and a composition-policy is learned by sampling different sub-behaviors. </a:t>
            </a:r>
            <a:r>
              <a:rPr lang="en-US" sz="2300" dirty="0">
                <a:highlight>
                  <a:srgbClr val="FFFF00"/>
                </a:highlight>
              </a:rPr>
              <a:t>Sub-behaviors learned using a bottom-up approach, can often also be transferred to solve similar problems</a:t>
            </a:r>
          </a:p>
          <a:p>
            <a:pPr algn="just"/>
            <a:r>
              <a:rPr lang="en-US" sz="2300" dirty="0"/>
              <a:t>Top-down training: the higher-level first selects a subgoal 𝑔∈𝑆 it deems interesting in order to reach the overall goal. Once selected, the lower-level is trained to reach the proposed subgoal. This approach is often </a:t>
            </a:r>
            <a:r>
              <a:rPr lang="en-US" sz="2300" dirty="0">
                <a:highlight>
                  <a:srgbClr val="FFFF00"/>
                </a:highlight>
              </a:rPr>
              <a:t>more efficient in solving a single control problem</a:t>
            </a:r>
            <a:r>
              <a:rPr lang="en-US" sz="2300" dirty="0"/>
              <a:t>.</a:t>
            </a:r>
            <a:endParaRPr lang="en-IN" sz="2300" dirty="0"/>
          </a:p>
        </p:txBody>
      </p:sp>
    </p:spTree>
    <p:extLst>
      <p:ext uri="{BB962C8B-B14F-4D97-AF65-F5344CB8AC3E}">
        <p14:creationId xmlns:p14="http://schemas.microsoft.com/office/powerpoint/2010/main" val="35471883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138C31-A103-6694-BDC2-6293C2D771FF}"/>
              </a:ext>
            </a:extLst>
          </p:cNvPr>
          <p:cNvSpPr>
            <a:spLocks noGrp="1"/>
          </p:cNvSpPr>
          <p:nvPr>
            <p:ph type="title"/>
          </p:nvPr>
        </p:nvSpPr>
        <p:spPr/>
        <p:txBody>
          <a:bodyPr/>
          <a:lstStyle/>
          <a:p>
            <a:r>
              <a:rPr lang="en-US" dirty="0"/>
              <a:t>Hierarchical Reinforcement Learning</a:t>
            </a:r>
            <a:endParaRPr lang="en-IN" dirty="0"/>
          </a:p>
        </p:txBody>
      </p:sp>
      <p:sp>
        <p:nvSpPr>
          <p:cNvPr id="3" name="Content Placeholder 2">
            <a:extLst>
              <a:ext uri="{FF2B5EF4-FFF2-40B4-BE49-F238E27FC236}">
                <a16:creationId xmlns:a16="http://schemas.microsoft.com/office/drawing/2014/main" id="{6BF69ECA-585B-8E9B-506E-6C9E7A3FC932}"/>
              </a:ext>
            </a:extLst>
          </p:cNvPr>
          <p:cNvSpPr>
            <a:spLocks noGrp="1"/>
          </p:cNvSpPr>
          <p:nvPr>
            <p:ph idx="1"/>
          </p:nvPr>
        </p:nvSpPr>
        <p:spPr/>
        <p:txBody>
          <a:bodyPr/>
          <a:lstStyle/>
          <a:p>
            <a:pPr algn="l"/>
            <a:r>
              <a:rPr lang="en-US" sz="2800" dirty="0">
                <a:solidFill>
                  <a:srgbClr val="242424"/>
                </a:solidFill>
                <a:latin typeface="source-serif-pro"/>
              </a:rPr>
              <a:t>A few common architectures for HRL are-</a:t>
            </a:r>
          </a:p>
          <a:p>
            <a:pPr algn="l">
              <a:buFont typeface="+mj-lt"/>
              <a:buAutoNum type="arabicPeriod"/>
            </a:pPr>
            <a:r>
              <a:rPr lang="en-US" sz="2800" dirty="0">
                <a:solidFill>
                  <a:srgbClr val="242424"/>
                </a:solidFill>
                <a:latin typeface="source-serif-pro"/>
                <a:hlinkClick r:id="rId2">
                  <a:extLst>
                    <a:ext uri="{A12FA001-AC4F-418D-AE19-62706E023703}">
                      <ahyp:hlinkClr xmlns:ahyp="http://schemas.microsoft.com/office/drawing/2018/hyperlinkcolor" val="tx"/>
                    </a:ext>
                  </a:extLst>
                </a:hlinkClick>
              </a:rPr>
              <a:t>Option — Critic Framework</a:t>
            </a:r>
            <a:endParaRPr lang="en-US" sz="2800" dirty="0">
              <a:solidFill>
                <a:srgbClr val="242424"/>
              </a:solidFill>
              <a:latin typeface="source-serif-pro"/>
            </a:endParaRPr>
          </a:p>
          <a:p>
            <a:pPr algn="l">
              <a:buFont typeface="+mj-lt"/>
              <a:buAutoNum type="arabicPeriod"/>
            </a:pPr>
            <a:r>
              <a:rPr lang="en-US" sz="2800" dirty="0">
                <a:solidFill>
                  <a:srgbClr val="242424"/>
                </a:solidFill>
                <a:latin typeface="source-serif-pro"/>
                <a:hlinkClick r:id="rId3">
                  <a:extLst>
                    <a:ext uri="{A12FA001-AC4F-418D-AE19-62706E023703}">
                      <ahyp:hlinkClr xmlns:ahyp="http://schemas.microsoft.com/office/drawing/2018/hyperlinkcolor" val="tx"/>
                    </a:ext>
                  </a:extLst>
                </a:hlinkClick>
              </a:rPr>
              <a:t>Feudal Reinforcement Learning</a:t>
            </a:r>
            <a:endParaRPr lang="en-US" sz="2800" dirty="0">
              <a:solidFill>
                <a:srgbClr val="242424"/>
              </a:solidFill>
              <a:latin typeface="source-serif-pro"/>
            </a:endParaRPr>
          </a:p>
          <a:p>
            <a:endParaRPr lang="en-IN" dirty="0"/>
          </a:p>
        </p:txBody>
      </p:sp>
    </p:spTree>
    <p:extLst>
      <p:ext uri="{BB962C8B-B14F-4D97-AF65-F5344CB8AC3E}">
        <p14:creationId xmlns:p14="http://schemas.microsoft.com/office/powerpoint/2010/main" val="6128933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E4F836-DF8C-0904-EE9A-2D93AB0A50C5}"/>
              </a:ext>
            </a:extLst>
          </p:cNvPr>
          <p:cNvSpPr>
            <a:spLocks noGrp="1"/>
          </p:cNvSpPr>
          <p:nvPr>
            <p:ph type="title"/>
          </p:nvPr>
        </p:nvSpPr>
        <p:spPr/>
        <p:txBody>
          <a:bodyPr/>
          <a:lstStyle/>
          <a:p>
            <a:r>
              <a:rPr lang="en-US" dirty="0"/>
              <a:t>Option-Critic framework</a:t>
            </a:r>
            <a:endParaRPr lang="en-IN" dirty="0"/>
          </a:p>
        </p:txBody>
      </p:sp>
      <p:sp>
        <p:nvSpPr>
          <p:cNvPr id="3" name="Content Placeholder 2">
            <a:extLst>
              <a:ext uri="{FF2B5EF4-FFF2-40B4-BE49-F238E27FC236}">
                <a16:creationId xmlns:a16="http://schemas.microsoft.com/office/drawing/2014/main" id="{E605FC44-7205-4B61-1267-9585F2405F72}"/>
              </a:ext>
            </a:extLst>
          </p:cNvPr>
          <p:cNvSpPr>
            <a:spLocks noGrp="1"/>
          </p:cNvSpPr>
          <p:nvPr>
            <p:ph idx="1"/>
          </p:nvPr>
        </p:nvSpPr>
        <p:spPr/>
        <p:txBody>
          <a:bodyPr/>
          <a:lstStyle/>
          <a:p>
            <a:endParaRPr lang="en-IN" sz="2800" dirty="0">
              <a:solidFill>
                <a:srgbClr val="242424"/>
              </a:solidFill>
              <a:latin typeface="source-serif-pro"/>
            </a:endParaRPr>
          </a:p>
        </p:txBody>
      </p:sp>
      <p:pic>
        <p:nvPicPr>
          <p:cNvPr id="5" name="Picture 4">
            <a:extLst>
              <a:ext uri="{FF2B5EF4-FFF2-40B4-BE49-F238E27FC236}">
                <a16:creationId xmlns:a16="http://schemas.microsoft.com/office/drawing/2014/main" id="{E091FE48-19C7-970B-226C-5D2BD52BC54E}"/>
              </a:ext>
            </a:extLst>
          </p:cNvPr>
          <p:cNvPicPr>
            <a:picLocks noChangeAspect="1"/>
          </p:cNvPicPr>
          <p:nvPr/>
        </p:nvPicPr>
        <p:blipFill>
          <a:blip r:embed="rId2">
            <a:extLst>
              <a:ext uri="{BEBA8EAE-BF5A-486C-A8C5-ECC9F3942E4B}">
                <a14:imgProps xmlns:a14="http://schemas.microsoft.com/office/drawing/2010/main">
                  <a14:imgLayer r:embed="rId3">
                    <a14:imgEffect>
                      <a14:saturation sat="400000"/>
                    </a14:imgEffect>
                  </a14:imgLayer>
                </a14:imgProps>
              </a:ext>
            </a:extLst>
          </a:blip>
          <a:stretch>
            <a:fillRect/>
          </a:stretch>
        </p:blipFill>
        <p:spPr>
          <a:xfrm>
            <a:off x="3646170" y="1585595"/>
            <a:ext cx="5426802" cy="4926965"/>
          </a:xfrm>
          <a:prstGeom prst="rect">
            <a:avLst/>
          </a:prstGeom>
        </p:spPr>
      </p:pic>
    </p:spTree>
    <p:extLst>
      <p:ext uri="{BB962C8B-B14F-4D97-AF65-F5344CB8AC3E}">
        <p14:creationId xmlns:p14="http://schemas.microsoft.com/office/powerpoint/2010/main" val="23373120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0A3B97-9596-B822-6A1A-D378D5EE649A}"/>
              </a:ext>
            </a:extLst>
          </p:cNvPr>
          <p:cNvSpPr>
            <a:spLocks noGrp="1"/>
          </p:cNvSpPr>
          <p:nvPr>
            <p:ph type="title"/>
          </p:nvPr>
        </p:nvSpPr>
        <p:spPr/>
        <p:txBody>
          <a:bodyPr/>
          <a:lstStyle/>
          <a:p>
            <a:r>
              <a:rPr lang="en-US" dirty="0"/>
              <a:t>Feudal Reinforcement Learning </a:t>
            </a:r>
            <a:endParaRPr lang="en-IN" dirty="0"/>
          </a:p>
        </p:txBody>
      </p:sp>
      <p:sp>
        <p:nvSpPr>
          <p:cNvPr id="3" name="Content Placeholder 2">
            <a:extLst>
              <a:ext uri="{FF2B5EF4-FFF2-40B4-BE49-F238E27FC236}">
                <a16:creationId xmlns:a16="http://schemas.microsoft.com/office/drawing/2014/main" id="{1EB8E007-8B6D-6B41-95C2-AF037CC0912C}"/>
              </a:ext>
            </a:extLst>
          </p:cNvPr>
          <p:cNvSpPr>
            <a:spLocks noGrp="1"/>
          </p:cNvSpPr>
          <p:nvPr>
            <p:ph idx="1"/>
          </p:nvPr>
        </p:nvSpPr>
        <p:spPr>
          <a:xfrm>
            <a:off x="6339878" y="2286000"/>
            <a:ext cx="4632921" cy="3581400"/>
          </a:xfrm>
        </p:spPr>
        <p:txBody>
          <a:bodyPr>
            <a:normAutofit/>
          </a:bodyPr>
          <a:lstStyle/>
          <a:p>
            <a:pPr algn="just"/>
            <a:r>
              <a:rPr lang="en-US" sz="2500" dirty="0"/>
              <a:t>The Grid Task. This shows how the maze is divided up at different levels in the hierarchy. The 'u' shape is the barrier, and the shaded square is the goal. Each high level state is divided into four low level ones at every step. </a:t>
            </a:r>
            <a:endParaRPr lang="en-IN" sz="2500" dirty="0"/>
          </a:p>
        </p:txBody>
      </p:sp>
      <p:pic>
        <p:nvPicPr>
          <p:cNvPr id="5" name="Picture 4">
            <a:extLst>
              <a:ext uri="{FF2B5EF4-FFF2-40B4-BE49-F238E27FC236}">
                <a16:creationId xmlns:a16="http://schemas.microsoft.com/office/drawing/2014/main" id="{6DA0A22B-B3AF-0E70-EC24-5302A034E1A8}"/>
              </a:ext>
            </a:extLst>
          </p:cNvPr>
          <p:cNvPicPr>
            <a:picLocks noChangeAspect="1"/>
          </p:cNvPicPr>
          <p:nvPr/>
        </p:nvPicPr>
        <p:blipFill>
          <a:blip r:embed="rId2"/>
          <a:stretch>
            <a:fillRect/>
          </a:stretch>
        </p:blipFill>
        <p:spPr>
          <a:xfrm>
            <a:off x="1729105" y="1757680"/>
            <a:ext cx="4253269" cy="4828222"/>
          </a:xfrm>
          <a:prstGeom prst="rect">
            <a:avLst/>
          </a:prstGeom>
        </p:spPr>
      </p:pic>
    </p:spTree>
    <p:extLst>
      <p:ext uri="{BB962C8B-B14F-4D97-AF65-F5344CB8AC3E}">
        <p14:creationId xmlns:p14="http://schemas.microsoft.com/office/powerpoint/2010/main" val="7496765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35883-F01B-5517-957D-A5CDFB1F3FF8}"/>
              </a:ext>
            </a:extLst>
          </p:cNvPr>
          <p:cNvSpPr>
            <a:spLocks noGrp="1"/>
          </p:cNvSpPr>
          <p:nvPr>
            <p:ph type="title"/>
          </p:nvPr>
        </p:nvSpPr>
        <p:spPr/>
        <p:txBody>
          <a:bodyPr/>
          <a:lstStyle/>
          <a:p>
            <a:r>
              <a:rPr lang="en-US" dirty="0"/>
              <a:t>Feudal Reinforcement Learning </a:t>
            </a:r>
            <a:endParaRPr lang="en-IN" dirty="0"/>
          </a:p>
        </p:txBody>
      </p:sp>
      <p:sp>
        <p:nvSpPr>
          <p:cNvPr id="3" name="Content Placeholder 2">
            <a:extLst>
              <a:ext uri="{FF2B5EF4-FFF2-40B4-BE49-F238E27FC236}">
                <a16:creationId xmlns:a16="http://schemas.microsoft.com/office/drawing/2014/main" id="{5153518C-58B5-4049-741B-282168FE0835}"/>
              </a:ext>
            </a:extLst>
          </p:cNvPr>
          <p:cNvSpPr>
            <a:spLocks noGrp="1"/>
          </p:cNvSpPr>
          <p:nvPr>
            <p:ph idx="1"/>
          </p:nvPr>
        </p:nvSpPr>
        <p:spPr>
          <a:xfrm>
            <a:off x="1371600" y="2286000"/>
            <a:ext cx="5029200" cy="3581400"/>
          </a:xfrm>
        </p:spPr>
        <p:txBody>
          <a:bodyPr>
            <a:normAutofit/>
          </a:bodyPr>
          <a:lstStyle/>
          <a:p>
            <a:r>
              <a:rPr lang="en-US" sz="2500" dirty="0"/>
              <a:t>The Learned Actions. The area of the boxes and the radius of the central circle give the probabilities of taking action NSEW and * respectively. </a:t>
            </a:r>
            <a:endParaRPr lang="en-IN" sz="2500" dirty="0"/>
          </a:p>
        </p:txBody>
      </p:sp>
      <p:pic>
        <p:nvPicPr>
          <p:cNvPr id="7" name="Picture 6">
            <a:extLst>
              <a:ext uri="{FF2B5EF4-FFF2-40B4-BE49-F238E27FC236}">
                <a16:creationId xmlns:a16="http://schemas.microsoft.com/office/drawing/2014/main" id="{B30E2A8A-87A1-CDBC-91B9-D9DC3F573ED8}"/>
              </a:ext>
            </a:extLst>
          </p:cNvPr>
          <p:cNvPicPr>
            <a:picLocks noChangeAspect="1"/>
          </p:cNvPicPr>
          <p:nvPr/>
        </p:nvPicPr>
        <p:blipFill>
          <a:blip r:embed="rId2"/>
          <a:stretch>
            <a:fillRect/>
          </a:stretch>
        </p:blipFill>
        <p:spPr>
          <a:xfrm>
            <a:off x="6741567" y="1757680"/>
            <a:ext cx="4365242" cy="4828222"/>
          </a:xfrm>
          <a:prstGeom prst="rect">
            <a:avLst/>
          </a:prstGeom>
        </p:spPr>
      </p:pic>
    </p:spTree>
    <p:extLst>
      <p:ext uri="{BB962C8B-B14F-4D97-AF65-F5344CB8AC3E}">
        <p14:creationId xmlns:p14="http://schemas.microsoft.com/office/powerpoint/2010/main" val="484685258"/>
      </p:ext>
    </p:extLst>
  </p:cSld>
  <p:clrMapOvr>
    <a:masterClrMapping/>
  </p:clrMapOvr>
</p:sld>
</file>

<file path=ppt/theme/theme1.xml><?xml version="1.0" encoding="utf-8"?>
<a:theme xmlns:a="http://schemas.openxmlformats.org/drawingml/2006/main" name="Crop">
  <a:themeElements>
    <a:clrScheme name="Crop">
      <a:dk1>
        <a:sysClr val="windowText" lastClr="000000"/>
      </a:dk1>
      <a:lt1>
        <a:sysClr val="window" lastClr="FFFFFF"/>
      </a:lt1>
      <a:dk2>
        <a:srgbClr val="4A2318"/>
      </a:dk2>
      <a:lt2>
        <a:srgbClr val="EDECEB"/>
      </a:lt2>
      <a:accent1>
        <a:srgbClr val="F3C82E"/>
      </a:accent1>
      <a:accent2>
        <a:srgbClr val="A26176"/>
      </a:accent2>
      <a:accent3>
        <a:srgbClr val="74A94E"/>
      </a:accent3>
      <a:accent4>
        <a:srgbClr val="188E8D"/>
      </a:accent4>
      <a:accent5>
        <a:srgbClr val="EE913A"/>
      </a:accent5>
      <a:accent6>
        <a:srgbClr val="DF5D4A"/>
      </a:accent6>
      <a:hlink>
        <a:srgbClr val="188E8D"/>
      </a:hlink>
      <a:folHlink>
        <a:srgbClr val="A26176"/>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D7AA1D6E-F3E9-4763-A3BC-84DF2E02F60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04FC1750496BA842B8CDF8D980297702" ma:contentTypeVersion="3" ma:contentTypeDescription="Create a new document." ma:contentTypeScope="" ma:versionID="25b4117b7e7c52874fef60ba29814e78">
  <xsd:schema xmlns:xsd="http://www.w3.org/2001/XMLSchema" xmlns:xs="http://www.w3.org/2001/XMLSchema" xmlns:p="http://schemas.microsoft.com/office/2006/metadata/properties" xmlns:ns2="6b7f7ae6-7a87-4d3a-a44f-b1b75ae19df5" targetNamespace="http://schemas.microsoft.com/office/2006/metadata/properties" ma:root="true" ma:fieldsID="92331ed16946a6a4687e51e0b4ac930e" ns2:_="">
    <xsd:import namespace="6b7f7ae6-7a87-4d3a-a44f-b1b75ae19df5"/>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b7f7ae6-7a87-4d3a-a44f-b1b75ae19df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3D84D32-FA2D-43EF-A33A-9D8D65A593E7}">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209C3460-6122-4398-B8A8-26A651DEF23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b7f7ae6-7a87-4d3a-a44f-b1b75ae19df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796F799-57FB-4D10-A201-23E2E776EAF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Crop</Template>
  <TotalTime>3782</TotalTime>
  <Words>2058</Words>
  <Application>Microsoft Office PowerPoint</Application>
  <PresentationFormat>Widescreen</PresentationFormat>
  <Paragraphs>99</Paragraphs>
  <Slides>26</Slides>
  <Notes>0</Notes>
  <HiddenSlides>0</HiddenSlides>
  <MMClips>0</MMClip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Crop</vt:lpstr>
      <vt:lpstr>PowerPoint Presentation</vt:lpstr>
      <vt:lpstr>Module No. 6 Hierarchical Reinforcement Learning 8 Hours</vt:lpstr>
      <vt:lpstr>Hierarchical Reinforcement Learning</vt:lpstr>
      <vt:lpstr>Hierarchical Reinforcement Learning</vt:lpstr>
      <vt:lpstr>PowerPoint Presentation</vt:lpstr>
      <vt:lpstr>Hierarchical Reinforcement Learning</vt:lpstr>
      <vt:lpstr>Mechanisms Temporal Abstractions </vt:lpstr>
      <vt:lpstr>State Abstractions </vt:lpstr>
      <vt:lpstr>State Abstractions</vt:lpstr>
      <vt:lpstr>State Abstractions </vt:lpstr>
      <vt:lpstr>State Abstractions </vt:lpstr>
      <vt:lpstr>HRL Advantages Credit Assignment </vt:lpstr>
      <vt:lpstr>HRL Advantages Credit Assignment </vt:lpstr>
      <vt:lpstr>HRL Advantages Exploration </vt:lpstr>
      <vt:lpstr>HRL Advantages Exploration </vt:lpstr>
      <vt:lpstr>PowerPoint Presentation</vt:lpstr>
      <vt:lpstr>Hierarchical Reinforcement Learning</vt:lpstr>
      <vt:lpstr>HRL Challenges </vt:lpstr>
      <vt:lpstr>HRL Challenges Automatic Discovery of Abstractions  </vt:lpstr>
      <vt:lpstr>HRL Challenges Development of Abstractions </vt:lpstr>
      <vt:lpstr>HRL Challenges Decomposing Example Trajectories  </vt:lpstr>
      <vt:lpstr>HRL Challenges Composition</vt:lpstr>
      <vt:lpstr>Hierarchical Reinforcement Learning</vt:lpstr>
      <vt:lpstr>Option-Critic framework</vt:lpstr>
      <vt:lpstr>Feudal Reinforcement Learning </vt:lpstr>
      <vt:lpstr>Feudal Reinforcement Learning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 347</dc:title>
  <dc:creator>dipen saini</dc:creator>
  <cp:lastModifiedBy>delll</cp:lastModifiedBy>
  <cp:revision>37</cp:revision>
  <dcterms:created xsi:type="dcterms:W3CDTF">2023-01-04T16:33:49Z</dcterms:created>
  <dcterms:modified xsi:type="dcterms:W3CDTF">2026-04-27T09:34:07Z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0x01010004FC1750496BA842B8CDF8D980297702</vt:lpwstr>
  </property>
</Properties>
</file>
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14"/>
  </p:notesMasterIdLst>
  <p:sldIdLst>
    <p:sldId id="585" r:id="rId5"/>
    <p:sldId id="262" r:id="rId6"/>
    <p:sldId id="632" r:id="rId7"/>
    <p:sldId id="631" r:id="rId8"/>
    <p:sldId id="645" r:id="rId9"/>
    <p:sldId id="646" r:id="rId10"/>
    <p:sldId id="655" r:id="rId11"/>
    <p:sldId id="656" r:id="rId12"/>
    <p:sldId id="65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A3E17-A939-3BE6-6C25-0B9A191486B9}" v="1" dt="2026-04-18T07:49:47.0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gavaram shreyasi" userId="S::shreyasi.23bce9030@vitapstudent.ac.in::442af429-e517-4819-b935-162b5dacdca2" providerId="AD" clId="Web-{E86A3E17-A939-3BE6-6C25-0B9A191486B9}"/>
    <pc:docChg chg="modSld">
      <pc:chgData name="gangavaram shreyasi" userId="S::shreyasi.23bce9030@vitapstudent.ac.in::442af429-e517-4819-b935-162b5dacdca2" providerId="AD" clId="Web-{E86A3E17-A939-3BE6-6C25-0B9A191486B9}" dt="2026-04-18T07:49:47.072" v="0" actId="20577"/>
      <pc:docMkLst>
        <pc:docMk/>
      </pc:docMkLst>
      <pc:sldChg chg="modSp">
        <pc:chgData name="gangavaram shreyasi" userId="S::shreyasi.23bce9030@vitapstudent.ac.in::442af429-e517-4819-b935-162b5dacdca2" providerId="AD" clId="Web-{E86A3E17-A939-3BE6-6C25-0B9A191486B9}" dt="2026-04-18T07:49:47.072" v="0" actId="20577"/>
        <pc:sldMkLst>
          <pc:docMk/>
          <pc:sldMk cId="621275505" sldId="645"/>
        </pc:sldMkLst>
        <pc:spChg chg="mod">
          <ac:chgData name="gangavaram shreyasi" userId="S::shreyasi.23bce9030@vitapstudent.ac.in::442af429-e517-4819-b935-162b5dacdca2" providerId="AD" clId="Web-{E86A3E17-A939-3BE6-6C25-0B9A191486B9}" dt="2026-04-18T07:49:47.072" v="0" actId="20577"/>
          <ac:spMkLst>
            <pc:docMk/>
            <pc:sldMk cId="621275505" sldId="645"/>
            <ac:spMk id="3" creationId="{55F8305C-B3F2-DB78-1A98-AF3EC2AFED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646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6477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693760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907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93922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23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6958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4/18/2026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71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4/18/2026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297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02891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71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4/18/2026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52962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sciencedirect.com/topics/engineering/optimalit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Invertible_matrix" TargetMode="External"/><Relationship Id="rId7" Type="http://schemas.openxmlformats.org/officeDocument/2006/relationships/hyperlink" Target="https://en.wikipedia.org/wiki/Differential_entropy" TargetMode="External"/><Relationship Id="rId2" Type="http://schemas.openxmlformats.org/officeDocument/2006/relationships/hyperlink" Target="https://en.wikipedia.org/wiki/Trace_(linear_algebra)" TargetMode="External"/><Relationship Id="rId1" Type="http://schemas.openxmlformats.org/officeDocument/2006/relationships/slideLayout" Target="../slideLayouts/slideLayout2.xml"/><Relationship Id="rId6" Type="http://schemas.openxmlformats.org/officeDocument/2006/relationships/hyperlink" Target="https://en.wikipedia.org/wiki/Information_matrix" TargetMode="External"/><Relationship Id="rId5" Type="http://schemas.openxmlformats.org/officeDocument/2006/relationships/hyperlink" Target="https://en.wikipedia.org/wiki/Determinant" TargetMode="External"/><Relationship Id="rId4" Type="http://schemas.openxmlformats.org/officeDocument/2006/relationships/hyperlink" Target="https://en.wikipedia.org/wiki/Best_linear_unbiased_estimator"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Determinant" TargetMode="External"/><Relationship Id="rId2" Type="http://schemas.openxmlformats.org/officeDocument/2006/relationships/hyperlink" Target="https://en.wikipedia.org/wiki/Eigenvalu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wikipedia.org/wiki/Hat_matrix" TargetMode="External"/><Relationship Id="rId2" Type="http://schemas.openxmlformats.org/officeDocument/2006/relationships/hyperlink" Target="https://en.wikipedia.org/wiki/Diagonal#Matrice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320800" y="1341120"/>
            <a:ext cx="10454640" cy="4003040"/>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l"/>
            <a:endParaRPr lang="en-US" sz="3000" b="1" cap="all" dirty="0">
              <a:solidFill>
                <a:schemeClr val="tx2"/>
              </a:solidFill>
              <a:latin typeface="+mj-lt"/>
              <a:ea typeface="+mj-ea"/>
              <a:cs typeface="+mj-cs"/>
            </a:endParaRPr>
          </a:p>
          <a:p>
            <a:pPr algn="just"/>
            <a:r>
              <a:rPr lang="en-US" sz="3200" b="1" dirty="0">
                <a:solidFill>
                  <a:srgbClr val="FF0000"/>
                </a:solidFill>
                <a:highlight>
                  <a:srgbClr val="C0C0C0"/>
                </a:highlight>
                <a:latin typeface="Cambria" panose="02040503050406030204" pitchFamily="18" charset="0"/>
                <a:ea typeface="Cambria" panose="02040503050406030204" pitchFamily="18" charset="0"/>
              </a:rPr>
              <a:t>TYPES OF OPTIMALITY</a:t>
            </a:r>
          </a:p>
        </p:txBody>
      </p:sp>
      <p:sp>
        <p:nvSpPr>
          <p:cNvPr id="4" name="Subtitle 2">
            <a:extLst>
              <a:ext uri="{FF2B5EF4-FFF2-40B4-BE49-F238E27FC236}">
                <a16:creationId xmlns:a16="http://schemas.microsoft.com/office/drawing/2014/main" id="{A801DB45-417F-527B-47EB-AC2FEB6B23A9}"/>
              </a:ext>
            </a:extLst>
          </p:cNvPr>
          <p:cNvSpPr txBox="1">
            <a:spLocks/>
          </p:cNvSpPr>
          <p:nvPr/>
        </p:nvSpPr>
        <p:spPr>
          <a:xfrm>
            <a:off x="1493520" y="5100320"/>
            <a:ext cx="6493336" cy="1497032"/>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endParaRPr lang="en-IN" sz="2400" dirty="0"/>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60" y="96520"/>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C42C-64AF-545B-564B-41469E2F1E54}"/>
              </a:ext>
            </a:extLst>
          </p:cNvPr>
          <p:cNvSpPr>
            <a:spLocks noGrp="1"/>
          </p:cNvSpPr>
          <p:nvPr>
            <p:ph type="title"/>
          </p:nvPr>
        </p:nvSpPr>
        <p:spPr>
          <a:xfrm>
            <a:off x="955040" y="162560"/>
            <a:ext cx="11054080" cy="2009140"/>
          </a:xfrm>
        </p:spPr>
        <p:txBody>
          <a:bodyPr>
            <a:normAutofit/>
          </a:bodyPr>
          <a:lstStyle/>
          <a:p>
            <a:pPr algn="ctr"/>
            <a:r>
              <a:rPr lang="en-US" dirty="0"/>
              <a:t>Module No. 6</a:t>
            </a:r>
            <a:br>
              <a:rPr lang="en-US" dirty="0"/>
            </a:br>
            <a:r>
              <a:rPr lang="en-IN" dirty="0"/>
              <a:t>Hierarchical Reinforcement Learning</a:t>
            </a:r>
            <a:br>
              <a:rPr lang="en-US" dirty="0"/>
            </a:br>
            <a:r>
              <a:rPr lang="en-US" dirty="0"/>
              <a:t>8 Hours</a:t>
            </a:r>
          </a:p>
        </p:txBody>
      </p:sp>
      <p:sp>
        <p:nvSpPr>
          <p:cNvPr id="3" name="Content Placeholder 2">
            <a:extLst>
              <a:ext uri="{FF2B5EF4-FFF2-40B4-BE49-F238E27FC236}">
                <a16:creationId xmlns:a16="http://schemas.microsoft.com/office/drawing/2014/main" id="{7D4E399C-0F79-D05C-02E6-4842741B3DD4}"/>
              </a:ext>
            </a:extLst>
          </p:cNvPr>
          <p:cNvSpPr>
            <a:spLocks noGrp="1"/>
          </p:cNvSpPr>
          <p:nvPr>
            <p:ph idx="1"/>
          </p:nvPr>
        </p:nvSpPr>
        <p:spPr>
          <a:xfrm>
            <a:off x="1371600" y="2286000"/>
            <a:ext cx="10048240" cy="3581400"/>
          </a:xfrm>
        </p:spPr>
        <p:txBody>
          <a:bodyPr>
            <a:normAutofit/>
          </a:bodyPr>
          <a:lstStyle/>
          <a:p>
            <a:pPr algn="just"/>
            <a:r>
              <a:rPr lang="en-US" sz="2400" dirty="0">
                <a:solidFill>
                  <a:srgbClr val="000000"/>
                </a:solidFill>
                <a:latin typeface="Times New Roman" panose="02020603050405020304" pitchFamily="18" charset="0"/>
              </a:rPr>
              <a:t>Hierarchical Reinforcement Learning</a:t>
            </a:r>
          </a:p>
          <a:p>
            <a:pPr algn="just"/>
            <a:r>
              <a:rPr lang="en-US" sz="2400" dirty="0">
                <a:solidFill>
                  <a:srgbClr val="000000"/>
                </a:solidFill>
                <a:highlight>
                  <a:srgbClr val="FFFF00"/>
                </a:highlight>
                <a:latin typeface="Times New Roman" panose="02020603050405020304" pitchFamily="18" charset="0"/>
              </a:rPr>
              <a:t>Types of Optimality</a:t>
            </a:r>
          </a:p>
          <a:p>
            <a:pPr algn="just"/>
            <a:r>
              <a:rPr lang="en-US" sz="2400" dirty="0">
                <a:solidFill>
                  <a:srgbClr val="000000"/>
                </a:solidFill>
                <a:latin typeface="Times New Roman" panose="02020603050405020304" pitchFamily="18" charset="0"/>
              </a:rPr>
              <a:t>Semi MDP Model</a:t>
            </a:r>
          </a:p>
          <a:p>
            <a:pPr algn="just"/>
            <a:r>
              <a:rPr lang="en-US" sz="2400" dirty="0">
                <a:solidFill>
                  <a:srgbClr val="000000"/>
                </a:solidFill>
                <a:latin typeface="Times New Roman" panose="02020603050405020304" pitchFamily="18" charset="0"/>
              </a:rPr>
              <a:t>Options</a:t>
            </a:r>
          </a:p>
          <a:p>
            <a:pPr algn="just"/>
            <a:r>
              <a:rPr lang="en-US" sz="2400" dirty="0">
                <a:solidFill>
                  <a:srgbClr val="000000"/>
                </a:solidFill>
                <a:latin typeface="Times New Roman" panose="02020603050405020304" pitchFamily="18" charset="0"/>
              </a:rPr>
              <a:t>Learning with Options</a:t>
            </a:r>
          </a:p>
          <a:p>
            <a:pPr algn="just"/>
            <a:r>
              <a:rPr lang="en-US" sz="2400" dirty="0">
                <a:solidFill>
                  <a:srgbClr val="000000"/>
                </a:solidFill>
                <a:latin typeface="Times New Roman" panose="02020603050405020304" pitchFamily="18" charset="0"/>
              </a:rPr>
              <a:t>Hierarchical Abstract Machines</a:t>
            </a:r>
          </a:p>
          <a:p>
            <a:pPr algn="just"/>
            <a:r>
              <a:rPr lang="en-US" sz="2400" dirty="0">
                <a:solidFill>
                  <a:srgbClr val="000000"/>
                </a:solidFill>
                <a:latin typeface="Times New Roman" panose="02020603050405020304" pitchFamily="18" charset="0"/>
              </a:rPr>
              <a:t>A partially observable Markov decision process. </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76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5FC96-A151-8F4F-02B2-A1B03E193593}"/>
              </a:ext>
            </a:extLst>
          </p:cNvPr>
          <p:cNvSpPr>
            <a:spLocks noGrp="1"/>
          </p:cNvSpPr>
          <p:nvPr>
            <p:ph type="title"/>
          </p:nvPr>
        </p:nvSpPr>
        <p:spPr/>
        <p:txBody>
          <a:bodyPr/>
          <a:lstStyle/>
          <a:p>
            <a:r>
              <a:rPr lang="en-US" dirty="0"/>
              <a:t>Optimality</a:t>
            </a:r>
            <a:endParaRPr lang="en-IN" dirty="0"/>
          </a:p>
        </p:txBody>
      </p:sp>
      <p:sp>
        <p:nvSpPr>
          <p:cNvPr id="3" name="Content Placeholder 2">
            <a:extLst>
              <a:ext uri="{FF2B5EF4-FFF2-40B4-BE49-F238E27FC236}">
                <a16:creationId xmlns:a16="http://schemas.microsoft.com/office/drawing/2014/main" id="{7E3B465C-D001-FD38-A2B4-820946B1BCE2}"/>
              </a:ext>
            </a:extLst>
          </p:cNvPr>
          <p:cNvSpPr>
            <a:spLocks noGrp="1"/>
          </p:cNvSpPr>
          <p:nvPr>
            <p:ph idx="1"/>
          </p:nvPr>
        </p:nvSpPr>
        <p:spPr>
          <a:xfrm>
            <a:off x="822960" y="1452880"/>
            <a:ext cx="10932160" cy="4414520"/>
          </a:xfrm>
        </p:spPr>
        <p:txBody>
          <a:bodyPr>
            <a:noAutofit/>
          </a:bodyPr>
          <a:lstStyle/>
          <a:p>
            <a:pPr algn="just"/>
            <a:r>
              <a:rPr lang="en-US" sz="2500" b="0" i="0" dirty="0">
                <a:solidFill>
                  <a:srgbClr val="1F1F1F"/>
                </a:solidFill>
                <a:effectLst/>
                <a:latin typeface="ElsevierGulliver"/>
              </a:rPr>
              <a:t>The </a:t>
            </a:r>
            <a:r>
              <a:rPr lang="en-US" sz="2500" b="0" i="0" dirty="0">
                <a:solidFill>
                  <a:srgbClr val="1F1F1F"/>
                </a:solidFill>
                <a:effectLst/>
                <a:latin typeface="ElsevierGulliver"/>
                <a:hlinkClick r:id="rId2" tooltip="Learn more about optimality from ScienceDirect's AI-generated Topic Pages"/>
              </a:rPr>
              <a:t>optimality</a:t>
            </a:r>
            <a:r>
              <a:rPr lang="en-US" sz="2500" b="0" i="0" dirty="0">
                <a:solidFill>
                  <a:srgbClr val="1F1F1F"/>
                </a:solidFill>
                <a:effectLst/>
                <a:latin typeface="ElsevierGulliver"/>
              </a:rPr>
              <a:t> conditions are derived by assuming that </a:t>
            </a:r>
            <a:r>
              <a:rPr lang="en-US" sz="2500" b="0" i="0" dirty="0">
                <a:solidFill>
                  <a:srgbClr val="1F1F1F"/>
                </a:solidFill>
                <a:effectLst/>
                <a:highlight>
                  <a:srgbClr val="FFFF00"/>
                </a:highlight>
                <a:latin typeface="ElsevierGulliver"/>
              </a:rPr>
              <a:t>we are at an optimum point, and then studying the behavior of the functions and their derivatives at that point</a:t>
            </a:r>
            <a:r>
              <a:rPr lang="en-US" sz="2500" b="0" i="0" dirty="0">
                <a:solidFill>
                  <a:srgbClr val="1F1F1F"/>
                </a:solidFill>
                <a:effectLst/>
                <a:latin typeface="ElsevierGulliver"/>
              </a:rPr>
              <a:t>. </a:t>
            </a:r>
            <a:r>
              <a:rPr lang="en-US" sz="2500" b="0" i="1" dirty="0">
                <a:solidFill>
                  <a:srgbClr val="1F1F1F"/>
                </a:solidFill>
                <a:effectLst/>
                <a:latin typeface="ElsevierGulliver"/>
              </a:rPr>
              <a:t>The conditions that must be satisfied at the optimum point are called</a:t>
            </a:r>
            <a:r>
              <a:rPr lang="en-US" sz="2500" b="0" i="0" dirty="0">
                <a:solidFill>
                  <a:srgbClr val="1F1F1F"/>
                </a:solidFill>
                <a:effectLst/>
                <a:latin typeface="ElsevierGulliver"/>
              </a:rPr>
              <a:t> necessary</a:t>
            </a:r>
            <a:r>
              <a:rPr lang="en-US" sz="2500" b="0" i="1" dirty="0">
                <a:solidFill>
                  <a:srgbClr val="1F1F1F"/>
                </a:solidFill>
                <a:effectLst/>
                <a:latin typeface="ElsevierGulliver"/>
              </a:rPr>
              <a:t>. Stated differently, </a:t>
            </a:r>
            <a:r>
              <a:rPr lang="en-US" sz="2500" b="0" i="1" dirty="0">
                <a:solidFill>
                  <a:srgbClr val="1F1F1F"/>
                </a:solidFill>
                <a:effectLst/>
                <a:highlight>
                  <a:srgbClr val="FFFF00"/>
                </a:highlight>
                <a:latin typeface="ElsevierGulliver"/>
              </a:rPr>
              <a:t>if a point does not satisfy the necessary conditions, it cannot be optimum</a:t>
            </a:r>
            <a:r>
              <a:rPr lang="en-US" sz="2500" b="0" i="0" dirty="0">
                <a:solidFill>
                  <a:srgbClr val="1F1F1F"/>
                </a:solidFill>
                <a:effectLst/>
                <a:latin typeface="ElsevierGulliver"/>
              </a:rPr>
              <a:t>. </a:t>
            </a:r>
          </a:p>
          <a:p>
            <a:pPr algn="just"/>
            <a:endParaRPr lang="en-US" sz="2500" dirty="0">
              <a:solidFill>
                <a:srgbClr val="1F1F1F"/>
              </a:solidFill>
              <a:latin typeface="ElsevierGulliver"/>
            </a:endParaRPr>
          </a:p>
          <a:p>
            <a:pPr algn="just"/>
            <a:r>
              <a:rPr lang="en-US" sz="2500" b="0" i="0" dirty="0">
                <a:solidFill>
                  <a:srgbClr val="1F1F1F"/>
                </a:solidFill>
                <a:effectLst/>
                <a:latin typeface="ElsevierGulliver"/>
              </a:rPr>
              <a:t>Note, however, that </a:t>
            </a:r>
            <a:r>
              <a:rPr lang="en-US" sz="2500" b="0" i="0" dirty="0">
                <a:solidFill>
                  <a:srgbClr val="1F1F1F"/>
                </a:solidFill>
                <a:effectLst/>
                <a:highlight>
                  <a:srgbClr val="FFFF00"/>
                </a:highlight>
                <a:latin typeface="ElsevierGulliver"/>
              </a:rPr>
              <a:t>the satisfaction of necessary conditions does not guarantee optimality of the point; that is, there can be non-optimum points that satisfy the same conditions</a:t>
            </a:r>
            <a:r>
              <a:rPr lang="en-US" sz="2500" b="0" i="0" dirty="0">
                <a:solidFill>
                  <a:srgbClr val="1F1F1F"/>
                </a:solidFill>
                <a:effectLst/>
                <a:latin typeface="ElsevierGulliver"/>
              </a:rPr>
              <a:t>. This indicates that the number of points satisfying necessary conditions can be more than the number of optima. </a:t>
            </a:r>
            <a:r>
              <a:rPr lang="en-US" sz="2500" b="0" i="0" dirty="0">
                <a:solidFill>
                  <a:srgbClr val="1F1F1F"/>
                </a:solidFill>
                <a:effectLst/>
                <a:highlight>
                  <a:srgbClr val="FFFF00"/>
                </a:highlight>
                <a:latin typeface="ElsevierGulliver"/>
              </a:rPr>
              <a:t>Points satisfying the necessary conditions are called </a:t>
            </a:r>
            <a:r>
              <a:rPr lang="en-US" sz="2500" b="0" i="1" dirty="0">
                <a:solidFill>
                  <a:srgbClr val="1F1F1F"/>
                </a:solidFill>
                <a:effectLst/>
                <a:highlight>
                  <a:srgbClr val="FFFF00"/>
                </a:highlight>
                <a:latin typeface="ElsevierGulliver"/>
              </a:rPr>
              <a:t>candidate optimum points</a:t>
            </a:r>
            <a:r>
              <a:rPr lang="en-US" sz="2500" b="0" i="0" dirty="0">
                <a:solidFill>
                  <a:srgbClr val="1F1F1F"/>
                </a:solidFill>
                <a:effectLst/>
                <a:latin typeface="ElsevierGulliver"/>
              </a:rPr>
              <a:t>. We must, therefore, perform further tests to distinguish between optimum and </a:t>
            </a:r>
            <a:r>
              <a:rPr lang="en-US" sz="2500" b="0" i="0" dirty="0" err="1">
                <a:solidFill>
                  <a:srgbClr val="1F1F1F"/>
                </a:solidFill>
                <a:effectLst/>
                <a:latin typeface="ElsevierGulliver"/>
              </a:rPr>
              <a:t>nonoptimum</a:t>
            </a:r>
            <a:r>
              <a:rPr lang="en-US" sz="2500" b="0" i="0" dirty="0">
                <a:solidFill>
                  <a:srgbClr val="1F1F1F"/>
                </a:solidFill>
                <a:effectLst/>
                <a:latin typeface="ElsevierGulliver"/>
              </a:rPr>
              <a:t> points, both satisfying the necessary conditions.</a:t>
            </a:r>
            <a:endParaRPr lang="en-IN" sz="2500" dirty="0"/>
          </a:p>
        </p:txBody>
      </p:sp>
    </p:spTree>
    <p:extLst>
      <p:ext uri="{BB962C8B-B14F-4D97-AF65-F5344CB8AC3E}">
        <p14:creationId xmlns:p14="http://schemas.microsoft.com/office/powerpoint/2010/main" val="2140396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12622-0EAB-70BB-54B7-D7838E98FC23}"/>
              </a:ext>
            </a:extLst>
          </p:cNvPr>
          <p:cNvSpPr>
            <a:spLocks noGrp="1"/>
          </p:cNvSpPr>
          <p:nvPr>
            <p:ph type="title"/>
          </p:nvPr>
        </p:nvSpPr>
        <p:spPr/>
        <p:txBody>
          <a:bodyPr/>
          <a:lstStyle/>
          <a:p>
            <a:r>
              <a:rPr lang="en-US" dirty="0"/>
              <a:t>Principle of Optimality</a:t>
            </a:r>
            <a:endParaRPr lang="en-IN" dirty="0"/>
          </a:p>
        </p:txBody>
      </p:sp>
      <p:sp>
        <p:nvSpPr>
          <p:cNvPr id="3" name="Content Placeholder 2">
            <a:extLst>
              <a:ext uri="{FF2B5EF4-FFF2-40B4-BE49-F238E27FC236}">
                <a16:creationId xmlns:a16="http://schemas.microsoft.com/office/drawing/2014/main" id="{59F86E6C-01C3-917E-57DA-142DF78519B7}"/>
              </a:ext>
            </a:extLst>
          </p:cNvPr>
          <p:cNvSpPr>
            <a:spLocks noGrp="1"/>
          </p:cNvSpPr>
          <p:nvPr>
            <p:ph idx="1"/>
          </p:nvPr>
        </p:nvSpPr>
        <p:spPr/>
        <p:txBody>
          <a:bodyPr>
            <a:normAutofit/>
          </a:bodyPr>
          <a:lstStyle/>
          <a:p>
            <a:r>
              <a:rPr lang="en-US" sz="2800" b="0" i="0" dirty="0">
                <a:solidFill>
                  <a:srgbClr val="474747"/>
                </a:solidFill>
                <a:effectLst/>
                <a:latin typeface="Google Sans"/>
              </a:rPr>
              <a:t>Principle of Optimality: An optimal policy has the property that whatever the initial state and initial decision are, the remaining decisions must constitute an optimal policy with regard to the state resulting from the first decision.</a:t>
            </a:r>
            <a:endParaRPr lang="en-IN" sz="2800" dirty="0"/>
          </a:p>
        </p:txBody>
      </p:sp>
    </p:spTree>
    <p:extLst>
      <p:ext uri="{BB962C8B-B14F-4D97-AF65-F5344CB8AC3E}">
        <p14:creationId xmlns:p14="http://schemas.microsoft.com/office/powerpoint/2010/main" val="2115586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4758E-22CE-822B-FC75-507A74242CBA}"/>
              </a:ext>
            </a:extLst>
          </p:cNvPr>
          <p:cNvSpPr>
            <a:spLocks noGrp="1"/>
          </p:cNvSpPr>
          <p:nvPr>
            <p:ph type="title"/>
          </p:nvPr>
        </p:nvSpPr>
        <p:spPr/>
        <p:txBody>
          <a:bodyPr/>
          <a:lstStyle/>
          <a:p>
            <a:r>
              <a:rPr lang="en-IN" dirty="0"/>
              <a:t>Options - Policy-over-Options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55F8305C-B3F2-DB78-1A98-AF3EC2AFED5B}"/>
              </a:ext>
            </a:extLst>
          </p:cNvPr>
          <p:cNvSpPr>
            <a:spLocks noGrp="1"/>
          </p:cNvSpPr>
          <p:nvPr>
            <p:ph idx="1"/>
          </p:nvPr>
        </p:nvSpPr>
        <p:spPr>
          <a:xfrm>
            <a:off x="1371600" y="1676400"/>
            <a:ext cx="10302240" cy="5008880"/>
          </a:xfrm>
        </p:spPr>
        <p:txBody>
          <a:bodyPr vert="horz" lIns="91440" tIns="45720" rIns="91440" bIns="45720" rtlCol="0" anchor="t">
            <a:noAutofit/>
          </a:bodyPr>
          <a:lstStyle/>
          <a:p>
            <a:pPr marL="383540" indent="-383540" algn="just"/>
            <a:r>
              <a:rPr lang="en-US" sz="2300" b="0" i="0" dirty="0">
                <a:solidFill>
                  <a:srgbClr val="222222"/>
                </a:solidFill>
                <a:effectLst/>
                <a:latin typeface="Arial" panose="020B0604020202020204" pitchFamily="34" charset="0"/>
              </a:rPr>
              <a:t>A policy-over-options 𝜋(𝜔|𝑠𝑡)  selects an option 𝜔∈Ω  given a state 𝑠𝑡. This </a:t>
            </a:r>
            <a:r>
              <a:rPr lang="en-US" sz="2300" b="0" i="0" dirty="0">
                <a:solidFill>
                  <a:srgbClr val="222222"/>
                </a:solidFill>
                <a:effectLst/>
                <a:highlight>
                  <a:srgbClr val="FFFF00"/>
                </a:highlight>
                <a:latin typeface="Arial" panose="020B0604020202020204" pitchFamily="34" charset="0"/>
              </a:rPr>
              <a:t>additional policy can be useful to select the best option, when the current state belongs to multiple option initiation sets</a:t>
            </a:r>
            <a:r>
              <a:rPr lang="en-US" sz="2300" b="0" i="0" dirty="0">
                <a:solidFill>
                  <a:srgbClr val="222222"/>
                </a:solidFill>
                <a:effectLst/>
                <a:latin typeface="Arial" panose="020B0604020202020204" pitchFamily="34" charset="0"/>
              </a:rPr>
              <a:t>. It can also be used as an alternative to defining an initiation set for each option.</a:t>
            </a:r>
            <a:endParaRPr lang="en-US"/>
          </a:p>
          <a:p>
            <a:pPr algn="just"/>
            <a:endParaRPr lang="en-US" sz="2300" b="0" i="0" dirty="0">
              <a:solidFill>
                <a:srgbClr val="222222"/>
              </a:solidFill>
              <a:effectLst/>
              <a:latin typeface="Arial" panose="020B0604020202020204" pitchFamily="34" charset="0"/>
            </a:endParaRPr>
          </a:p>
          <a:p>
            <a:pPr algn="just"/>
            <a:r>
              <a:rPr lang="en-US" sz="2300" b="0" i="0" dirty="0">
                <a:solidFill>
                  <a:srgbClr val="222222"/>
                </a:solidFill>
                <a:effectLst/>
                <a:latin typeface="Arial" panose="020B0604020202020204" pitchFamily="34" charset="0"/>
              </a:rPr>
              <a:t>The most often used execution model is the </a:t>
            </a:r>
            <a:r>
              <a:rPr lang="en-US" sz="2300" b="0" i="0" dirty="0">
                <a:solidFill>
                  <a:srgbClr val="222222"/>
                </a:solidFill>
                <a:effectLst/>
                <a:highlight>
                  <a:srgbClr val="FFFF00"/>
                </a:highlight>
                <a:latin typeface="Arial" panose="020B0604020202020204" pitchFamily="34" charset="0"/>
              </a:rPr>
              <a:t>call-and-return model</a:t>
            </a:r>
            <a:r>
              <a:rPr lang="en-US" sz="2300" b="0" i="0" dirty="0">
                <a:solidFill>
                  <a:srgbClr val="222222"/>
                </a:solidFill>
                <a:effectLst/>
                <a:latin typeface="Arial" panose="020B0604020202020204" pitchFamily="34" charset="0"/>
              </a:rPr>
              <a:t>. This approach is also often called hierarchical-execution. In this model a policy-over-options selects an option according to the current state. </a:t>
            </a:r>
            <a:r>
              <a:rPr lang="en-US" sz="2300" b="0" i="0" dirty="0">
                <a:solidFill>
                  <a:srgbClr val="222222"/>
                </a:solidFill>
                <a:effectLst/>
                <a:highlight>
                  <a:srgbClr val="FFFF00"/>
                </a:highlight>
                <a:latin typeface="Arial" panose="020B0604020202020204" pitchFamily="34" charset="0"/>
              </a:rPr>
              <a:t>The agent follows this option, until the agent triggers the termination condition of the active option. After termination, the agent samples a new option to follow</a:t>
            </a:r>
            <a:r>
              <a:rPr lang="en-US" sz="2300" b="0" i="0" dirty="0">
                <a:solidFill>
                  <a:srgbClr val="222222"/>
                </a:solidFill>
                <a:effectLst/>
                <a:latin typeface="Arial" panose="020B0604020202020204" pitchFamily="34" charset="0"/>
              </a:rPr>
              <a:t>.</a:t>
            </a:r>
          </a:p>
        </p:txBody>
      </p:sp>
    </p:spTree>
    <p:extLst>
      <p:ext uri="{BB962C8B-B14F-4D97-AF65-F5344CB8AC3E}">
        <p14:creationId xmlns:p14="http://schemas.microsoft.com/office/powerpoint/2010/main" val="621275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09EA3-BEAF-D15F-4257-C7DF52CB8C5B}"/>
              </a:ext>
            </a:extLst>
          </p:cNvPr>
          <p:cNvSpPr>
            <a:spLocks noGrp="1"/>
          </p:cNvSpPr>
          <p:nvPr>
            <p:ph type="title"/>
          </p:nvPr>
        </p:nvSpPr>
        <p:spPr/>
        <p:txBody>
          <a:bodyPr/>
          <a:lstStyle/>
          <a:p>
            <a:r>
              <a:rPr lang="en-IN" dirty="0"/>
              <a:t>Options - Policy-over-Options</a:t>
            </a:r>
            <a:br>
              <a:rPr lang="en-IN"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A61DD986-D3D1-6DE4-7A66-F2B463D8C8D0}"/>
              </a:ext>
            </a:extLst>
          </p:cNvPr>
          <p:cNvSpPr>
            <a:spLocks noGrp="1"/>
          </p:cNvSpPr>
          <p:nvPr>
            <p:ph idx="1"/>
          </p:nvPr>
        </p:nvSpPr>
        <p:spPr>
          <a:xfrm>
            <a:off x="1371600" y="1391920"/>
            <a:ext cx="10170160" cy="5120640"/>
          </a:xfrm>
        </p:spPr>
        <p:txBody>
          <a:bodyPr>
            <a:normAutofit fontScale="92500" lnSpcReduction="20000"/>
          </a:bodyPr>
          <a:lstStyle/>
          <a:p>
            <a:pPr algn="just"/>
            <a:r>
              <a:rPr lang="en-US" sz="2500" dirty="0">
                <a:solidFill>
                  <a:srgbClr val="222222"/>
                </a:solidFill>
                <a:latin typeface="Arial" panose="020B0604020202020204" pitchFamily="34" charset="0"/>
              </a:rPr>
              <a:t>When considering a policy-over-options, we can identify different forms of optimality:</a:t>
            </a:r>
          </a:p>
          <a:p>
            <a:pPr algn="just">
              <a:buFont typeface="Arial" panose="020B0604020202020204" pitchFamily="34" charset="0"/>
              <a:buChar char="•"/>
            </a:pPr>
            <a:r>
              <a:rPr lang="en-US" sz="2500" b="1" dirty="0">
                <a:solidFill>
                  <a:srgbClr val="FF0000"/>
                </a:solidFill>
                <a:highlight>
                  <a:srgbClr val="FFFF00"/>
                </a:highlight>
                <a:latin typeface="Arial" panose="020B0604020202020204" pitchFamily="34" charset="0"/>
              </a:rPr>
              <a:t>Hierarchical-optimal:</a:t>
            </a:r>
            <a:r>
              <a:rPr lang="en-US" sz="2500" dirty="0">
                <a:solidFill>
                  <a:srgbClr val="222222"/>
                </a:solidFill>
                <a:highlight>
                  <a:srgbClr val="FFFF00"/>
                </a:highlight>
                <a:latin typeface="Arial" panose="020B0604020202020204" pitchFamily="34" charset="0"/>
              </a:rPr>
              <a:t> a policy that achieves the maximum highest cumulative reward on the entire task.</a:t>
            </a:r>
          </a:p>
          <a:p>
            <a:pPr algn="just">
              <a:buFont typeface="Arial" panose="020B0604020202020204" pitchFamily="34" charset="0"/>
              <a:buChar char="•"/>
            </a:pPr>
            <a:r>
              <a:rPr lang="en-US" sz="2500" b="1" dirty="0">
                <a:solidFill>
                  <a:srgbClr val="FF0000"/>
                </a:solidFill>
                <a:highlight>
                  <a:srgbClr val="FFFF00"/>
                </a:highlight>
                <a:latin typeface="Arial" panose="020B0604020202020204" pitchFamily="34" charset="0"/>
              </a:rPr>
              <a:t>Recursive-optimal: </a:t>
            </a:r>
            <a:r>
              <a:rPr lang="en-US" sz="2500" dirty="0">
                <a:solidFill>
                  <a:srgbClr val="222222"/>
                </a:solidFill>
                <a:highlight>
                  <a:srgbClr val="FFFF00"/>
                </a:highlight>
                <a:latin typeface="Arial" panose="020B0604020202020204" pitchFamily="34" charset="0"/>
              </a:rPr>
              <a:t>the different sub-behaviors of the agent are optimal individually.</a:t>
            </a:r>
          </a:p>
          <a:p>
            <a:pPr algn="just"/>
            <a:r>
              <a:rPr lang="en-US" sz="2500" dirty="0">
                <a:solidFill>
                  <a:srgbClr val="222222"/>
                </a:solidFill>
                <a:latin typeface="Arial" panose="020B0604020202020204" pitchFamily="34" charset="0"/>
              </a:rPr>
              <a:t>A policy which is recursive-optimal might not be hierarchical-optimal. It is possible that there exists a better hierarchical policy, where the policy of a sub-task, might be locally suboptimal, in order for the overall policy to be optimal. </a:t>
            </a:r>
          </a:p>
          <a:p>
            <a:pPr algn="just"/>
            <a:r>
              <a:rPr lang="en-US" sz="2500" dirty="0">
                <a:solidFill>
                  <a:srgbClr val="222222"/>
                </a:solidFill>
                <a:latin typeface="Arial" panose="020B0604020202020204" pitchFamily="34" charset="0"/>
              </a:rPr>
              <a:t>For example, if a sub-task consists of navigating to the exit of a room, the policy is recursive-optimal when the agent only fixates on this sub-task. However, a hierarchical-optimal solution might also take a slight detour to pick up a key, or charge its battery. These diversions negatively impact the performance of the sub-task, but improve the performance of the overall task.</a:t>
            </a:r>
          </a:p>
          <a:p>
            <a:endParaRPr lang="en-IN" dirty="0"/>
          </a:p>
        </p:txBody>
      </p:sp>
    </p:spTree>
    <p:extLst>
      <p:ext uri="{BB962C8B-B14F-4D97-AF65-F5344CB8AC3E}">
        <p14:creationId xmlns:p14="http://schemas.microsoft.com/office/powerpoint/2010/main" val="3121625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8D8B-C696-1038-0574-918E8B584F9D}"/>
              </a:ext>
            </a:extLst>
          </p:cNvPr>
          <p:cNvSpPr>
            <a:spLocks noGrp="1"/>
          </p:cNvSpPr>
          <p:nvPr>
            <p:ph type="title"/>
          </p:nvPr>
        </p:nvSpPr>
        <p:spPr>
          <a:xfrm>
            <a:off x="1371600" y="203200"/>
            <a:ext cx="9601200" cy="1968500"/>
          </a:xfrm>
        </p:spPr>
        <p:txBody>
          <a:bodyPr/>
          <a:lstStyle/>
          <a:p>
            <a:r>
              <a:rPr lang="en-US" dirty="0"/>
              <a:t>Types of Optimality</a:t>
            </a:r>
            <a:endParaRPr lang="en-IN" dirty="0"/>
          </a:p>
        </p:txBody>
      </p:sp>
      <p:sp>
        <p:nvSpPr>
          <p:cNvPr id="3" name="Content Placeholder 2">
            <a:extLst>
              <a:ext uri="{FF2B5EF4-FFF2-40B4-BE49-F238E27FC236}">
                <a16:creationId xmlns:a16="http://schemas.microsoft.com/office/drawing/2014/main" id="{A0BBC1DB-EF31-A6CC-8A7E-3CFBC0901F63}"/>
              </a:ext>
            </a:extLst>
          </p:cNvPr>
          <p:cNvSpPr>
            <a:spLocks noGrp="1"/>
          </p:cNvSpPr>
          <p:nvPr>
            <p:ph idx="1"/>
          </p:nvPr>
        </p:nvSpPr>
        <p:spPr>
          <a:xfrm>
            <a:off x="1371600" y="1442720"/>
            <a:ext cx="10556240" cy="5212080"/>
          </a:xfrm>
        </p:spPr>
        <p:txBody>
          <a:bodyPr>
            <a:noAutofit/>
          </a:bodyPr>
          <a:lstStyle/>
          <a:p>
            <a:pPr algn="just">
              <a:buFont typeface="Arial" panose="020B0604020202020204" pitchFamily="34" charset="0"/>
              <a:buChar char="•"/>
            </a:pPr>
            <a:r>
              <a:rPr lang="en-US" sz="2200" b="1" i="0" dirty="0">
                <a:solidFill>
                  <a:srgbClr val="202122"/>
                </a:solidFill>
                <a:effectLst/>
                <a:highlight>
                  <a:srgbClr val="FFFF00"/>
                </a:highlight>
                <a:latin typeface="Arial" panose="020B0604020202020204" pitchFamily="34" charset="0"/>
              </a:rPr>
              <a:t>A</a:t>
            </a:r>
            <a:r>
              <a:rPr lang="en-US" sz="2200" b="0" i="0" dirty="0">
                <a:solidFill>
                  <a:srgbClr val="202122"/>
                </a:solidFill>
                <a:effectLst/>
                <a:highlight>
                  <a:srgbClr val="FFFF00"/>
                </a:highlight>
                <a:latin typeface="Arial" panose="020B0604020202020204" pitchFamily="34" charset="0"/>
              </a:rPr>
              <a:t>-optimality ("</a:t>
            </a:r>
            <a:r>
              <a:rPr lang="en-US" sz="2200" b="1" i="0" dirty="0">
                <a:solidFill>
                  <a:srgbClr val="202122"/>
                </a:solidFill>
                <a:effectLst/>
                <a:highlight>
                  <a:srgbClr val="FFFF00"/>
                </a:highlight>
                <a:latin typeface="Arial" panose="020B0604020202020204" pitchFamily="34" charset="0"/>
              </a:rPr>
              <a:t>average</a:t>
            </a:r>
            <a:r>
              <a:rPr lang="en-US" sz="2200" b="0" i="0" dirty="0">
                <a:solidFill>
                  <a:srgbClr val="202122"/>
                </a:solidFill>
                <a:effectLst/>
                <a:highlight>
                  <a:srgbClr val="FFFF00"/>
                </a:highlight>
                <a:latin typeface="Arial" panose="020B0604020202020204" pitchFamily="34" charset="0"/>
              </a:rPr>
              <a:t>" or </a:t>
            </a:r>
            <a:r>
              <a:rPr lang="en-US" sz="2200" b="1" i="0" dirty="0">
                <a:solidFill>
                  <a:srgbClr val="202122"/>
                </a:solidFill>
                <a:effectLst/>
                <a:highlight>
                  <a:srgbClr val="FFFF00"/>
                </a:highlight>
                <a:latin typeface="Arial" panose="020B0604020202020204" pitchFamily="34" charset="0"/>
              </a:rPr>
              <a:t>trace</a:t>
            </a:r>
            <a:r>
              <a:rPr lang="en-US" sz="2200" b="0" i="0" dirty="0">
                <a:solidFill>
                  <a:srgbClr val="202122"/>
                </a:solidFill>
                <a:effectLst/>
                <a:highlight>
                  <a:srgbClr val="FFFF00"/>
                </a:highlight>
                <a:latin typeface="Arial" panose="020B0604020202020204" pitchFamily="34" charset="0"/>
              </a:rPr>
              <a:t>)</a:t>
            </a:r>
          </a:p>
          <a:p>
            <a:pPr marL="742950" lvl="1" indent="-285750" algn="just">
              <a:buFont typeface="Arial" panose="020B0604020202020204" pitchFamily="34" charset="0"/>
              <a:buChar char="•"/>
            </a:pPr>
            <a:r>
              <a:rPr lang="en-US" sz="2200" b="0" i="0" dirty="0">
                <a:solidFill>
                  <a:srgbClr val="202122"/>
                </a:solidFill>
                <a:effectLst/>
                <a:latin typeface="Arial" panose="020B0604020202020204" pitchFamily="34" charset="0"/>
              </a:rPr>
              <a:t>One criterion is </a:t>
            </a:r>
            <a:r>
              <a:rPr lang="en-US" sz="2200" b="1" i="0" dirty="0">
                <a:solidFill>
                  <a:srgbClr val="202122"/>
                </a:solidFill>
                <a:effectLst/>
                <a:latin typeface="Arial" panose="020B0604020202020204" pitchFamily="34" charset="0"/>
              </a:rPr>
              <a:t>A-optimality</a:t>
            </a:r>
            <a:r>
              <a:rPr lang="en-US" sz="2200" b="0" i="0" dirty="0">
                <a:solidFill>
                  <a:srgbClr val="202122"/>
                </a:solidFill>
                <a:effectLst/>
                <a:latin typeface="Arial" panose="020B0604020202020204" pitchFamily="34" charset="0"/>
              </a:rPr>
              <a:t>, which seeks to minimize the </a:t>
            </a:r>
            <a:r>
              <a:rPr lang="en-US" sz="2200" b="0" i="0" u="none" strike="noStrike" dirty="0">
                <a:solidFill>
                  <a:srgbClr val="3366CC"/>
                </a:solidFill>
                <a:effectLst/>
                <a:latin typeface="Arial" panose="020B0604020202020204" pitchFamily="34" charset="0"/>
                <a:hlinkClick r:id="rId2" tooltip="Trace (linear algebra)"/>
              </a:rPr>
              <a:t>trace</a:t>
            </a:r>
            <a:r>
              <a:rPr lang="en-US" sz="2200" b="0" i="0" dirty="0">
                <a:solidFill>
                  <a:srgbClr val="202122"/>
                </a:solidFill>
                <a:effectLst/>
                <a:latin typeface="Arial" panose="020B0604020202020204" pitchFamily="34" charset="0"/>
              </a:rPr>
              <a:t> of the </a:t>
            </a:r>
            <a:r>
              <a:rPr lang="en-US" sz="2200" b="0" i="0" u="none" strike="noStrike" dirty="0">
                <a:solidFill>
                  <a:srgbClr val="3366CC"/>
                </a:solidFill>
                <a:effectLst/>
                <a:latin typeface="Arial" panose="020B0604020202020204" pitchFamily="34" charset="0"/>
                <a:hlinkClick r:id="rId3" tooltip="Invertible matrix"/>
              </a:rPr>
              <a:t>inverse</a:t>
            </a:r>
            <a:r>
              <a:rPr lang="en-US" sz="2200" b="0" i="0" dirty="0">
                <a:solidFill>
                  <a:srgbClr val="202122"/>
                </a:solidFill>
                <a:effectLst/>
                <a:latin typeface="Arial" panose="020B0604020202020204" pitchFamily="34" charset="0"/>
              </a:rPr>
              <a:t> of the information matrix. This criterion results in minimizing the average variance of the estimates of the regression coefficients.</a:t>
            </a:r>
          </a:p>
          <a:p>
            <a:pPr marL="742950" lvl="1" indent="-285750" algn="just">
              <a:buFont typeface="Arial" panose="020B0604020202020204" pitchFamily="34" charset="0"/>
              <a:buChar char="•"/>
            </a:pPr>
            <a:endParaRPr lang="en-US" sz="2200" b="0" i="0" dirty="0">
              <a:solidFill>
                <a:srgbClr val="202122"/>
              </a:solidFill>
              <a:effectLst/>
              <a:latin typeface="Arial" panose="020B0604020202020204" pitchFamily="34" charset="0"/>
            </a:endParaRPr>
          </a:p>
          <a:p>
            <a:pPr algn="just">
              <a:buFont typeface="Arial" panose="020B0604020202020204" pitchFamily="34" charset="0"/>
              <a:buChar char="•"/>
            </a:pPr>
            <a:r>
              <a:rPr lang="en-US" sz="2200" b="1" i="0" dirty="0">
                <a:solidFill>
                  <a:srgbClr val="202122"/>
                </a:solidFill>
                <a:effectLst/>
                <a:highlight>
                  <a:srgbClr val="FFFF00"/>
                </a:highlight>
                <a:latin typeface="Arial" panose="020B0604020202020204" pitchFamily="34" charset="0"/>
              </a:rPr>
              <a:t>C</a:t>
            </a:r>
            <a:r>
              <a:rPr lang="en-US" sz="2200" b="0" i="0" dirty="0">
                <a:solidFill>
                  <a:srgbClr val="202122"/>
                </a:solidFill>
                <a:effectLst/>
                <a:highlight>
                  <a:srgbClr val="FFFF00"/>
                </a:highlight>
                <a:latin typeface="Arial" panose="020B0604020202020204" pitchFamily="34" charset="0"/>
              </a:rPr>
              <a:t>-optimality (Variance, parameters)</a:t>
            </a:r>
          </a:p>
          <a:p>
            <a:pPr marL="742950" lvl="1" indent="-285750" algn="just">
              <a:buFont typeface="Arial" panose="020B0604020202020204" pitchFamily="34" charset="0"/>
              <a:buChar char="•"/>
            </a:pPr>
            <a:r>
              <a:rPr lang="en-US" sz="2200" b="0" i="0" dirty="0">
                <a:solidFill>
                  <a:srgbClr val="202122"/>
                </a:solidFill>
                <a:effectLst/>
                <a:latin typeface="Arial" panose="020B0604020202020204" pitchFamily="34" charset="0"/>
              </a:rPr>
              <a:t>This criterion minimizes the variance of a </a:t>
            </a:r>
            <a:r>
              <a:rPr lang="en-US" sz="2200" b="0" i="0" u="none" strike="noStrike" dirty="0">
                <a:solidFill>
                  <a:srgbClr val="3366CC"/>
                </a:solidFill>
                <a:effectLst/>
                <a:latin typeface="Arial" panose="020B0604020202020204" pitchFamily="34" charset="0"/>
                <a:hlinkClick r:id="rId4" tooltip="Best linear unbiased estimator"/>
              </a:rPr>
              <a:t>best linear unbiased estimator</a:t>
            </a:r>
            <a:r>
              <a:rPr lang="en-US" sz="2200" b="0" i="0" dirty="0">
                <a:solidFill>
                  <a:srgbClr val="202122"/>
                </a:solidFill>
                <a:effectLst/>
                <a:latin typeface="Arial" panose="020B0604020202020204" pitchFamily="34" charset="0"/>
              </a:rPr>
              <a:t> of a predetermined linear combination of model parameters.</a:t>
            </a:r>
          </a:p>
          <a:p>
            <a:pPr marL="742950" lvl="1" indent="-285750" algn="just">
              <a:buFont typeface="Arial" panose="020B0604020202020204" pitchFamily="34" charset="0"/>
              <a:buChar char="•"/>
            </a:pPr>
            <a:endParaRPr lang="en-US" sz="2200" b="0" i="0" dirty="0">
              <a:solidFill>
                <a:srgbClr val="202122"/>
              </a:solidFill>
              <a:effectLst/>
              <a:latin typeface="Arial" panose="020B0604020202020204" pitchFamily="34" charset="0"/>
            </a:endParaRPr>
          </a:p>
          <a:p>
            <a:pPr algn="just">
              <a:buFont typeface="Arial" panose="020B0604020202020204" pitchFamily="34" charset="0"/>
              <a:buChar char="•"/>
            </a:pPr>
            <a:r>
              <a:rPr lang="en-US" sz="2200" b="1" i="0" dirty="0">
                <a:solidFill>
                  <a:srgbClr val="202122"/>
                </a:solidFill>
                <a:effectLst/>
                <a:highlight>
                  <a:srgbClr val="FFFF00"/>
                </a:highlight>
                <a:latin typeface="Arial" panose="020B0604020202020204" pitchFamily="34" charset="0"/>
              </a:rPr>
              <a:t>D</a:t>
            </a:r>
            <a:r>
              <a:rPr lang="en-US" sz="2200" b="0" i="0" dirty="0">
                <a:solidFill>
                  <a:srgbClr val="202122"/>
                </a:solidFill>
                <a:effectLst/>
                <a:highlight>
                  <a:srgbClr val="FFFF00"/>
                </a:highlight>
                <a:latin typeface="Arial" panose="020B0604020202020204" pitchFamily="34" charset="0"/>
              </a:rPr>
              <a:t>-optimality (</a:t>
            </a:r>
            <a:r>
              <a:rPr lang="en-US" sz="2200" b="1" i="0" dirty="0">
                <a:solidFill>
                  <a:srgbClr val="202122"/>
                </a:solidFill>
                <a:effectLst/>
                <a:highlight>
                  <a:srgbClr val="FFFF00"/>
                </a:highlight>
                <a:latin typeface="Arial" panose="020B0604020202020204" pitchFamily="34" charset="0"/>
              </a:rPr>
              <a:t>determinant</a:t>
            </a:r>
            <a:r>
              <a:rPr lang="en-US" sz="2200" b="0" i="0" dirty="0">
                <a:solidFill>
                  <a:srgbClr val="202122"/>
                </a:solidFill>
                <a:effectLst/>
                <a:highlight>
                  <a:srgbClr val="FFFF00"/>
                </a:highlight>
                <a:latin typeface="Arial" panose="020B0604020202020204" pitchFamily="34" charset="0"/>
              </a:rPr>
              <a:t>)</a:t>
            </a:r>
          </a:p>
          <a:p>
            <a:pPr marL="742950" lvl="1" indent="-285750" algn="just">
              <a:buFont typeface="Arial" panose="020B0604020202020204" pitchFamily="34" charset="0"/>
              <a:buChar char="•"/>
            </a:pPr>
            <a:r>
              <a:rPr lang="en-US" sz="2200" b="0" i="0" dirty="0">
                <a:solidFill>
                  <a:srgbClr val="202122"/>
                </a:solidFill>
                <a:effectLst/>
                <a:latin typeface="Arial" panose="020B0604020202020204" pitchFamily="34" charset="0"/>
              </a:rPr>
              <a:t>A popular criterion is </a:t>
            </a:r>
            <a:r>
              <a:rPr lang="en-US" sz="2200" b="1" i="0" dirty="0">
                <a:solidFill>
                  <a:srgbClr val="202122"/>
                </a:solidFill>
                <a:effectLst/>
                <a:latin typeface="Arial" panose="020B0604020202020204" pitchFamily="34" charset="0"/>
              </a:rPr>
              <a:t>D-optimality</a:t>
            </a:r>
            <a:r>
              <a:rPr lang="en-US" sz="2200" b="0" i="0" dirty="0">
                <a:solidFill>
                  <a:srgbClr val="202122"/>
                </a:solidFill>
                <a:effectLst/>
                <a:latin typeface="Arial" panose="020B0604020202020204" pitchFamily="34" charset="0"/>
              </a:rPr>
              <a:t>, which seeks to minimize |(X'X)</a:t>
            </a:r>
            <a:r>
              <a:rPr lang="en-US" sz="2200" b="0" i="0" baseline="30000" dirty="0">
                <a:solidFill>
                  <a:srgbClr val="202122"/>
                </a:solidFill>
                <a:effectLst/>
                <a:latin typeface="Arial" panose="020B0604020202020204" pitchFamily="34" charset="0"/>
              </a:rPr>
              <a:t>−1</a:t>
            </a:r>
            <a:r>
              <a:rPr lang="en-US" sz="2200" b="0" i="0" dirty="0">
                <a:solidFill>
                  <a:srgbClr val="202122"/>
                </a:solidFill>
                <a:effectLst/>
                <a:latin typeface="Arial" panose="020B0604020202020204" pitchFamily="34" charset="0"/>
              </a:rPr>
              <a:t>|, or equivalently maximize the </a:t>
            </a:r>
            <a:r>
              <a:rPr lang="en-US" sz="2200" b="0" i="0" u="none" strike="noStrike" dirty="0">
                <a:solidFill>
                  <a:srgbClr val="3366CC"/>
                </a:solidFill>
                <a:effectLst/>
                <a:latin typeface="Arial" panose="020B0604020202020204" pitchFamily="34" charset="0"/>
                <a:hlinkClick r:id="rId5" tooltip="Determinant"/>
              </a:rPr>
              <a:t>determinant</a:t>
            </a:r>
            <a:r>
              <a:rPr lang="en-US" sz="2200" b="0" i="0" dirty="0">
                <a:solidFill>
                  <a:srgbClr val="202122"/>
                </a:solidFill>
                <a:effectLst/>
                <a:latin typeface="Arial" panose="020B0604020202020204" pitchFamily="34" charset="0"/>
              </a:rPr>
              <a:t> of the </a:t>
            </a:r>
            <a:r>
              <a:rPr lang="en-US" sz="2200" b="0" i="0" u="none" strike="noStrike" dirty="0">
                <a:solidFill>
                  <a:srgbClr val="3366CC"/>
                </a:solidFill>
                <a:effectLst/>
                <a:latin typeface="Arial" panose="020B0604020202020204" pitchFamily="34" charset="0"/>
                <a:hlinkClick r:id="rId6" tooltip="Information matrix"/>
              </a:rPr>
              <a:t>information matrix</a:t>
            </a:r>
            <a:r>
              <a:rPr lang="en-US" sz="2200" b="0" i="0" dirty="0">
                <a:solidFill>
                  <a:srgbClr val="202122"/>
                </a:solidFill>
                <a:effectLst/>
                <a:latin typeface="Arial" panose="020B0604020202020204" pitchFamily="34" charset="0"/>
              </a:rPr>
              <a:t> X'X of the design. This criterion results in maximizing the </a:t>
            </a:r>
            <a:r>
              <a:rPr lang="en-US" sz="2200" b="0" i="0" u="none" strike="noStrike" dirty="0">
                <a:solidFill>
                  <a:srgbClr val="3366CC"/>
                </a:solidFill>
                <a:effectLst/>
                <a:latin typeface="Arial" panose="020B0604020202020204" pitchFamily="34" charset="0"/>
                <a:hlinkClick r:id="rId7" tooltip="Differential entropy"/>
              </a:rPr>
              <a:t>differential Shannon information</a:t>
            </a:r>
            <a:r>
              <a:rPr lang="en-US" sz="2200" b="0" i="0" dirty="0">
                <a:solidFill>
                  <a:srgbClr val="202122"/>
                </a:solidFill>
                <a:effectLst/>
                <a:latin typeface="Arial" panose="020B0604020202020204" pitchFamily="34" charset="0"/>
              </a:rPr>
              <a:t> content of the parameter estimates.</a:t>
            </a:r>
          </a:p>
        </p:txBody>
      </p:sp>
    </p:spTree>
    <p:extLst>
      <p:ext uri="{BB962C8B-B14F-4D97-AF65-F5344CB8AC3E}">
        <p14:creationId xmlns:p14="http://schemas.microsoft.com/office/powerpoint/2010/main" val="2361540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8D8B-C696-1038-0574-918E8B584F9D}"/>
              </a:ext>
            </a:extLst>
          </p:cNvPr>
          <p:cNvSpPr>
            <a:spLocks noGrp="1"/>
          </p:cNvSpPr>
          <p:nvPr>
            <p:ph type="title"/>
          </p:nvPr>
        </p:nvSpPr>
        <p:spPr/>
        <p:txBody>
          <a:bodyPr/>
          <a:lstStyle/>
          <a:p>
            <a:r>
              <a:rPr lang="en-US" dirty="0"/>
              <a:t>Types of Optimality</a:t>
            </a:r>
            <a:endParaRPr lang="en-IN" dirty="0"/>
          </a:p>
        </p:txBody>
      </p:sp>
      <p:sp>
        <p:nvSpPr>
          <p:cNvPr id="3" name="Content Placeholder 2">
            <a:extLst>
              <a:ext uri="{FF2B5EF4-FFF2-40B4-BE49-F238E27FC236}">
                <a16:creationId xmlns:a16="http://schemas.microsoft.com/office/drawing/2014/main" id="{A0BBC1DB-EF31-A6CC-8A7E-3CFBC0901F63}"/>
              </a:ext>
            </a:extLst>
          </p:cNvPr>
          <p:cNvSpPr>
            <a:spLocks noGrp="1"/>
          </p:cNvSpPr>
          <p:nvPr>
            <p:ph idx="1"/>
          </p:nvPr>
        </p:nvSpPr>
        <p:spPr/>
        <p:txBody>
          <a:bodyPr>
            <a:noAutofit/>
          </a:bodyPr>
          <a:lstStyle/>
          <a:p>
            <a:pPr algn="just">
              <a:buFont typeface="Arial" panose="020B0604020202020204" pitchFamily="34" charset="0"/>
              <a:buChar char="•"/>
            </a:pPr>
            <a:r>
              <a:rPr lang="en-US" sz="2300" b="1" i="0" dirty="0">
                <a:solidFill>
                  <a:srgbClr val="202122"/>
                </a:solidFill>
                <a:effectLst/>
                <a:highlight>
                  <a:srgbClr val="FFFF00"/>
                </a:highlight>
                <a:latin typeface="Arial" panose="020B0604020202020204" pitchFamily="34" charset="0"/>
              </a:rPr>
              <a:t>E</a:t>
            </a:r>
            <a:r>
              <a:rPr lang="en-US" sz="2300" b="0" i="0" dirty="0">
                <a:solidFill>
                  <a:srgbClr val="202122"/>
                </a:solidFill>
                <a:effectLst/>
                <a:highlight>
                  <a:srgbClr val="FFFF00"/>
                </a:highlight>
                <a:latin typeface="Arial" panose="020B0604020202020204" pitchFamily="34" charset="0"/>
              </a:rPr>
              <a:t>-optimality (</a:t>
            </a:r>
            <a:r>
              <a:rPr lang="en-US" sz="2300" b="1" i="0" dirty="0">
                <a:solidFill>
                  <a:srgbClr val="202122"/>
                </a:solidFill>
                <a:effectLst/>
                <a:highlight>
                  <a:srgbClr val="FFFF00"/>
                </a:highlight>
                <a:latin typeface="Arial" panose="020B0604020202020204" pitchFamily="34" charset="0"/>
              </a:rPr>
              <a:t>eigenvalue</a:t>
            </a:r>
            <a:r>
              <a:rPr lang="en-US" sz="2300" b="0" i="0" dirty="0">
                <a:solidFill>
                  <a:srgbClr val="202122"/>
                </a:solidFill>
                <a:effectLst/>
                <a:highlight>
                  <a:srgbClr val="FFFF00"/>
                </a:highlight>
                <a:latin typeface="Arial" panose="020B0604020202020204" pitchFamily="34" charset="0"/>
              </a:rPr>
              <a:t>)</a:t>
            </a:r>
          </a:p>
          <a:p>
            <a:pPr marL="742950" lvl="1" indent="-285750" algn="just">
              <a:buFont typeface="Arial" panose="020B0604020202020204" pitchFamily="34" charset="0"/>
              <a:buChar char="•"/>
            </a:pPr>
            <a:r>
              <a:rPr lang="en-US" sz="2300" b="0" i="0" dirty="0">
                <a:solidFill>
                  <a:srgbClr val="202122"/>
                </a:solidFill>
                <a:effectLst/>
                <a:latin typeface="Arial" panose="020B0604020202020204" pitchFamily="34" charset="0"/>
              </a:rPr>
              <a:t>Another design is </a:t>
            </a:r>
            <a:r>
              <a:rPr lang="en-US" sz="2300" b="1" i="0" dirty="0">
                <a:solidFill>
                  <a:srgbClr val="202122"/>
                </a:solidFill>
                <a:effectLst/>
                <a:latin typeface="Arial" panose="020B0604020202020204" pitchFamily="34" charset="0"/>
              </a:rPr>
              <a:t>E-optimality</a:t>
            </a:r>
            <a:r>
              <a:rPr lang="en-US" sz="2300" b="0" i="0" dirty="0">
                <a:solidFill>
                  <a:srgbClr val="202122"/>
                </a:solidFill>
                <a:effectLst/>
                <a:latin typeface="Arial" panose="020B0604020202020204" pitchFamily="34" charset="0"/>
              </a:rPr>
              <a:t>, which maximizes the minimum </a:t>
            </a:r>
            <a:r>
              <a:rPr lang="en-US" sz="2300" b="0" i="0" u="none" strike="noStrike" dirty="0">
                <a:solidFill>
                  <a:srgbClr val="3366CC"/>
                </a:solidFill>
                <a:effectLst/>
                <a:latin typeface="Arial" panose="020B0604020202020204" pitchFamily="34" charset="0"/>
                <a:hlinkClick r:id="rId2" tooltip="Eigenvalue"/>
              </a:rPr>
              <a:t>eigenvalue</a:t>
            </a:r>
            <a:r>
              <a:rPr lang="en-US" sz="2300" b="0" i="0" dirty="0">
                <a:solidFill>
                  <a:srgbClr val="202122"/>
                </a:solidFill>
                <a:effectLst/>
                <a:latin typeface="Arial" panose="020B0604020202020204" pitchFamily="34" charset="0"/>
              </a:rPr>
              <a:t> of the information matrix.</a:t>
            </a:r>
          </a:p>
          <a:p>
            <a:pPr marL="742950" lvl="1" indent="-285750" algn="just">
              <a:buFont typeface="Arial" panose="020B0604020202020204" pitchFamily="34" charset="0"/>
              <a:buChar char="•"/>
            </a:pPr>
            <a:endParaRPr lang="en-US" sz="2300" b="0" i="0" dirty="0">
              <a:solidFill>
                <a:srgbClr val="202122"/>
              </a:solidFill>
              <a:effectLst/>
              <a:latin typeface="Arial" panose="020B0604020202020204" pitchFamily="34" charset="0"/>
            </a:endParaRPr>
          </a:p>
          <a:p>
            <a:pPr algn="just">
              <a:buFont typeface="Arial" panose="020B0604020202020204" pitchFamily="34" charset="0"/>
              <a:buChar char="•"/>
            </a:pPr>
            <a:r>
              <a:rPr lang="en-US" sz="2300" b="1" i="0" dirty="0">
                <a:solidFill>
                  <a:srgbClr val="202122"/>
                </a:solidFill>
                <a:effectLst/>
                <a:highlight>
                  <a:srgbClr val="FFFF00"/>
                </a:highlight>
                <a:latin typeface="Arial" panose="020B0604020202020204" pitchFamily="34" charset="0"/>
              </a:rPr>
              <a:t>S</a:t>
            </a:r>
            <a:r>
              <a:rPr lang="en-US" sz="2300" b="0" i="0" dirty="0">
                <a:solidFill>
                  <a:srgbClr val="202122"/>
                </a:solidFill>
                <a:effectLst/>
                <a:highlight>
                  <a:srgbClr val="FFFF00"/>
                </a:highlight>
                <a:latin typeface="Arial" panose="020B0604020202020204" pitchFamily="34" charset="0"/>
              </a:rPr>
              <a:t>-optimality (mutual column)</a:t>
            </a:r>
          </a:p>
          <a:p>
            <a:pPr marL="742950" lvl="1" indent="-285750" algn="just">
              <a:buFont typeface="Arial" panose="020B0604020202020204" pitchFamily="34" charset="0"/>
              <a:buChar char="•"/>
            </a:pPr>
            <a:r>
              <a:rPr lang="en-US" sz="2300" b="0" i="0" dirty="0">
                <a:solidFill>
                  <a:srgbClr val="202122"/>
                </a:solidFill>
                <a:effectLst/>
                <a:latin typeface="Arial" panose="020B0604020202020204" pitchFamily="34" charset="0"/>
              </a:rPr>
              <a:t>This criterion maximizes a quantity measuring the mutual column orthogonality of X and the </a:t>
            </a:r>
            <a:r>
              <a:rPr lang="en-US" sz="2300" b="0" i="0" u="none" strike="noStrike" dirty="0">
                <a:solidFill>
                  <a:srgbClr val="3366CC"/>
                </a:solidFill>
                <a:effectLst/>
                <a:latin typeface="Arial" panose="020B0604020202020204" pitchFamily="34" charset="0"/>
                <a:hlinkClick r:id="rId3" tooltip="Determinant"/>
              </a:rPr>
              <a:t>determinant</a:t>
            </a:r>
            <a:r>
              <a:rPr lang="en-US" sz="2300" b="0" i="0" dirty="0">
                <a:solidFill>
                  <a:srgbClr val="202122"/>
                </a:solidFill>
                <a:effectLst/>
                <a:latin typeface="Arial" panose="020B0604020202020204" pitchFamily="34" charset="0"/>
              </a:rPr>
              <a:t> of the information matrix.</a:t>
            </a:r>
          </a:p>
          <a:p>
            <a:pPr marL="742950" lvl="1" indent="-285750" algn="just">
              <a:buFont typeface="Arial" panose="020B0604020202020204" pitchFamily="34" charset="0"/>
              <a:buChar char="•"/>
            </a:pPr>
            <a:endParaRPr lang="en-US" sz="2300" b="0" i="0" dirty="0">
              <a:solidFill>
                <a:srgbClr val="202122"/>
              </a:solidFill>
              <a:effectLst/>
              <a:latin typeface="Arial" panose="020B0604020202020204" pitchFamily="34" charset="0"/>
            </a:endParaRPr>
          </a:p>
          <a:p>
            <a:pPr algn="just">
              <a:buFont typeface="Arial" panose="020B0604020202020204" pitchFamily="34" charset="0"/>
              <a:buChar char="•"/>
            </a:pPr>
            <a:r>
              <a:rPr lang="en-US" sz="2300" b="1" i="0" dirty="0">
                <a:solidFill>
                  <a:srgbClr val="202122"/>
                </a:solidFill>
                <a:effectLst/>
                <a:highlight>
                  <a:srgbClr val="FFFF00"/>
                </a:highlight>
                <a:latin typeface="Arial" panose="020B0604020202020204" pitchFamily="34" charset="0"/>
              </a:rPr>
              <a:t>T</a:t>
            </a:r>
            <a:r>
              <a:rPr lang="en-US" sz="2300" b="0" i="0" dirty="0">
                <a:solidFill>
                  <a:srgbClr val="202122"/>
                </a:solidFill>
                <a:effectLst/>
                <a:highlight>
                  <a:srgbClr val="FFFF00"/>
                </a:highlight>
                <a:latin typeface="Arial" panose="020B0604020202020204" pitchFamily="34" charset="0"/>
              </a:rPr>
              <a:t>-optimality (discrepancy - Location)</a:t>
            </a:r>
          </a:p>
          <a:p>
            <a:pPr marL="742950" lvl="1" indent="-285750" algn="just">
              <a:buFont typeface="Arial" panose="020B0604020202020204" pitchFamily="34" charset="0"/>
              <a:buChar char="•"/>
            </a:pPr>
            <a:r>
              <a:rPr lang="en-US" sz="2300" b="0" i="0" dirty="0">
                <a:solidFill>
                  <a:srgbClr val="202122"/>
                </a:solidFill>
                <a:effectLst/>
                <a:latin typeface="Arial" panose="020B0604020202020204" pitchFamily="34" charset="0"/>
              </a:rPr>
              <a:t>This criterion maximizes the discrepancy between two proposed models at the design locations.</a:t>
            </a:r>
          </a:p>
        </p:txBody>
      </p:sp>
    </p:spTree>
    <p:extLst>
      <p:ext uri="{BB962C8B-B14F-4D97-AF65-F5344CB8AC3E}">
        <p14:creationId xmlns:p14="http://schemas.microsoft.com/office/powerpoint/2010/main" val="4198953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8D8B-C696-1038-0574-918E8B584F9D}"/>
              </a:ext>
            </a:extLst>
          </p:cNvPr>
          <p:cNvSpPr>
            <a:spLocks noGrp="1"/>
          </p:cNvSpPr>
          <p:nvPr>
            <p:ph type="title"/>
          </p:nvPr>
        </p:nvSpPr>
        <p:spPr/>
        <p:txBody>
          <a:bodyPr/>
          <a:lstStyle/>
          <a:p>
            <a:r>
              <a:rPr lang="en-US" dirty="0"/>
              <a:t>Types of Optimality</a:t>
            </a:r>
            <a:endParaRPr lang="en-IN" dirty="0"/>
          </a:p>
        </p:txBody>
      </p:sp>
      <p:sp>
        <p:nvSpPr>
          <p:cNvPr id="3" name="Content Placeholder 2">
            <a:extLst>
              <a:ext uri="{FF2B5EF4-FFF2-40B4-BE49-F238E27FC236}">
                <a16:creationId xmlns:a16="http://schemas.microsoft.com/office/drawing/2014/main" id="{A0BBC1DB-EF31-A6CC-8A7E-3CFBC0901F63}"/>
              </a:ext>
            </a:extLst>
          </p:cNvPr>
          <p:cNvSpPr>
            <a:spLocks noGrp="1"/>
          </p:cNvSpPr>
          <p:nvPr>
            <p:ph idx="1"/>
          </p:nvPr>
        </p:nvSpPr>
        <p:spPr>
          <a:xfrm>
            <a:off x="1371600" y="1595120"/>
            <a:ext cx="10149840" cy="4272280"/>
          </a:xfrm>
        </p:spPr>
        <p:txBody>
          <a:bodyPr>
            <a:noAutofit/>
          </a:bodyPr>
          <a:lstStyle/>
          <a:p>
            <a:pPr algn="just">
              <a:buFont typeface="Arial" panose="020B0604020202020204" pitchFamily="34" charset="0"/>
              <a:buChar char="•"/>
            </a:pPr>
            <a:r>
              <a:rPr lang="en-US" sz="2300" b="1" i="0" dirty="0">
                <a:solidFill>
                  <a:srgbClr val="202122"/>
                </a:solidFill>
                <a:effectLst/>
                <a:highlight>
                  <a:srgbClr val="FFFF00"/>
                </a:highlight>
                <a:latin typeface="Arial" panose="020B0604020202020204" pitchFamily="34" charset="0"/>
              </a:rPr>
              <a:t>G</a:t>
            </a:r>
            <a:r>
              <a:rPr lang="en-US" sz="2300" b="0" i="0" dirty="0">
                <a:solidFill>
                  <a:srgbClr val="202122"/>
                </a:solidFill>
                <a:effectLst/>
                <a:highlight>
                  <a:srgbClr val="FFFF00"/>
                </a:highlight>
                <a:latin typeface="Arial" panose="020B0604020202020204" pitchFamily="34" charset="0"/>
              </a:rPr>
              <a:t>-optimality (Matrix)</a:t>
            </a:r>
          </a:p>
          <a:p>
            <a:pPr marL="742950" lvl="1" indent="-285750" algn="just">
              <a:buFont typeface="Arial" panose="020B0604020202020204" pitchFamily="34" charset="0"/>
              <a:buChar char="•"/>
            </a:pPr>
            <a:r>
              <a:rPr lang="en-US" sz="2300" b="0" i="0" dirty="0">
                <a:solidFill>
                  <a:srgbClr val="202122"/>
                </a:solidFill>
                <a:effectLst/>
                <a:latin typeface="Arial" panose="020B0604020202020204" pitchFamily="34" charset="0"/>
              </a:rPr>
              <a:t>A popular criterion is </a:t>
            </a:r>
            <a:r>
              <a:rPr lang="en-US" sz="2300" b="1" i="0" dirty="0">
                <a:solidFill>
                  <a:srgbClr val="202122"/>
                </a:solidFill>
                <a:effectLst/>
                <a:latin typeface="Arial" panose="020B0604020202020204" pitchFamily="34" charset="0"/>
              </a:rPr>
              <a:t>G-optimality</a:t>
            </a:r>
            <a:r>
              <a:rPr lang="en-US" sz="2300" b="0" i="0" dirty="0">
                <a:solidFill>
                  <a:srgbClr val="202122"/>
                </a:solidFill>
                <a:effectLst/>
                <a:latin typeface="Arial" panose="020B0604020202020204" pitchFamily="34" charset="0"/>
              </a:rPr>
              <a:t>, which seeks to minimize the maximum entry in the </a:t>
            </a:r>
            <a:r>
              <a:rPr lang="en-US" sz="2300" b="0" i="0" u="none" strike="noStrike" dirty="0">
                <a:solidFill>
                  <a:srgbClr val="3366CC"/>
                </a:solidFill>
                <a:effectLst/>
                <a:latin typeface="Arial" panose="020B0604020202020204" pitchFamily="34" charset="0"/>
                <a:hlinkClick r:id="rId2" tooltip="Diagonal"/>
              </a:rPr>
              <a:t>diagonal</a:t>
            </a:r>
            <a:r>
              <a:rPr lang="en-US" sz="2300" b="0" i="0" dirty="0">
                <a:solidFill>
                  <a:srgbClr val="202122"/>
                </a:solidFill>
                <a:effectLst/>
                <a:latin typeface="Arial" panose="020B0604020202020204" pitchFamily="34" charset="0"/>
              </a:rPr>
              <a:t> of the </a:t>
            </a:r>
            <a:r>
              <a:rPr lang="en-US" sz="2300" b="0" i="0" u="none" strike="noStrike" dirty="0">
                <a:solidFill>
                  <a:srgbClr val="3366CC"/>
                </a:solidFill>
                <a:effectLst/>
                <a:latin typeface="Arial" panose="020B0604020202020204" pitchFamily="34" charset="0"/>
                <a:hlinkClick r:id="rId3" tooltip="Hat matrix"/>
              </a:rPr>
              <a:t>hat matrix</a:t>
            </a:r>
            <a:r>
              <a:rPr lang="en-US" sz="2300" b="0" i="0" dirty="0">
                <a:solidFill>
                  <a:srgbClr val="202122"/>
                </a:solidFill>
                <a:effectLst/>
                <a:latin typeface="Arial" panose="020B0604020202020204" pitchFamily="34" charset="0"/>
              </a:rPr>
              <a:t> X(X'X)</a:t>
            </a:r>
            <a:r>
              <a:rPr lang="en-US" sz="2300" b="0" i="0" baseline="30000" dirty="0">
                <a:solidFill>
                  <a:srgbClr val="202122"/>
                </a:solidFill>
                <a:effectLst/>
                <a:latin typeface="Arial" panose="020B0604020202020204" pitchFamily="34" charset="0"/>
              </a:rPr>
              <a:t>−1</a:t>
            </a:r>
            <a:r>
              <a:rPr lang="en-US" sz="2300" b="0" i="0" dirty="0">
                <a:solidFill>
                  <a:srgbClr val="202122"/>
                </a:solidFill>
                <a:effectLst/>
                <a:latin typeface="Arial" panose="020B0604020202020204" pitchFamily="34" charset="0"/>
              </a:rPr>
              <a:t>X'. This has the effect of minimizing the maximum variance of the predicted values.</a:t>
            </a:r>
          </a:p>
          <a:p>
            <a:pPr marL="742950" lvl="1" indent="-285750" algn="just">
              <a:buFont typeface="Arial" panose="020B0604020202020204" pitchFamily="34" charset="0"/>
              <a:buChar char="•"/>
            </a:pPr>
            <a:endParaRPr lang="en-US" sz="2300" b="0" i="0" dirty="0">
              <a:solidFill>
                <a:srgbClr val="202122"/>
              </a:solidFill>
              <a:effectLst/>
              <a:latin typeface="Arial" panose="020B0604020202020204" pitchFamily="34" charset="0"/>
            </a:endParaRPr>
          </a:p>
          <a:p>
            <a:pPr algn="just">
              <a:buFont typeface="Arial" panose="020B0604020202020204" pitchFamily="34" charset="0"/>
              <a:buChar char="•"/>
            </a:pPr>
            <a:r>
              <a:rPr lang="en-US" sz="2300" b="1" i="0" dirty="0">
                <a:solidFill>
                  <a:srgbClr val="202122"/>
                </a:solidFill>
                <a:effectLst/>
                <a:highlight>
                  <a:srgbClr val="FFFF00"/>
                </a:highlight>
                <a:latin typeface="Arial" panose="020B0604020202020204" pitchFamily="34" charset="0"/>
              </a:rPr>
              <a:t>I</a:t>
            </a:r>
            <a:r>
              <a:rPr lang="en-US" sz="2300" b="0" i="0" dirty="0">
                <a:solidFill>
                  <a:srgbClr val="202122"/>
                </a:solidFill>
                <a:effectLst/>
                <a:highlight>
                  <a:srgbClr val="FFFF00"/>
                </a:highlight>
                <a:latin typeface="Arial" panose="020B0604020202020204" pitchFamily="34" charset="0"/>
              </a:rPr>
              <a:t>-optimality (</a:t>
            </a:r>
            <a:r>
              <a:rPr lang="en-US" sz="2300" b="1" i="0" dirty="0">
                <a:solidFill>
                  <a:srgbClr val="202122"/>
                </a:solidFill>
                <a:effectLst/>
                <a:highlight>
                  <a:srgbClr val="FFFF00"/>
                </a:highlight>
                <a:latin typeface="Arial" panose="020B0604020202020204" pitchFamily="34" charset="0"/>
              </a:rPr>
              <a:t>integrated</a:t>
            </a:r>
            <a:r>
              <a:rPr lang="en-US" sz="2300" b="0" i="0" dirty="0">
                <a:solidFill>
                  <a:srgbClr val="202122"/>
                </a:solidFill>
                <a:effectLst/>
                <a:highlight>
                  <a:srgbClr val="FFFF00"/>
                </a:highlight>
                <a:latin typeface="Arial" panose="020B0604020202020204" pitchFamily="34" charset="0"/>
              </a:rPr>
              <a:t>)</a:t>
            </a:r>
          </a:p>
          <a:p>
            <a:pPr marL="742950" lvl="1" indent="-285750" algn="just">
              <a:buFont typeface="Arial" panose="020B0604020202020204" pitchFamily="34" charset="0"/>
              <a:buChar char="•"/>
            </a:pPr>
            <a:r>
              <a:rPr lang="en-US" sz="2300" b="0" i="0" dirty="0">
                <a:solidFill>
                  <a:srgbClr val="202122"/>
                </a:solidFill>
                <a:effectLst/>
                <a:latin typeface="Arial" panose="020B0604020202020204" pitchFamily="34" charset="0"/>
              </a:rPr>
              <a:t>A second criterion on prediction variance is </a:t>
            </a:r>
            <a:r>
              <a:rPr lang="en-US" sz="2300" b="1" i="0" dirty="0">
                <a:solidFill>
                  <a:srgbClr val="202122"/>
                </a:solidFill>
                <a:effectLst/>
                <a:latin typeface="Arial" panose="020B0604020202020204" pitchFamily="34" charset="0"/>
              </a:rPr>
              <a:t>I-optimality</a:t>
            </a:r>
            <a:r>
              <a:rPr lang="en-US" sz="2300" b="0" i="0" dirty="0">
                <a:solidFill>
                  <a:srgbClr val="202122"/>
                </a:solidFill>
                <a:effectLst/>
                <a:latin typeface="Arial" panose="020B0604020202020204" pitchFamily="34" charset="0"/>
              </a:rPr>
              <a:t>, which seeks to minimize the average prediction variance </a:t>
            </a:r>
            <a:r>
              <a:rPr lang="en-US" sz="2300" b="0" i="1" dirty="0">
                <a:solidFill>
                  <a:srgbClr val="202122"/>
                </a:solidFill>
                <a:effectLst/>
                <a:latin typeface="Arial" panose="020B0604020202020204" pitchFamily="34" charset="0"/>
              </a:rPr>
              <a:t>over the design space</a:t>
            </a:r>
            <a:r>
              <a:rPr lang="en-US" sz="2300" b="0" i="0" dirty="0">
                <a:solidFill>
                  <a:srgbClr val="202122"/>
                </a:solidFill>
                <a:effectLst/>
                <a:latin typeface="Arial" panose="020B0604020202020204" pitchFamily="34" charset="0"/>
              </a:rPr>
              <a:t>.</a:t>
            </a:r>
          </a:p>
          <a:p>
            <a:pPr marL="742950" lvl="1" indent="-285750" algn="just">
              <a:buFont typeface="Arial" panose="020B0604020202020204" pitchFamily="34" charset="0"/>
              <a:buChar char="•"/>
            </a:pPr>
            <a:endParaRPr lang="en-US" sz="2300" b="0" i="0" dirty="0">
              <a:solidFill>
                <a:srgbClr val="202122"/>
              </a:solidFill>
              <a:effectLst/>
              <a:latin typeface="Arial" panose="020B0604020202020204" pitchFamily="34" charset="0"/>
            </a:endParaRPr>
          </a:p>
          <a:p>
            <a:pPr algn="just">
              <a:buFont typeface="Arial" panose="020B0604020202020204" pitchFamily="34" charset="0"/>
              <a:buChar char="•"/>
            </a:pPr>
            <a:r>
              <a:rPr lang="en-US" sz="2300" b="1" i="0" dirty="0">
                <a:solidFill>
                  <a:srgbClr val="202122"/>
                </a:solidFill>
                <a:effectLst/>
                <a:highlight>
                  <a:srgbClr val="FFFF00"/>
                </a:highlight>
                <a:latin typeface="Arial" panose="020B0604020202020204" pitchFamily="34" charset="0"/>
              </a:rPr>
              <a:t>V</a:t>
            </a:r>
            <a:r>
              <a:rPr lang="en-US" sz="2300" b="0" i="0" dirty="0">
                <a:solidFill>
                  <a:srgbClr val="202122"/>
                </a:solidFill>
                <a:effectLst/>
                <a:highlight>
                  <a:srgbClr val="FFFF00"/>
                </a:highlight>
                <a:latin typeface="Arial" panose="020B0604020202020204" pitchFamily="34" charset="0"/>
              </a:rPr>
              <a:t>-optimality (</a:t>
            </a:r>
            <a:r>
              <a:rPr lang="en-US" sz="2300" b="1" i="0" dirty="0">
                <a:solidFill>
                  <a:srgbClr val="202122"/>
                </a:solidFill>
                <a:effectLst/>
                <a:highlight>
                  <a:srgbClr val="FFFF00"/>
                </a:highlight>
                <a:latin typeface="Arial" panose="020B0604020202020204" pitchFamily="34" charset="0"/>
              </a:rPr>
              <a:t>variance</a:t>
            </a:r>
            <a:r>
              <a:rPr lang="en-US" sz="2300" b="0" i="0" dirty="0">
                <a:solidFill>
                  <a:srgbClr val="202122"/>
                </a:solidFill>
                <a:effectLst/>
                <a:highlight>
                  <a:srgbClr val="FFFF00"/>
                </a:highlight>
                <a:latin typeface="Arial" panose="020B0604020202020204" pitchFamily="34" charset="0"/>
              </a:rPr>
              <a:t>)</a:t>
            </a:r>
          </a:p>
          <a:p>
            <a:pPr marL="742950" lvl="1" indent="-285750" algn="just">
              <a:buFont typeface="Arial" panose="020B0604020202020204" pitchFamily="34" charset="0"/>
              <a:buChar char="•"/>
            </a:pPr>
            <a:r>
              <a:rPr lang="en-US" sz="2300" b="0" i="0" dirty="0">
                <a:solidFill>
                  <a:srgbClr val="202122"/>
                </a:solidFill>
                <a:effectLst/>
                <a:latin typeface="Arial" panose="020B0604020202020204" pitchFamily="34" charset="0"/>
              </a:rPr>
              <a:t>A third criterion on prediction variance is </a:t>
            </a:r>
            <a:r>
              <a:rPr lang="en-US" sz="2300" b="1" i="0" dirty="0">
                <a:solidFill>
                  <a:srgbClr val="202122"/>
                </a:solidFill>
                <a:effectLst/>
                <a:latin typeface="Arial" panose="020B0604020202020204" pitchFamily="34" charset="0"/>
              </a:rPr>
              <a:t>V-optimality</a:t>
            </a:r>
            <a:r>
              <a:rPr lang="en-US" sz="2300" b="0" i="0" dirty="0">
                <a:solidFill>
                  <a:srgbClr val="202122"/>
                </a:solidFill>
                <a:effectLst/>
                <a:latin typeface="Arial" panose="020B0604020202020204" pitchFamily="34" charset="0"/>
              </a:rPr>
              <a:t>, which seeks to minimize the average prediction variance over a set of m specific points.</a:t>
            </a:r>
            <a:endParaRPr lang="en-IN" sz="2300" dirty="0"/>
          </a:p>
        </p:txBody>
      </p:sp>
    </p:spTree>
    <p:extLst>
      <p:ext uri="{BB962C8B-B14F-4D97-AF65-F5344CB8AC3E}">
        <p14:creationId xmlns:p14="http://schemas.microsoft.com/office/powerpoint/2010/main" val="18781937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6C0565-1C24-40D7-9FDF-8C12786864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7f7ae6-7a87-4d3a-a44f-b1b75ae19d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F09AE09-C14E-4DEB-892B-B7F0F5A3FFA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25E785B-7E9E-4F1D-A188-662573F35E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Crop</Template>
  <TotalTime>3756</TotalTime>
  <Words>836</Words>
  <Application>Microsoft Office PowerPoint</Application>
  <PresentationFormat>Widescreen</PresentationFormat>
  <Paragraphs>55</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Crop</vt:lpstr>
      <vt:lpstr>PowerPoint Presentation</vt:lpstr>
      <vt:lpstr>Module No. 6 Hierarchical Reinforcement Learning 8 Hours</vt:lpstr>
      <vt:lpstr>Optimality</vt:lpstr>
      <vt:lpstr>Principle of Optimality</vt:lpstr>
      <vt:lpstr>Options - Policy-over-Options </vt:lpstr>
      <vt:lpstr>Options - Policy-over-Options </vt:lpstr>
      <vt:lpstr>Types of Optimality</vt:lpstr>
      <vt:lpstr>Types of Optimality</vt:lpstr>
      <vt:lpstr>Types of Optimality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37</cp:revision>
  <dcterms:created xsi:type="dcterms:W3CDTF">2023-01-04T16:33:49Z</dcterms:created>
  <dcterms:modified xsi:type="dcterms:W3CDTF">2026-04-18T07:49:47Z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
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2"/>
  </p:notesMasterIdLst>
  <p:sldIdLst>
    <p:sldId id="585" r:id="rId5"/>
    <p:sldId id="262" r:id="rId6"/>
    <p:sldId id="632" r:id="rId7"/>
    <p:sldId id="633" r:id="rId8"/>
    <p:sldId id="634" r:id="rId9"/>
    <p:sldId id="635" r:id="rId10"/>
    <p:sldId id="637" r:id="rId11"/>
    <p:sldId id="638" r:id="rId12"/>
    <p:sldId id="639" r:id="rId13"/>
    <p:sldId id="640" r:id="rId14"/>
    <p:sldId id="641" r:id="rId15"/>
    <p:sldId id="662" r:id="rId16"/>
    <p:sldId id="642" r:id="rId17"/>
    <p:sldId id="643" r:id="rId18"/>
    <p:sldId id="644" r:id="rId19"/>
    <p:sldId id="645" r:id="rId20"/>
    <p:sldId id="64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BAF1FC-2B60-F13F-2910-84F1D0BFD588}" v="2" dt="2026-04-28T06:37:47.1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marthi Kashyap Sri Teja" userId="S::kashyap.23bce8503@vitapstudent.ac.in::bb59d273-728d-4c9b-b153-4853f757ff1f" providerId="AD" clId="Web-{93BAF1FC-2B60-F13F-2910-84F1D0BFD588}"/>
    <pc:docChg chg="modSld">
      <pc:chgData name="Pamarthi Kashyap Sri Teja" userId="S::kashyap.23bce8503@vitapstudent.ac.in::bb59d273-728d-4c9b-b153-4853f757ff1f" providerId="AD" clId="Web-{93BAF1FC-2B60-F13F-2910-84F1D0BFD588}" dt="2026-04-28T06:37:47.173" v="1"/>
      <pc:docMkLst>
        <pc:docMk/>
      </pc:docMkLst>
      <pc:sldChg chg="delSp modSp">
        <pc:chgData name="Pamarthi Kashyap Sri Teja" userId="S::kashyap.23bce8503@vitapstudent.ac.in::bb59d273-728d-4c9b-b153-4853f757ff1f" providerId="AD" clId="Web-{93BAF1FC-2B60-F13F-2910-84F1D0BFD588}" dt="2026-04-28T06:37:47.173" v="1"/>
        <pc:sldMkLst>
          <pc:docMk/>
          <pc:sldMk cId="2504296830" sldId="638"/>
        </pc:sldMkLst>
        <pc:spChg chg="del mod">
          <ac:chgData name="Pamarthi Kashyap Sri Teja" userId="S::kashyap.23bce8503@vitapstudent.ac.in::bb59d273-728d-4c9b-b153-4853f757ff1f" providerId="AD" clId="Web-{93BAF1FC-2B60-F13F-2910-84F1D0BFD588}" dt="2026-04-28T06:37:47.173" v="1"/>
          <ac:spMkLst>
            <pc:docMk/>
            <pc:sldMk cId="2504296830" sldId="638"/>
            <ac:spMk id="3" creationId="{96E8FF04-DC03-C0CB-7D0D-6A9D50B9EC96}"/>
          </ac:spMkLst>
        </pc:spChg>
      </pc:sldChg>
    </pc:docChg>
  </pc:docChgLst>
  <pc:docChgLst>
    <pc:chgData name="gangavaram shreyasi" userId="S::shreyasi.23bce9030@vitapstudent.ac.in::442af429-e517-4819-b935-162b5dacdca2" providerId="AD" clId="Web-{E4139FD1-5D7F-49C7-D30F-E379A144B9E1}"/>
    <pc:docChg chg="modSld">
      <pc:chgData name="gangavaram shreyasi" userId="S::shreyasi.23bce9030@vitapstudent.ac.in::442af429-e517-4819-b935-162b5dacdca2" providerId="AD" clId="Web-{E4139FD1-5D7F-49C7-D30F-E379A144B9E1}" dt="2026-04-18T07:53:38.083" v="0" actId="20577"/>
      <pc:docMkLst>
        <pc:docMk/>
      </pc:docMkLst>
      <pc:sldChg chg="modSp">
        <pc:chgData name="gangavaram shreyasi" userId="S::shreyasi.23bce9030@vitapstudent.ac.in::442af429-e517-4819-b935-162b5dacdca2" providerId="AD" clId="Web-{E4139FD1-5D7F-49C7-D30F-E379A144B9E1}" dt="2026-04-18T07:53:38.083" v="0" actId="20577"/>
        <pc:sldMkLst>
          <pc:docMk/>
          <pc:sldMk cId="621275505" sldId="645"/>
        </pc:sldMkLst>
        <pc:spChg chg="mod">
          <ac:chgData name="gangavaram shreyasi" userId="S::shreyasi.23bce9030@vitapstudent.ac.in::442af429-e517-4819-b935-162b5dacdca2" providerId="AD" clId="Web-{E4139FD1-5D7F-49C7-D30F-E379A144B9E1}" dt="2026-04-18T07:53:38.083" v="0" actId="20577"/>
          <ac:spMkLst>
            <pc:docMk/>
            <pc:sldMk cId="621275505" sldId="645"/>
            <ac:spMk id="3" creationId="{55F8305C-B3F2-DB78-1A98-AF3EC2AFED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27-04-2026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4/27/2026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4/27/2026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4/27/2026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Direct_free_kick" TargetMode="External"/><Relationship Id="rId2" Type="http://schemas.openxmlformats.org/officeDocument/2006/relationships/hyperlink" Target="https://pdfs.semanticscholar.org/eb7f/25d8cecf31fae319cf94030966c88f5a8bb4.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US" sz="3200" b="1">
                <a:solidFill>
                  <a:srgbClr val="FF0000"/>
                </a:solidFill>
                <a:highlight>
                  <a:srgbClr val="C0C0C0"/>
                </a:highlight>
                <a:latin typeface="Cambria" panose="02040503050406030204" pitchFamily="18" charset="0"/>
                <a:ea typeface="Cambria" panose="02040503050406030204" pitchFamily="18" charset="0"/>
              </a:rPr>
              <a:t>OPTIONS</a:t>
            </a:r>
            <a:endParaRPr lang="en-US" sz="3200" b="1" dirty="0">
              <a:solidFill>
                <a:srgbClr val="FF0000"/>
              </a:solidFill>
              <a:highlight>
                <a:srgbClr val="C0C0C0"/>
              </a:highlight>
              <a:latin typeface="Cambria" panose="02040503050406030204" pitchFamily="18" charset="0"/>
              <a:ea typeface="Cambria" panose="02040503050406030204" pitchFamily="18" charset="0"/>
            </a:endParaRP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latin typeface="Times New Roman" panose="02020603050405020304" pitchFamily="18" charset="0"/>
              </a:rPr>
              <a:t>Hierarchical Reinforcement Learning</a:t>
            </a:r>
          </a:p>
          <a:p>
            <a:pPr algn="just"/>
            <a:r>
              <a:rPr lang="en-US" sz="2400" dirty="0">
                <a:solidFill>
                  <a:srgbClr val="000000"/>
                </a:solidFill>
                <a:latin typeface="Times New Roman" panose="02020603050405020304" pitchFamily="18" charset="0"/>
              </a:rPr>
              <a:t>Types of Optimality</a:t>
            </a:r>
          </a:p>
          <a:p>
            <a:pPr algn="just"/>
            <a:r>
              <a:rPr lang="en-US" sz="2400" dirty="0">
                <a:solidFill>
                  <a:srgbClr val="000000"/>
                </a:solidFill>
                <a:latin typeface="Times New Roman" panose="02020603050405020304" pitchFamily="18" charset="0"/>
              </a:rPr>
              <a:t>Semi MDP Model</a:t>
            </a:r>
          </a:p>
          <a:p>
            <a:pPr algn="just"/>
            <a:r>
              <a:rPr lang="en-US" sz="2400" dirty="0">
                <a:solidFill>
                  <a:srgbClr val="000000"/>
                </a:solidFill>
                <a:highlight>
                  <a:srgbClr val="FFFF00"/>
                </a:highlight>
                <a:latin typeface="Times New Roman" panose="02020603050405020304" pitchFamily="18" charset="0"/>
              </a:rPr>
              <a:t>Options</a:t>
            </a:r>
          </a:p>
          <a:p>
            <a:pPr algn="just"/>
            <a:r>
              <a:rPr lang="en-US" sz="2400" dirty="0">
                <a:solidFill>
                  <a:srgbClr val="000000"/>
                </a:solidFill>
                <a:latin typeface="Times New Roman" panose="02020603050405020304" pitchFamily="18" charset="0"/>
              </a:rPr>
              <a:t>Learning with Options</a:t>
            </a:r>
          </a:p>
          <a:p>
            <a:pPr algn="just"/>
            <a:r>
              <a:rPr lang="en-US" sz="2400" dirty="0">
                <a:solidFill>
                  <a:srgbClr val="000000"/>
                </a:solidFill>
                <a:latin typeface="Times New Roman" panose="02020603050405020304" pitchFamily="18" charset="0"/>
              </a:rPr>
              <a:t>Hierarchical Abstract Machines</a:t>
            </a:r>
          </a:p>
          <a:p>
            <a:pPr algn="just"/>
            <a:r>
              <a:rPr lang="en-US" sz="2400" dirty="0">
                <a:solidFill>
                  <a:srgbClr val="000000"/>
                </a:solidFill>
                <a:latin typeface="Times New Roman" panose="02020603050405020304" pitchFamily="18" charset="0"/>
              </a:rPr>
              <a:t>A partially observable Markov decision process. </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5FC96-A151-8F4F-02B2-A1B03E193593}"/>
              </a:ext>
            </a:extLst>
          </p:cNvPr>
          <p:cNvSpPr>
            <a:spLocks noGrp="1"/>
          </p:cNvSpPr>
          <p:nvPr>
            <p:ph type="title"/>
          </p:nvPr>
        </p:nvSpPr>
        <p:spPr/>
        <p:txBody>
          <a:bodyPr/>
          <a:lstStyle/>
          <a:p>
            <a:r>
              <a:rPr lang="en-US" dirty="0"/>
              <a:t>Options</a:t>
            </a:r>
            <a:endParaRPr lang="en-IN" dirty="0"/>
          </a:p>
        </p:txBody>
      </p:sp>
      <p:sp>
        <p:nvSpPr>
          <p:cNvPr id="3" name="Content Placeholder 2">
            <a:extLst>
              <a:ext uri="{FF2B5EF4-FFF2-40B4-BE49-F238E27FC236}">
                <a16:creationId xmlns:a16="http://schemas.microsoft.com/office/drawing/2014/main" id="{7E3B465C-D001-FD38-A2B4-820946B1BCE2}"/>
              </a:ext>
            </a:extLst>
          </p:cNvPr>
          <p:cNvSpPr>
            <a:spLocks noGrp="1"/>
          </p:cNvSpPr>
          <p:nvPr>
            <p:ph idx="1"/>
          </p:nvPr>
        </p:nvSpPr>
        <p:spPr>
          <a:xfrm>
            <a:off x="1513840" y="1452880"/>
            <a:ext cx="9601200" cy="4414520"/>
          </a:xfrm>
        </p:spPr>
        <p:txBody>
          <a:bodyPr>
            <a:noAutofit/>
          </a:bodyPr>
          <a:lstStyle/>
          <a:p>
            <a:pPr algn="just"/>
            <a:r>
              <a:rPr lang="en-US" sz="2500" b="0" i="0" dirty="0">
                <a:solidFill>
                  <a:srgbClr val="222222"/>
                </a:solidFill>
                <a:effectLst/>
                <a:latin typeface="??"/>
              </a:rPr>
              <a:t>An option is a generalization of the concept of action. It captures the idea that certain actions are composed of other sub-actions.</a:t>
            </a:r>
          </a:p>
          <a:p>
            <a:pPr algn="just"/>
            <a:endParaRPr lang="en-US" sz="2500" b="0" i="0" dirty="0">
              <a:solidFill>
                <a:srgbClr val="222222"/>
              </a:solidFill>
              <a:effectLst/>
              <a:latin typeface="??"/>
            </a:endParaRPr>
          </a:p>
          <a:p>
            <a:pPr algn="just"/>
            <a:r>
              <a:rPr lang="en-US" sz="2500" b="0" i="0" dirty="0">
                <a:solidFill>
                  <a:srgbClr val="0C0D0E"/>
                </a:solidFill>
                <a:effectLst/>
                <a:latin typeface="-apple-system"/>
              </a:rPr>
              <a:t>The option </a:t>
            </a:r>
            <a:r>
              <a:rPr lang="en-US" sz="2500" b="0" i="1" dirty="0">
                <a:solidFill>
                  <a:srgbClr val="0C0D0E"/>
                </a:solidFill>
                <a:effectLst/>
                <a:latin typeface="-apple-system"/>
              </a:rPr>
              <a:t>picking up an object, going to lunch, and traveling to a distant city</a:t>
            </a:r>
            <a:r>
              <a:rPr lang="en-US" sz="2500" b="0" i="0" dirty="0">
                <a:solidFill>
                  <a:srgbClr val="0C0D0E"/>
                </a:solidFill>
                <a:effectLst/>
                <a:latin typeface="-apple-system"/>
              </a:rPr>
              <a:t> is composed of other sub-actions (e.g. </a:t>
            </a:r>
            <a:r>
              <a:rPr lang="en-US" sz="2500" b="0" i="1" dirty="0">
                <a:solidFill>
                  <a:srgbClr val="0C0D0E"/>
                </a:solidFill>
                <a:effectLst/>
                <a:latin typeface="-apple-system"/>
              </a:rPr>
              <a:t>picking up an object</a:t>
            </a:r>
            <a:r>
              <a:rPr lang="en-US" sz="2500" b="0" i="0" dirty="0">
                <a:solidFill>
                  <a:srgbClr val="0C0D0E"/>
                </a:solidFill>
                <a:effectLst/>
                <a:latin typeface="-apple-system"/>
              </a:rPr>
              <a:t>), but is itself an action (or macro-action). A primitive action (e.g. </a:t>
            </a:r>
            <a:r>
              <a:rPr lang="en-US" sz="2500" b="0" i="1" dirty="0">
                <a:solidFill>
                  <a:srgbClr val="0C0D0E"/>
                </a:solidFill>
                <a:effectLst/>
                <a:latin typeface="-apple-system"/>
              </a:rPr>
              <a:t>joint torques</a:t>
            </a:r>
            <a:r>
              <a:rPr lang="en-US" sz="2500" b="0" i="0" dirty="0">
                <a:solidFill>
                  <a:srgbClr val="0C0D0E"/>
                </a:solidFill>
                <a:effectLst/>
                <a:latin typeface="-apple-system"/>
              </a:rPr>
              <a:t>) is itself an option.</a:t>
            </a:r>
            <a:endParaRPr lang="en-IN" sz="2500" dirty="0"/>
          </a:p>
        </p:txBody>
      </p:sp>
    </p:spTree>
    <p:extLst>
      <p:ext uri="{BB962C8B-B14F-4D97-AF65-F5344CB8AC3E}">
        <p14:creationId xmlns:p14="http://schemas.microsoft.com/office/powerpoint/2010/main" val="2140396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DEE19-47D4-9A8B-FF8F-0B350A5B1AD3}"/>
              </a:ext>
            </a:extLst>
          </p:cNvPr>
          <p:cNvSpPr>
            <a:spLocks noGrp="1"/>
          </p:cNvSpPr>
          <p:nvPr>
            <p:ph type="title"/>
          </p:nvPr>
        </p:nvSpPr>
        <p:spPr/>
        <p:txBody>
          <a:bodyPr/>
          <a:lstStyle/>
          <a:p>
            <a:r>
              <a:rPr lang="en-US" dirty="0"/>
              <a:t>Options</a:t>
            </a:r>
            <a:endParaRPr lang="en-IN" dirty="0"/>
          </a:p>
        </p:txBody>
      </p:sp>
      <p:sp>
        <p:nvSpPr>
          <p:cNvPr id="3" name="Content Placeholder 2">
            <a:extLst>
              <a:ext uri="{FF2B5EF4-FFF2-40B4-BE49-F238E27FC236}">
                <a16:creationId xmlns:a16="http://schemas.microsoft.com/office/drawing/2014/main" id="{F580B3C9-E974-C652-5154-39C46FED2B5F}"/>
              </a:ext>
            </a:extLst>
          </p:cNvPr>
          <p:cNvSpPr>
            <a:spLocks noGrp="1"/>
          </p:cNvSpPr>
          <p:nvPr>
            <p:ph idx="1"/>
          </p:nvPr>
        </p:nvSpPr>
        <p:spPr>
          <a:xfrm>
            <a:off x="1371600" y="1442720"/>
            <a:ext cx="9946640" cy="4424680"/>
          </a:xfrm>
        </p:spPr>
        <p:txBody>
          <a:bodyPr>
            <a:noAutofit/>
          </a:bodyPr>
          <a:lstStyle/>
          <a:p>
            <a:pPr algn="just"/>
            <a:r>
              <a:rPr lang="en-US" sz="2500" b="0" i="0" dirty="0">
                <a:solidFill>
                  <a:srgbClr val="0C0D0E"/>
                </a:solidFill>
                <a:effectLst/>
                <a:latin typeface="-apple-system"/>
              </a:rPr>
              <a:t>A set of options defined over an MDP constitutes a </a:t>
            </a:r>
            <a:r>
              <a:rPr lang="en-US" sz="2500" b="1" i="0" u="sng" dirty="0">
                <a:effectLst/>
                <a:latin typeface="inherit"/>
                <a:hlinkClick r:id="rId2"/>
              </a:rPr>
              <a:t>semi-Markov decision process (SMDP)</a:t>
            </a:r>
            <a:r>
              <a:rPr lang="en-US" sz="2500" b="0" i="0" dirty="0">
                <a:solidFill>
                  <a:srgbClr val="0C0D0E"/>
                </a:solidFill>
                <a:effectLst/>
                <a:latin typeface="-apple-system"/>
              </a:rPr>
              <a:t>, which are MDPs where the time between actions is not constant but it is variable. </a:t>
            </a:r>
          </a:p>
          <a:p>
            <a:pPr algn="just"/>
            <a:endParaRPr lang="en-US" sz="2500" b="0" i="0" dirty="0">
              <a:solidFill>
                <a:srgbClr val="0C0D0E"/>
              </a:solidFill>
              <a:effectLst/>
              <a:latin typeface="-apple-system"/>
            </a:endParaRPr>
          </a:p>
          <a:p>
            <a:pPr algn="just"/>
            <a:r>
              <a:rPr lang="en-US" sz="2500" b="0" i="0" dirty="0">
                <a:solidFill>
                  <a:srgbClr val="0C0D0E"/>
                </a:solidFill>
                <a:effectLst/>
                <a:latin typeface="-apple-system"/>
              </a:rPr>
              <a:t>In other words, a semi-MDP (SMDP) is an extension of the concept of MDP that is used to deal with problems where there are actions of different levels of abstraction. </a:t>
            </a:r>
          </a:p>
          <a:p>
            <a:pPr algn="just"/>
            <a:endParaRPr lang="en-US" sz="2500" b="0" i="0" dirty="0">
              <a:solidFill>
                <a:srgbClr val="0C0D0E"/>
              </a:solidFill>
              <a:effectLst/>
              <a:latin typeface="-apple-system"/>
            </a:endParaRPr>
          </a:p>
          <a:p>
            <a:pPr algn="just"/>
            <a:r>
              <a:rPr lang="en-US" sz="2500" b="0" i="0" dirty="0">
                <a:solidFill>
                  <a:srgbClr val="0C0D0E"/>
                </a:solidFill>
                <a:effectLst/>
                <a:latin typeface="-apple-system"/>
              </a:rPr>
              <a:t>For example, consider a footballer that needs to </a:t>
            </a:r>
            <a:r>
              <a:rPr lang="en-US" sz="2500" b="0" i="0" u="sng" dirty="0">
                <a:effectLst/>
                <a:latin typeface="-apple-system"/>
                <a:hlinkClick r:id="rId3"/>
              </a:rPr>
              <a:t>take a freekick</a:t>
            </a:r>
            <a:r>
              <a:rPr lang="en-US" sz="2500" b="0" i="0" dirty="0">
                <a:solidFill>
                  <a:srgbClr val="0C0D0E"/>
                </a:solidFill>
                <a:effectLst/>
                <a:latin typeface="-apple-system"/>
              </a:rPr>
              <a:t>. The action "take a freekick" involves a sequence of other actions, like "run towards the ball", "look at the wall", etc. The action "take a freekick" takes a variable number of time steps (which depends on the other sub-actions).</a:t>
            </a:r>
            <a:endParaRPr lang="en-IN" sz="2500" dirty="0"/>
          </a:p>
        </p:txBody>
      </p:sp>
    </p:spTree>
    <p:extLst>
      <p:ext uri="{BB962C8B-B14F-4D97-AF65-F5344CB8AC3E}">
        <p14:creationId xmlns:p14="http://schemas.microsoft.com/office/powerpoint/2010/main" val="1548233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96CF-E2D7-E3E3-2690-728C708290B7}"/>
              </a:ext>
            </a:extLst>
          </p:cNvPr>
          <p:cNvSpPr>
            <a:spLocks noGrp="1"/>
          </p:cNvSpPr>
          <p:nvPr>
            <p:ph type="title"/>
          </p:nvPr>
        </p:nvSpPr>
        <p:spPr/>
        <p:txBody>
          <a:bodyPr/>
          <a:lstStyle/>
          <a:p>
            <a:r>
              <a:rPr lang="en-US" dirty="0"/>
              <a:t>Options</a:t>
            </a:r>
            <a:endParaRPr lang="en-IN" dirty="0"/>
          </a:p>
        </p:txBody>
      </p:sp>
      <p:sp>
        <p:nvSpPr>
          <p:cNvPr id="3" name="Content Placeholder 2">
            <a:extLst>
              <a:ext uri="{FF2B5EF4-FFF2-40B4-BE49-F238E27FC236}">
                <a16:creationId xmlns:a16="http://schemas.microsoft.com/office/drawing/2014/main" id="{E35852D7-D016-3663-0316-DCC29DEC72B7}"/>
              </a:ext>
            </a:extLst>
          </p:cNvPr>
          <p:cNvSpPr>
            <a:spLocks noGrp="1"/>
          </p:cNvSpPr>
          <p:nvPr>
            <p:ph idx="1"/>
          </p:nvPr>
        </p:nvSpPr>
        <p:spPr/>
        <p:txBody>
          <a:bodyPr>
            <a:noAutofit/>
          </a:bodyPr>
          <a:lstStyle/>
          <a:p>
            <a:pPr algn="just"/>
            <a:r>
              <a:rPr lang="en-US" sz="2500" b="0" i="0" dirty="0">
                <a:solidFill>
                  <a:srgbClr val="0C0D0E"/>
                </a:solidFill>
                <a:effectLst/>
                <a:latin typeface="-apple-system"/>
              </a:rPr>
              <a:t>Semi-MDPs are thus used to deal with such problems that involve actions of different levels of abstraction. </a:t>
            </a:r>
            <a:r>
              <a:rPr lang="en-US" sz="2500" b="1" i="0" dirty="0">
                <a:solidFill>
                  <a:srgbClr val="0C0D0E"/>
                </a:solidFill>
                <a:effectLst/>
                <a:latin typeface="-apple-system"/>
              </a:rPr>
              <a:t>Hierarchical reinforcement learning</a:t>
            </a:r>
            <a:r>
              <a:rPr lang="en-US" sz="2500" b="0" i="0" dirty="0">
                <a:solidFill>
                  <a:srgbClr val="0C0D0E"/>
                </a:solidFill>
                <a:effectLst/>
                <a:latin typeface="-apple-system"/>
              </a:rPr>
              <a:t> (HRL) is a generalization (or extension) of reinforcement learning where the environment is modeled as a semi-MDP.</a:t>
            </a:r>
          </a:p>
          <a:p>
            <a:pPr algn="just"/>
            <a:endParaRPr lang="en-US" sz="2500" dirty="0">
              <a:solidFill>
                <a:srgbClr val="0C0D0E"/>
              </a:solidFill>
              <a:latin typeface="-apple-system"/>
            </a:endParaRPr>
          </a:p>
          <a:p>
            <a:pPr algn="just"/>
            <a:r>
              <a:rPr lang="en-US" sz="2500" b="0" i="0" dirty="0">
                <a:solidFill>
                  <a:srgbClr val="0C0D0E"/>
                </a:solidFill>
                <a:effectLst/>
                <a:latin typeface="-apple-system"/>
              </a:rPr>
              <a:t>Semi-MDPs can be converted to MDPs. </a:t>
            </a:r>
            <a:endParaRPr lang="en-IN" sz="2500" dirty="0"/>
          </a:p>
        </p:txBody>
      </p:sp>
    </p:spTree>
    <p:extLst>
      <p:ext uri="{BB962C8B-B14F-4D97-AF65-F5344CB8AC3E}">
        <p14:creationId xmlns:p14="http://schemas.microsoft.com/office/powerpoint/2010/main" val="1718805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D5A8-1CF6-9FB2-F83E-6FA7CD0783AE}"/>
              </a:ext>
            </a:extLst>
          </p:cNvPr>
          <p:cNvSpPr>
            <a:spLocks noGrp="1"/>
          </p:cNvSpPr>
          <p:nvPr>
            <p:ph type="title"/>
          </p:nvPr>
        </p:nvSpPr>
        <p:spPr/>
        <p:txBody>
          <a:bodyPr/>
          <a:lstStyle/>
          <a:p>
            <a:r>
              <a:rPr lang="en-US" dirty="0"/>
              <a:t>Options</a:t>
            </a:r>
            <a:endParaRPr lang="en-IN" dirty="0"/>
          </a:p>
        </p:txBody>
      </p:sp>
      <p:sp>
        <p:nvSpPr>
          <p:cNvPr id="3" name="Content Placeholder 2">
            <a:extLst>
              <a:ext uri="{FF2B5EF4-FFF2-40B4-BE49-F238E27FC236}">
                <a16:creationId xmlns:a16="http://schemas.microsoft.com/office/drawing/2014/main" id="{07CB8CD3-2E61-EE5E-4E7E-47A504D0BE39}"/>
              </a:ext>
            </a:extLst>
          </p:cNvPr>
          <p:cNvSpPr>
            <a:spLocks noGrp="1"/>
          </p:cNvSpPr>
          <p:nvPr>
            <p:ph idx="1"/>
          </p:nvPr>
        </p:nvSpPr>
        <p:spPr>
          <a:xfrm>
            <a:off x="1371600" y="2286000"/>
            <a:ext cx="4521200" cy="3581400"/>
          </a:xfrm>
        </p:spPr>
        <p:txBody>
          <a:bodyPr>
            <a:normAutofit/>
          </a:bodyPr>
          <a:lstStyle/>
          <a:p>
            <a:pPr algn="just"/>
            <a:r>
              <a:rPr lang="en-US" sz="2500" b="0" i="0" dirty="0">
                <a:solidFill>
                  <a:srgbClr val="0C0D0E"/>
                </a:solidFill>
                <a:effectLst/>
                <a:latin typeface="-apple-system"/>
              </a:rPr>
              <a:t>The empty circles (in the middle) are options, while the black circles (at the top) are primitive actions (which are themselves options).</a:t>
            </a:r>
            <a:endParaRPr lang="en-IN" sz="2500" dirty="0"/>
          </a:p>
        </p:txBody>
      </p:sp>
      <p:pic>
        <p:nvPicPr>
          <p:cNvPr id="1026" name="Picture 2">
            <a:extLst>
              <a:ext uri="{FF2B5EF4-FFF2-40B4-BE49-F238E27FC236}">
                <a16:creationId xmlns:a16="http://schemas.microsoft.com/office/drawing/2014/main" id="{E5BE3D48-7B39-346E-91D1-30F322612E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986280"/>
            <a:ext cx="56007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059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6F933-DC83-FB71-E324-0AD8A746A516}"/>
              </a:ext>
            </a:extLst>
          </p:cNvPr>
          <p:cNvSpPr>
            <a:spLocks noGrp="1"/>
          </p:cNvSpPr>
          <p:nvPr>
            <p:ph type="title"/>
          </p:nvPr>
        </p:nvSpPr>
        <p:spPr/>
        <p:txBody>
          <a:bodyPr/>
          <a:lstStyle/>
          <a:p>
            <a:r>
              <a:rPr lang="en-US" dirty="0"/>
              <a:t>Options</a:t>
            </a:r>
            <a:endParaRPr lang="en-IN" dirty="0"/>
          </a:p>
        </p:txBody>
      </p:sp>
      <p:sp>
        <p:nvSpPr>
          <p:cNvPr id="3" name="Content Placeholder 2">
            <a:extLst>
              <a:ext uri="{FF2B5EF4-FFF2-40B4-BE49-F238E27FC236}">
                <a16:creationId xmlns:a16="http://schemas.microsoft.com/office/drawing/2014/main" id="{86AE9BDC-B349-0E4C-4F31-F524387D2AEE}"/>
              </a:ext>
            </a:extLst>
          </p:cNvPr>
          <p:cNvSpPr>
            <a:spLocks noGrp="1"/>
          </p:cNvSpPr>
          <p:nvPr>
            <p:ph idx="1"/>
          </p:nvPr>
        </p:nvSpPr>
        <p:spPr>
          <a:xfrm>
            <a:off x="1371600" y="1635760"/>
            <a:ext cx="9601200" cy="4734560"/>
          </a:xfrm>
        </p:spPr>
        <p:txBody>
          <a:bodyPr>
            <a:normAutofit lnSpcReduction="10000"/>
          </a:bodyPr>
          <a:lstStyle/>
          <a:p>
            <a:pPr algn="just"/>
            <a:r>
              <a:rPr lang="en-US" sz="2300" b="0" i="0" dirty="0">
                <a:solidFill>
                  <a:srgbClr val="222222"/>
                </a:solidFill>
                <a:effectLst/>
                <a:highlight>
                  <a:srgbClr val="FFFF00"/>
                </a:highlight>
                <a:latin typeface="Arial" panose="020B0604020202020204" pitchFamily="34" charset="0"/>
              </a:rPr>
              <a:t>Options represent closed-loop sub-behaviors</a:t>
            </a:r>
            <a:r>
              <a:rPr lang="en-US" sz="2300" b="0" i="0" dirty="0">
                <a:solidFill>
                  <a:srgbClr val="222222"/>
                </a:solidFill>
                <a:effectLst/>
                <a:latin typeface="Arial" panose="020B0604020202020204" pitchFamily="34" charset="0"/>
              </a:rPr>
              <a:t>, which are carried out for multiple timesteps until they trigger their termination condition. </a:t>
            </a:r>
          </a:p>
          <a:p>
            <a:pPr algn="just"/>
            <a:endParaRPr lang="en-US" sz="2300" dirty="0">
              <a:solidFill>
                <a:srgbClr val="222222"/>
              </a:solidFill>
              <a:latin typeface="Arial" panose="020B0604020202020204" pitchFamily="34" charset="0"/>
            </a:endParaRPr>
          </a:p>
          <a:p>
            <a:pPr algn="just"/>
            <a:r>
              <a:rPr lang="en-US" sz="2300" b="0" i="0" dirty="0">
                <a:solidFill>
                  <a:srgbClr val="222222"/>
                </a:solidFill>
                <a:effectLst/>
                <a:latin typeface="Arial" panose="020B0604020202020204" pitchFamily="34" charset="0"/>
              </a:rPr>
              <a:t>Options are considered closed-loop systems because they adapt their behavior based on the current state. This is in contrast to open-loop systems, which do not adapt their behavior once initialized when confronted with a new state. It is often more realistic to model sub-behaviors as closed-loop systems than using open-loop sub-behaviors. </a:t>
            </a:r>
          </a:p>
          <a:p>
            <a:pPr algn="just"/>
            <a:endParaRPr lang="en-US" sz="2300" b="0" i="0" dirty="0">
              <a:solidFill>
                <a:srgbClr val="222222"/>
              </a:solidFill>
              <a:effectLst/>
              <a:latin typeface="Arial" panose="020B0604020202020204" pitchFamily="34" charset="0"/>
            </a:endParaRPr>
          </a:p>
          <a:p>
            <a:pPr algn="just"/>
            <a:r>
              <a:rPr lang="en-US" sz="2300" b="0" i="0" dirty="0">
                <a:solidFill>
                  <a:srgbClr val="222222"/>
                </a:solidFill>
                <a:effectLst/>
                <a:latin typeface="Arial" panose="020B0604020202020204" pitchFamily="34" charset="0"/>
              </a:rPr>
              <a:t>For example, while driving a car, if we would be committed to an open-loop option, we would not deviate if we encounter danger, a closed-loop option will alter its action based on the current state.</a:t>
            </a:r>
            <a:endParaRPr lang="en-IN" sz="2300" dirty="0"/>
          </a:p>
        </p:txBody>
      </p:sp>
    </p:spTree>
    <p:extLst>
      <p:ext uri="{BB962C8B-B14F-4D97-AF65-F5344CB8AC3E}">
        <p14:creationId xmlns:p14="http://schemas.microsoft.com/office/powerpoint/2010/main" val="1411210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ABC6F-E5B3-B16C-1D57-AA824018EDCF}"/>
              </a:ext>
            </a:extLst>
          </p:cNvPr>
          <p:cNvSpPr>
            <a:spLocks noGrp="1"/>
          </p:cNvSpPr>
          <p:nvPr>
            <p:ph type="title"/>
          </p:nvPr>
        </p:nvSpPr>
        <p:spPr/>
        <p:txBody>
          <a:bodyPr/>
          <a:lstStyle/>
          <a:p>
            <a:r>
              <a:rPr lang="en-US" dirty="0"/>
              <a:t>Options – Architecture</a:t>
            </a:r>
            <a:endParaRPr lang="en-IN" dirty="0"/>
          </a:p>
        </p:txBody>
      </p:sp>
      <p:pic>
        <p:nvPicPr>
          <p:cNvPr id="2050" name="Picture 2" descr="Make 04 00009 g006 550">
            <a:extLst>
              <a:ext uri="{FF2B5EF4-FFF2-40B4-BE49-F238E27FC236}">
                <a16:creationId xmlns:a16="http://schemas.microsoft.com/office/drawing/2014/main" id="{21FE7139-8359-1BA3-5B7B-87E3DC73A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0475" y="1428750"/>
            <a:ext cx="459105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296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54A4-23E7-E72C-8CBD-AE5E6DB33952}"/>
              </a:ext>
            </a:extLst>
          </p:cNvPr>
          <p:cNvSpPr>
            <a:spLocks noGrp="1"/>
          </p:cNvSpPr>
          <p:nvPr>
            <p:ph type="title"/>
          </p:nvPr>
        </p:nvSpPr>
        <p:spPr/>
        <p:txBody>
          <a:bodyPr/>
          <a:lstStyle/>
          <a:p>
            <a:r>
              <a:rPr lang="en-US" dirty="0"/>
              <a:t>Options</a:t>
            </a:r>
            <a:endParaRPr lang="en-IN" dirty="0"/>
          </a:p>
        </p:txBody>
      </p:sp>
      <p:sp>
        <p:nvSpPr>
          <p:cNvPr id="3" name="Content Placeholder 2">
            <a:extLst>
              <a:ext uri="{FF2B5EF4-FFF2-40B4-BE49-F238E27FC236}">
                <a16:creationId xmlns:a16="http://schemas.microsoft.com/office/drawing/2014/main" id="{C9795F37-3F11-7D68-8A10-06A3082EC0A9}"/>
              </a:ext>
            </a:extLst>
          </p:cNvPr>
          <p:cNvSpPr>
            <a:spLocks noGrp="1"/>
          </p:cNvSpPr>
          <p:nvPr>
            <p:ph idx="1"/>
          </p:nvPr>
        </p:nvSpPr>
        <p:spPr/>
        <p:txBody>
          <a:bodyPr>
            <a:normAutofit/>
          </a:bodyPr>
          <a:lstStyle/>
          <a:p>
            <a:pPr algn="just"/>
            <a:r>
              <a:rPr lang="en-US" sz="2300" dirty="0">
                <a:solidFill>
                  <a:srgbClr val="222222"/>
                </a:solidFill>
                <a:latin typeface="Arial" panose="020B0604020202020204" pitchFamily="34" charset="0"/>
              </a:rPr>
              <a:t>The usage of options in a RL setting has been shown to speed up learning. </a:t>
            </a:r>
          </a:p>
          <a:p>
            <a:pPr algn="just"/>
            <a:endParaRPr lang="en-US" sz="2300" dirty="0">
              <a:solidFill>
                <a:srgbClr val="222222"/>
              </a:solidFill>
              <a:latin typeface="Arial" panose="020B0604020202020204" pitchFamily="34" charset="0"/>
            </a:endParaRPr>
          </a:p>
          <a:p>
            <a:pPr algn="just"/>
            <a:r>
              <a:rPr lang="en-US" sz="2300" dirty="0">
                <a:solidFill>
                  <a:srgbClr val="222222"/>
                </a:solidFill>
                <a:latin typeface="Arial" panose="020B0604020202020204" pitchFamily="34" charset="0"/>
              </a:rPr>
              <a:t>a way to summarize knowledge as an essential building block in a lifelong-learning setting. </a:t>
            </a:r>
          </a:p>
          <a:p>
            <a:pPr algn="just"/>
            <a:endParaRPr lang="en-US" sz="2300" dirty="0">
              <a:solidFill>
                <a:srgbClr val="222222"/>
              </a:solidFill>
              <a:latin typeface="Arial" panose="020B0604020202020204" pitchFamily="34" charset="0"/>
            </a:endParaRPr>
          </a:p>
          <a:p>
            <a:pPr algn="just"/>
            <a:r>
              <a:rPr lang="en-US" sz="2300" dirty="0">
                <a:solidFill>
                  <a:srgbClr val="222222"/>
                </a:solidFill>
                <a:latin typeface="Arial" panose="020B0604020202020204" pitchFamily="34" charset="0"/>
              </a:rPr>
              <a:t>the increased performance of using temporally extended actions using importance sampling.</a:t>
            </a:r>
          </a:p>
          <a:p>
            <a:endParaRPr lang="en-IN" dirty="0"/>
          </a:p>
        </p:txBody>
      </p:sp>
    </p:spTree>
    <p:extLst>
      <p:ext uri="{BB962C8B-B14F-4D97-AF65-F5344CB8AC3E}">
        <p14:creationId xmlns:p14="http://schemas.microsoft.com/office/powerpoint/2010/main" val="4175353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CCED3-EE4D-A763-516D-4F26BC6BA98A}"/>
              </a:ext>
            </a:extLst>
          </p:cNvPr>
          <p:cNvSpPr>
            <a:spLocks noGrp="1"/>
          </p:cNvSpPr>
          <p:nvPr>
            <p:ph type="title"/>
          </p:nvPr>
        </p:nvSpPr>
        <p:spPr/>
        <p:txBody>
          <a:bodyPr/>
          <a:lstStyle/>
          <a:p>
            <a:r>
              <a:rPr lang="en-US" dirty="0"/>
              <a:t>Options - Framework</a:t>
            </a:r>
            <a:endParaRPr lang="en-IN" dirty="0"/>
          </a:p>
        </p:txBody>
      </p:sp>
      <p:sp>
        <p:nvSpPr>
          <p:cNvPr id="3" name="Content Placeholder 2">
            <a:extLst>
              <a:ext uri="{FF2B5EF4-FFF2-40B4-BE49-F238E27FC236}">
                <a16:creationId xmlns:a16="http://schemas.microsoft.com/office/drawing/2014/main" id="{23F2DB27-97CE-7AE2-5410-879CF998A70E}"/>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A3A6AF04-B07D-B51A-3368-485F8BAB834D}"/>
              </a:ext>
            </a:extLst>
          </p:cNvPr>
          <p:cNvPicPr>
            <a:picLocks noChangeAspect="1"/>
          </p:cNvPicPr>
          <p:nvPr/>
        </p:nvPicPr>
        <p:blipFill>
          <a:blip r:embed="rId2"/>
          <a:stretch>
            <a:fillRect/>
          </a:stretch>
        </p:blipFill>
        <p:spPr>
          <a:xfrm>
            <a:off x="780552" y="1623694"/>
            <a:ext cx="11054844" cy="1805306"/>
          </a:xfrm>
          <a:prstGeom prst="rect">
            <a:avLst/>
          </a:prstGeom>
        </p:spPr>
      </p:pic>
    </p:spTree>
    <p:extLst>
      <p:ext uri="{BB962C8B-B14F-4D97-AF65-F5344CB8AC3E}">
        <p14:creationId xmlns:p14="http://schemas.microsoft.com/office/powerpoint/2010/main" val="984967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041A-8F22-92A9-A653-0840D6659862}"/>
              </a:ext>
            </a:extLst>
          </p:cNvPr>
          <p:cNvSpPr>
            <a:spLocks noGrp="1"/>
          </p:cNvSpPr>
          <p:nvPr>
            <p:ph type="title"/>
          </p:nvPr>
        </p:nvSpPr>
        <p:spPr/>
        <p:txBody>
          <a:bodyPr/>
          <a:lstStyle/>
          <a:p>
            <a:r>
              <a:rPr lang="en-US" dirty="0"/>
              <a:t>Options - Framework</a:t>
            </a:r>
            <a:endParaRPr lang="en-IN" dirty="0"/>
          </a:p>
        </p:txBody>
      </p:sp>
      <p:sp>
        <p:nvSpPr>
          <p:cNvPr id="3" name="Content Placeholder 2">
            <a:extLst>
              <a:ext uri="{FF2B5EF4-FFF2-40B4-BE49-F238E27FC236}">
                <a16:creationId xmlns:a16="http://schemas.microsoft.com/office/drawing/2014/main" id="{EE7CA1CC-A1B7-A3A4-E9CF-95AB1D945645}"/>
              </a:ext>
            </a:extLst>
          </p:cNvPr>
          <p:cNvSpPr>
            <a:spLocks noGrp="1"/>
          </p:cNvSpPr>
          <p:nvPr>
            <p:ph idx="1"/>
          </p:nvPr>
        </p:nvSpPr>
        <p:spPr>
          <a:xfrm>
            <a:off x="1371599" y="1524000"/>
            <a:ext cx="4648201" cy="4343400"/>
          </a:xfrm>
        </p:spPr>
        <p:txBody>
          <a:bodyPr>
            <a:noAutofit/>
          </a:bodyPr>
          <a:lstStyle/>
          <a:p>
            <a:pPr algn="just"/>
            <a:r>
              <a:rPr lang="en-US" sz="2300" b="0" i="0" dirty="0">
                <a:solidFill>
                  <a:srgbClr val="222222"/>
                </a:solidFill>
                <a:effectLst/>
                <a:latin typeface="Arial" panose="020B0604020202020204" pitchFamily="34" charset="0"/>
              </a:rPr>
              <a:t>In this example the initiation set and termination condition are represented as single states, and the intra-option policy is represented by the arrows. This type of option with a </a:t>
            </a:r>
            <a:r>
              <a:rPr lang="en-US" sz="2300" b="0" i="0" dirty="0">
                <a:solidFill>
                  <a:srgbClr val="222222"/>
                </a:solidFill>
                <a:effectLst/>
                <a:highlight>
                  <a:srgbClr val="FFFF00"/>
                </a:highlight>
                <a:latin typeface="Arial" panose="020B0604020202020204" pitchFamily="34" charset="0"/>
              </a:rPr>
              <a:t>single initiation- and termination-state is often called a point option</a:t>
            </a:r>
            <a:r>
              <a:rPr lang="en-US" sz="2300" b="0" i="0" dirty="0">
                <a:solidFill>
                  <a:srgbClr val="222222"/>
                </a:solidFill>
                <a:effectLst/>
                <a:latin typeface="Arial" panose="020B0604020202020204" pitchFamily="34" charset="0"/>
              </a:rPr>
              <a:t>.</a:t>
            </a:r>
            <a:endParaRPr lang="en-IN" sz="2300" dirty="0"/>
          </a:p>
          <a:p>
            <a:pPr algn="just"/>
            <a:endParaRPr lang="en-US" sz="2300" dirty="0"/>
          </a:p>
          <a:p>
            <a:pPr algn="just"/>
            <a:r>
              <a:rPr lang="en-US" sz="2300" dirty="0"/>
              <a:t>An example option, which takes the agent from the initiation state 𝑆0 located in one room, to the termination state 𝑆𝑔 in another room.</a:t>
            </a:r>
            <a:endParaRPr lang="en-IN" sz="2300" dirty="0"/>
          </a:p>
        </p:txBody>
      </p:sp>
      <p:pic>
        <p:nvPicPr>
          <p:cNvPr id="4098" name="Picture 2" descr="Make 04 00009 g007 550">
            <a:extLst>
              <a:ext uri="{FF2B5EF4-FFF2-40B4-BE49-F238E27FC236}">
                <a16:creationId xmlns:a16="http://schemas.microsoft.com/office/drawing/2014/main" id="{8FD9DEE2-80B2-B4E5-F21B-26799EC59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336040"/>
            <a:ext cx="5238750"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82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E9245-1E7F-BAF4-7514-9F29960BB8B4}"/>
              </a:ext>
            </a:extLst>
          </p:cNvPr>
          <p:cNvSpPr>
            <a:spLocks noGrp="1"/>
          </p:cNvSpPr>
          <p:nvPr>
            <p:ph type="title"/>
          </p:nvPr>
        </p:nvSpPr>
        <p:spPr/>
        <p:txBody>
          <a:bodyPr/>
          <a:lstStyle/>
          <a:p>
            <a:r>
              <a:rPr lang="en-US" dirty="0"/>
              <a:t>Options - Framework</a:t>
            </a:r>
            <a:endParaRPr lang="en-IN" dirty="0"/>
          </a:p>
        </p:txBody>
      </p:sp>
      <p:sp>
        <p:nvSpPr>
          <p:cNvPr id="3" name="Content Placeholder 2">
            <a:extLst>
              <a:ext uri="{FF2B5EF4-FFF2-40B4-BE49-F238E27FC236}">
                <a16:creationId xmlns:a16="http://schemas.microsoft.com/office/drawing/2014/main" id="{3CAC663E-D15E-927C-9654-B1A47911FF36}"/>
              </a:ext>
            </a:extLst>
          </p:cNvPr>
          <p:cNvSpPr>
            <a:spLocks noGrp="1"/>
          </p:cNvSpPr>
          <p:nvPr>
            <p:ph idx="1"/>
          </p:nvPr>
        </p:nvSpPr>
        <p:spPr/>
        <p:txBody>
          <a:bodyPr>
            <a:normAutofit/>
          </a:bodyPr>
          <a:lstStyle/>
          <a:p>
            <a:r>
              <a:rPr lang="en-IN" sz="3000" dirty="0"/>
              <a:t>Initiation Set</a:t>
            </a:r>
          </a:p>
          <a:p>
            <a:r>
              <a:rPr lang="en-IN" sz="3000" dirty="0"/>
              <a:t>Termination Condition</a:t>
            </a:r>
          </a:p>
          <a:p>
            <a:r>
              <a:rPr lang="en-IN" sz="3000" dirty="0"/>
              <a:t>Intra-Option Policy</a:t>
            </a:r>
          </a:p>
          <a:p>
            <a:r>
              <a:rPr lang="en-IN" sz="3000" dirty="0"/>
              <a:t>Policy-over-Options</a:t>
            </a:r>
          </a:p>
        </p:txBody>
      </p:sp>
    </p:spTree>
    <p:extLst>
      <p:ext uri="{BB962C8B-B14F-4D97-AF65-F5344CB8AC3E}">
        <p14:creationId xmlns:p14="http://schemas.microsoft.com/office/powerpoint/2010/main" val="425182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EB16-4F47-4CCD-BF8F-C94012000A8E}"/>
              </a:ext>
            </a:extLst>
          </p:cNvPr>
          <p:cNvSpPr>
            <a:spLocks noGrp="1"/>
          </p:cNvSpPr>
          <p:nvPr>
            <p:ph type="title"/>
          </p:nvPr>
        </p:nvSpPr>
        <p:spPr/>
        <p:txBody>
          <a:bodyPr/>
          <a:lstStyle/>
          <a:p>
            <a:r>
              <a:rPr lang="en-IN" dirty="0"/>
              <a:t>Options - Initiation Set</a:t>
            </a:r>
            <a:br>
              <a:rPr lang="en-IN" dirty="0"/>
            </a:br>
            <a:endParaRPr lang="en-IN" dirty="0"/>
          </a:p>
        </p:txBody>
      </p:sp>
      <p:sp>
        <p:nvSpPr>
          <p:cNvPr id="3" name="Content Placeholder 2">
            <a:extLst>
              <a:ext uri="{FF2B5EF4-FFF2-40B4-BE49-F238E27FC236}">
                <a16:creationId xmlns:a16="http://schemas.microsoft.com/office/drawing/2014/main" id="{6CB72518-53D9-41EC-7746-C862391EC69F}"/>
              </a:ext>
            </a:extLst>
          </p:cNvPr>
          <p:cNvSpPr>
            <a:spLocks noGrp="1"/>
          </p:cNvSpPr>
          <p:nvPr>
            <p:ph idx="1"/>
          </p:nvPr>
        </p:nvSpPr>
        <p:spPr>
          <a:xfrm>
            <a:off x="1371600" y="1452880"/>
            <a:ext cx="10322560" cy="441452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The initiation set of an option defines the states in which the option can be initiated</a:t>
            </a:r>
            <a:r>
              <a:rPr lang="en-US" sz="2300" b="0" i="0" dirty="0">
                <a:solidFill>
                  <a:srgbClr val="222222"/>
                </a:solidFill>
                <a:effectLst/>
                <a:latin typeface="Arial" panose="020B0604020202020204" pitchFamily="34" charset="0"/>
              </a:rPr>
              <a:t>. </a:t>
            </a:r>
          </a:p>
          <a:p>
            <a:pPr algn="just"/>
            <a:r>
              <a:rPr lang="en-US" sz="2300" b="0" i="0" dirty="0">
                <a:solidFill>
                  <a:srgbClr val="222222"/>
                </a:solidFill>
                <a:effectLst/>
                <a:latin typeface="Arial" panose="020B0604020202020204" pitchFamily="34" charset="0"/>
              </a:rPr>
              <a:t>A commonly used approach defines the initiation set as all states from which the agent is able to reliably reach the option its termination condition when following the intra-option policy, within a limited amount of steps. It is also usual to assume that for all states in which the policy of the option can continue, it can also be initiated. </a:t>
            </a:r>
          </a:p>
          <a:p>
            <a:pPr algn="just"/>
            <a:r>
              <a:rPr lang="en-US" sz="2300" b="0" i="0" dirty="0">
                <a:solidFill>
                  <a:srgbClr val="222222"/>
                </a:solidFill>
                <a:effectLst/>
                <a:latin typeface="Arial" panose="020B0604020202020204" pitchFamily="34" charset="0"/>
              </a:rPr>
              <a:t>For example, uses a logistic regression classifier to build an initiation set. States that were observed up to 250 time steps before triggering the option termination were labeled as positive initiation states for the selected option, states further away in the trajectory were used as negative examples.</a:t>
            </a:r>
          </a:p>
        </p:txBody>
      </p:sp>
    </p:spTree>
    <p:extLst>
      <p:ext uri="{BB962C8B-B14F-4D97-AF65-F5344CB8AC3E}">
        <p14:creationId xmlns:p14="http://schemas.microsoft.com/office/powerpoint/2010/main" val="2831552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EA8B6-DCD8-226B-2C36-28D9199596F4}"/>
              </a:ext>
            </a:extLst>
          </p:cNvPr>
          <p:cNvSpPr>
            <a:spLocks noGrp="1"/>
          </p:cNvSpPr>
          <p:nvPr>
            <p:ph type="title"/>
          </p:nvPr>
        </p:nvSpPr>
        <p:spPr/>
        <p:txBody>
          <a:bodyPr/>
          <a:lstStyle/>
          <a:p>
            <a:r>
              <a:rPr lang="en-IN" dirty="0"/>
              <a:t>Options - Termination Condition</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91B09191-C94F-D485-AF3E-D4987DABEC4F}"/>
              </a:ext>
            </a:extLst>
          </p:cNvPr>
          <p:cNvSpPr>
            <a:spLocks noGrp="1"/>
          </p:cNvSpPr>
          <p:nvPr>
            <p:ph idx="1"/>
          </p:nvPr>
        </p:nvSpPr>
        <p:spPr>
          <a:xfrm>
            <a:off x="1371600" y="1574800"/>
            <a:ext cx="10312400" cy="429260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The termination condition decides when an option will halt its execution</a:t>
            </a:r>
            <a:r>
              <a:rPr lang="en-US" sz="2300" b="0" i="0" dirty="0">
                <a:solidFill>
                  <a:srgbClr val="222222"/>
                </a:solidFill>
                <a:effectLst/>
                <a:latin typeface="Arial" panose="020B0604020202020204" pitchFamily="34" charset="0"/>
              </a:rPr>
              <a:t>. Similarly to the initiation set, a set of termination states is often used. Reaching a state in this set will cause the option </a:t>
            </a:r>
            <a:r>
              <a:rPr lang="en-US" sz="2300" b="0" i="0" dirty="0">
                <a:solidFill>
                  <a:srgbClr val="222222"/>
                </a:solidFill>
                <a:effectLst/>
                <a:highlight>
                  <a:srgbClr val="FFFF00"/>
                </a:highlight>
                <a:latin typeface="Arial" panose="020B0604020202020204" pitchFamily="34" charset="0"/>
              </a:rPr>
              <a:t>to stop running</a:t>
            </a:r>
            <a:r>
              <a:rPr lang="en-US" sz="2300" b="0" i="0" dirty="0">
                <a:solidFill>
                  <a:srgbClr val="222222"/>
                </a:solidFill>
                <a:effectLst/>
                <a:latin typeface="Arial" panose="020B0604020202020204" pitchFamily="34" charset="0"/>
              </a:rPr>
              <a:t>. Termination states are better known as subgoal-states. Finding good termination states is often a matter of finding states with special properties (e.g., a well-connected state or states often visited on highly rewarded trajectories).</a:t>
            </a:r>
          </a:p>
          <a:p>
            <a:pPr algn="just"/>
            <a:r>
              <a:rPr lang="en-US" sz="2300" b="0" i="0" dirty="0">
                <a:solidFill>
                  <a:srgbClr val="222222"/>
                </a:solidFill>
                <a:effectLst/>
                <a:latin typeface="Arial" panose="020B0604020202020204" pitchFamily="34" charset="0"/>
              </a:rPr>
              <a:t>The most common termination condition is to end an option when it has reached a subgoal-state. However, this can lead to all kinds of problems. The option could for example run forever when it is not able to reach the subgoal-state. To solve this, a limitation of the allowed number of steps taken by the option policy is often also added to the termination condition.</a:t>
            </a:r>
          </a:p>
          <a:p>
            <a:pPr algn="just"/>
            <a:r>
              <a:rPr lang="en-US" sz="2300" b="0" i="0" dirty="0">
                <a:solidFill>
                  <a:srgbClr val="222222"/>
                </a:solidFill>
                <a:effectLst/>
                <a:latin typeface="Arial" panose="020B0604020202020204" pitchFamily="34" charset="0"/>
              </a:rPr>
              <a:t>A termination condition has also been considered when the agent is no longer active in its initiation set.</a:t>
            </a:r>
            <a:endParaRPr lang="en-IN" sz="2300" dirty="0"/>
          </a:p>
        </p:txBody>
      </p:sp>
    </p:spTree>
    <p:extLst>
      <p:ext uri="{BB962C8B-B14F-4D97-AF65-F5344CB8AC3E}">
        <p14:creationId xmlns:p14="http://schemas.microsoft.com/office/powerpoint/2010/main" val="4201822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4582-3621-7EEA-5008-CA61A69BE676}"/>
              </a:ext>
            </a:extLst>
          </p:cNvPr>
          <p:cNvSpPr>
            <a:spLocks noGrp="1"/>
          </p:cNvSpPr>
          <p:nvPr>
            <p:ph type="title"/>
          </p:nvPr>
        </p:nvSpPr>
        <p:spPr/>
        <p:txBody>
          <a:bodyPr/>
          <a:lstStyle/>
          <a:p>
            <a:r>
              <a:rPr lang="en-IN" dirty="0"/>
              <a:t>Options - Intra-Option Policy</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CD578C5C-7AA7-7AEA-0ADF-69CA5BF0BCAF}"/>
              </a:ext>
            </a:extLst>
          </p:cNvPr>
          <p:cNvSpPr>
            <a:spLocks noGrp="1"/>
          </p:cNvSpPr>
          <p:nvPr>
            <p:ph idx="1"/>
          </p:nvPr>
        </p:nvSpPr>
        <p:spPr>
          <a:xfrm>
            <a:off x="1371600" y="1534160"/>
            <a:ext cx="10302240" cy="4333240"/>
          </a:xfrm>
        </p:spPr>
        <p:txBody>
          <a:bodyPr>
            <a:noAutofit/>
          </a:bodyPr>
          <a:lstStyle/>
          <a:p>
            <a:pPr algn="just"/>
            <a:r>
              <a:rPr lang="en-US" sz="2300" b="0" i="0" dirty="0">
                <a:solidFill>
                  <a:srgbClr val="222222"/>
                </a:solidFill>
                <a:effectLst/>
                <a:latin typeface="Arial" panose="020B0604020202020204" pitchFamily="34" charset="0"/>
              </a:rPr>
              <a:t>If the initiation- and termination-set are specified, the internal policy of the option can be learned by using any RL method. </a:t>
            </a:r>
            <a:r>
              <a:rPr lang="en-US" sz="2300" b="0" i="0" dirty="0">
                <a:solidFill>
                  <a:srgbClr val="222222"/>
                </a:solidFill>
                <a:effectLst/>
                <a:highlight>
                  <a:srgbClr val="FFFF00"/>
                </a:highlight>
                <a:latin typeface="Arial" panose="020B0604020202020204" pitchFamily="34" charset="0"/>
              </a:rPr>
              <a:t>The intra-option policy can be seen as a control policy over a region of the state-space</a:t>
            </a:r>
            <a:r>
              <a:rPr lang="en-US" sz="2300" b="0" i="0" dirty="0">
                <a:solidFill>
                  <a:srgbClr val="222222"/>
                </a:solidFill>
                <a:effectLst/>
                <a:latin typeface="Arial" panose="020B0604020202020204" pitchFamily="34" charset="0"/>
              </a:rPr>
              <a:t>.</a:t>
            </a:r>
          </a:p>
          <a:p>
            <a:pPr algn="just"/>
            <a:r>
              <a:rPr lang="en-US" sz="2300" b="0" i="0" dirty="0">
                <a:solidFill>
                  <a:srgbClr val="222222"/>
                </a:solidFill>
                <a:effectLst/>
                <a:highlight>
                  <a:srgbClr val="FFFF00"/>
                </a:highlight>
                <a:latin typeface="Arial" panose="020B0604020202020204" pitchFamily="34" charset="0"/>
              </a:rPr>
              <a:t>The extrinsic reward signal is often not suitable in this case</a:t>
            </a:r>
            <a:r>
              <a:rPr lang="en-US" sz="2300" b="0" i="0" dirty="0">
                <a:solidFill>
                  <a:srgbClr val="222222"/>
                </a:solidFill>
                <a:effectLst/>
                <a:latin typeface="Arial" panose="020B0604020202020204" pitchFamily="34" charset="0"/>
              </a:rPr>
              <a:t>, because the overall goal does not necessarily align with the termination condition of the option. </a:t>
            </a:r>
            <a:r>
              <a:rPr lang="en-US" sz="2300" b="0" i="0" dirty="0">
                <a:solidFill>
                  <a:srgbClr val="222222"/>
                </a:solidFill>
                <a:effectLst/>
                <a:highlight>
                  <a:srgbClr val="FFFF00"/>
                </a:highlight>
                <a:latin typeface="Arial" panose="020B0604020202020204" pitchFamily="34" charset="0"/>
              </a:rPr>
              <a:t>Alternatively the intra-option policy could solely be rewarded when triggering its termination condition. However, various denser intrinsic rewards signals could also be used</a:t>
            </a:r>
            <a:r>
              <a:rPr lang="en-US" sz="2300" b="0" i="0" dirty="0">
                <a:solidFill>
                  <a:srgbClr val="222222"/>
                </a:solidFill>
                <a:effectLst/>
                <a:latin typeface="Arial" panose="020B0604020202020204" pitchFamily="34" charset="0"/>
              </a:rPr>
              <a:t>. For example, if the termination condition is based upon a special characteristic of the environment, this property might serve as an intrinsic reward signal.</a:t>
            </a:r>
          </a:p>
          <a:p>
            <a:pPr algn="just"/>
            <a:r>
              <a:rPr lang="en-US" sz="2300" b="0" i="0" dirty="0">
                <a:solidFill>
                  <a:srgbClr val="222222"/>
                </a:solidFill>
                <a:effectLst/>
                <a:latin typeface="Arial" panose="020B0604020202020204" pitchFamily="34" charset="0"/>
              </a:rPr>
              <a:t>Intra-option policy learning can both happen on-policy and off-policy.</a:t>
            </a:r>
            <a:endParaRPr lang="en-IN" sz="2300" dirty="0"/>
          </a:p>
        </p:txBody>
      </p:sp>
    </p:spTree>
    <p:extLst>
      <p:ext uri="{BB962C8B-B14F-4D97-AF65-F5344CB8AC3E}">
        <p14:creationId xmlns:p14="http://schemas.microsoft.com/office/powerpoint/2010/main" val="3107014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758E-22CE-822B-FC75-507A74242CBA}"/>
              </a:ext>
            </a:extLst>
          </p:cNvPr>
          <p:cNvSpPr>
            <a:spLocks noGrp="1"/>
          </p:cNvSpPr>
          <p:nvPr>
            <p:ph type="title"/>
          </p:nvPr>
        </p:nvSpPr>
        <p:spPr/>
        <p:txBody>
          <a:bodyPr/>
          <a:lstStyle/>
          <a:p>
            <a:r>
              <a:rPr lang="en-IN" dirty="0"/>
              <a:t>Options - Policy-over-Options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55F8305C-B3F2-DB78-1A98-AF3EC2AFED5B}"/>
              </a:ext>
            </a:extLst>
          </p:cNvPr>
          <p:cNvSpPr>
            <a:spLocks noGrp="1"/>
          </p:cNvSpPr>
          <p:nvPr>
            <p:ph idx="1"/>
          </p:nvPr>
        </p:nvSpPr>
        <p:spPr>
          <a:xfrm>
            <a:off x="1371600" y="1676400"/>
            <a:ext cx="10302240" cy="5008880"/>
          </a:xfrm>
        </p:spPr>
        <p:txBody>
          <a:bodyPr vert="horz" lIns="91440" tIns="45720" rIns="91440" bIns="45720" rtlCol="0" anchor="t">
            <a:noAutofit/>
          </a:bodyPr>
          <a:lstStyle/>
          <a:p>
            <a:pPr marL="383540" indent="-383540" algn="just"/>
            <a:r>
              <a:rPr lang="en-US" sz="2300" b="0" i="0" dirty="0">
                <a:solidFill>
                  <a:srgbClr val="222222"/>
                </a:solidFill>
                <a:effectLst/>
                <a:latin typeface="Arial" panose="020B0604020202020204" pitchFamily="34" charset="0"/>
              </a:rPr>
              <a:t>A policy-over-options 𝜋(𝜔|𝑠𝑡)  selects an option 𝜔∈Ω  given a state 𝑠𝑡. This </a:t>
            </a:r>
            <a:r>
              <a:rPr lang="en-US" sz="2300" b="0" i="0" dirty="0">
                <a:solidFill>
                  <a:srgbClr val="222222"/>
                </a:solidFill>
                <a:effectLst/>
                <a:highlight>
                  <a:srgbClr val="FFFF00"/>
                </a:highlight>
                <a:latin typeface="Arial" panose="020B0604020202020204" pitchFamily="34" charset="0"/>
              </a:rPr>
              <a:t>additional policy can be useful to select the best option, when the current state belongs to multiple option initiation sets</a:t>
            </a:r>
            <a:r>
              <a:rPr lang="en-US" sz="2300" b="0" i="0" dirty="0">
                <a:solidFill>
                  <a:srgbClr val="222222"/>
                </a:solidFill>
                <a:effectLst/>
                <a:latin typeface="Arial" panose="020B0604020202020204" pitchFamily="34" charset="0"/>
              </a:rPr>
              <a:t>. It can also be used as an alternative to defining an initiation set for each option.</a:t>
            </a:r>
            <a:endParaRPr lang="en-US"/>
          </a:p>
          <a:p>
            <a:pPr algn="just"/>
            <a:endParaRPr lang="en-US" sz="2300" b="0" i="0" dirty="0">
              <a:solidFill>
                <a:srgbClr val="222222"/>
              </a:solidFill>
              <a:effectLst/>
              <a:latin typeface="Arial" panose="020B0604020202020204" pitchFamily="34" charset="0"/>
            </a:endParaRPr>
          </a:p>
          <a:p>
            <a:pPr algn="just"/>
            <a:r>
              <a:rPr lang="en-US" sz="2300" b="0" i="0" dirty="0">
                <a:solidFill>
                  <a:srgbClr val="222222"/>
                </a:solidFill>
                <a:effectLst/>
                <a:latin typeface="Arial" panose="020B0604020202020204" pitchFamily="34" charset="0"/>
              </a:rPr>
              <a:t>The most often used execution model is the </a:t>
            </a:r>
            <a:r>
              <a:rPr lang="en-US" sz="2300" b="0" i="0" dirty="0">
                <a:solidFill>
                  <a:srgbClr val="222222"/>
                </a:solidFill>
                <a:effectLst/>
                <a:highlight>
                  <a:srgbClr val="FFFF00"/>
                </a:highlight>
                <a:latin typeface="Arial" panose="020B0604020202020204" pitchFamily="34" charset="0"/>
              </a:rPr>
              <a:t>call-and-return model</a:t>
            </a:r>
            <a:r>
              <a:rPr lang="en-US" sz="2300" b="0" i="0" dirty="0">
                <a:solidFill>
                  <a:srgbClr val="222222"/>
                </a:solidFill>
                <a:effectLst/>
                <a:latin typeface="Arial" panose="020B0604020202020204" pitchFamily="34" charset="0"/>
              </a:rPr>
              <a:t>. This approach is also often called hierarchical-execution. In this model a policy-over-options selects an option according to the current state. </a:t>
            </a:r>
            <a:r>
              <a:rPr lang="en-US" sz="2300" b="0" i="0" dirty="0">
                <a:solidFill>
                  <a:srgbClr val="222222"/>
                </a:solidFill>
                <a:effectLst/>
                <a:highlight>
                  <a:srgbClr val="FFFF00"/>
                </a:highlight>
                <a:latin typeface="Arial" panose="020B0604020202020204" pitchFamily="34" charset="0"/>
              </a:rPr>
              <a:t>The agent follows this option, until the agent triggers the termination condition of the active option. After termination, the agent samples a new option to follow</a:t>
            </a:r>
            <a:r>
              <a:rPr lang="en-US" sz="2300" b="0" i="0" dirty="0">
                <a:solidFill>
                  <a:srgbClr val="222222"/>
                </a:solidFill>
                <a:effectLst/>
                <a:latin typeface="Arial" panose="020B0604020202020204" pitchFamily="34" charset="0"/>
              </a:rPr>
              <a:t>.</a:t>
            </a:r>
          </a:p>
        </p:txBody>
      </p:sp>
    </p:spTree>
    <p:extLst>
      <p:ext uri="{BB962C8B-B14F-4D97-AF65-F5344CB8AC3E}">
        <p14:creationId xmlns:p14="http://schemas.microsoft.com/office/powerpoint/2010/main" val="621275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09EA3-BEAF-D15F-4257-C7DF52CB8C5B}"/>
              </a:ext>
            </a:extLst>
          </p:cNvPr>
          <p:cNvSpPr>
            <a:spLocks noGrp="1"/>
          </p:cNvSpPr>
          <p:nvPr>
            <p:ph type="title"/>
          </p:nvPr>
        </p:nvSpPr>
        <p:spPr/>
        <p:txBody>
          <a:bodyPr/>
          <a:lstStyle/>
          <a:p>
            <a:r>
              <a:rPr lang="en-IN" dirty="0"/>
              <a:t>Options - Policy-over-Options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A61DD986-D3D1-6DE4-7A66-F2B463D8C8D0}"/>
              </a:ext>
            </a:extLst>
          </p:cNvPr>
          <p:cNvSpPr>
            <a:spLocks noGrp="1"/>
          </p:cNvSpPr>
          <p:nvPr>
            <p:ph idx="1"/>
          </p:nvPr>
        </p:nvSpPr>
        <p:spPr>
          <a:xfrm>
            <a:off x="1371600" y="1391920"/>
            <a:ext cx="10170160" cy="5120640"/>
          </a:xfrm>
        </p:spPr>
        <p:txBody>
          <a:bodyPr>
            <a:normAutofit fontScale="92500" lnSpcReduction="20000"/>
          </a:bodyPr>
          <a:lstStyle/>
          <a:p>
            <a:pPr algn="just"/>
            <a:r>
              <a:rPr lang="en-US" sz="2500" dirty="0">
                <a:solidFill>
                  <a:srgbClr val="222222"/>
                </a:solidFill>
                <a:latin typeface="Arial" panose="020B0604020202020204" pitchFamily="34" charset="0"/>
              </a:rPr>
              <a:t>When considering a policy-over-options, we can identify different forms of optimality:</a:t>
            </a:r>
          </a:p>
          <a:p>
            <a:pPr algn="just">
              <a:buFont typeface="Arial" panose="020B0604020202020204" pitchFamily="34" charset="0"/>
              <a:buChar char="•"/>
            </a:pPr>
            <a:r>
              <a:rPr lang="en-US" sz="2500" b="1" dirty="0">
                <a:solidFill>
                  <a:srgbClr val="FF0000"/>
                </a:solidFill>
                <a:highlight>
                  <a:srgbClr val="FFFF00"/>
                </a:highlight>
                <a:latin typeface="Arial" panose="020B0604020202020204" pitchFamily="34" charset="0"/>
              </a:rPr>
              <a:t>Hierarchical-optimal:</a:t>
            </a:r>
            <a:r>
              <a:rPr lang="en-US" sz="2500" dirty="0">
                <a:solidFill>
                  <a:srgbClr val="222222"/>
                </a:solidFill>
                <a:highlight>
                  <a:srgbClr val="FFFF00"/>
                </a:highlight>
                <a:latin typeface="Arial" panose="020B0604020202020204" pitchFamily="34" charset="0"/>
              </a:rPr>
              <a:t> a policy that achieves the maximum highest cumulative reward on the entire task.</a:t>
            </a:r>
          </a:p>
          <a:p>
            <a:pPr algn="just">
              <a:buFont typeface="Arial" panose="020B0604020202020204" pitchFamily="34" charset="0"/>
              <a:buChar char="•"/>
            </a:pPr>
            <a:r>
              <a:rPr lang="en-US" sz="2500" b="1" dirty="0">
                <a:solidFill>
                  <a:srgbClr val="FF0000"/>
                </a:solidFill>
                <a:highlight>
                  <a:srgbClr val="FFFF00"/>
                </a:highlight>
                <a:latin typeface="Arial" panose="020B0604020202020204" pitchFamily="34" charset="0"/>
              </a:rPr>
              <a:t>Recursive-optimal: </a:t>
            </a:r>
            <a:r>
              <a:rPr lang="en-US" sz="2500" dirty="0">
                <a:solidFill>
                  <a:srgbClr val="222222"/>
                </a:solidFill>
                <a:highlight>
                  <a:srgbClr val="FFFF00"/>
                </a:highlight>
                <a:latin typeface="Arial" panose="020B0604020202020204" pitchFamily="34" charset="0"/>
              </a:rPr>
              <a:t>the different sub-behaviors of the agent are optimal individually.</a:t>
            </a:r>
          </a:p>
          <a:p>
            <a:pPr algn="just"/>
            <a:r>
              <a:rPr lang="en-US" sz="2500" dirty="0">
                <a:solidFill>
                  <a:srgbClr val="222222"/>
                </a:solidFill>
                <a:latin typeface="Arial" panose="020B0604020202020204" pitchFamily="34" charset="0"/>
              </a:rPr>
              <a:t>A policy which is recursive-optimal might not be hierarchical-optimal. It is possible that there exists a better hierarchical policy, where the policy of a sub-task, might be locally suboptimal, in order for the overall policy to be optimal. </a:t>
            </a:r>
          </a:p>
          <a:p>
            <a:pPr algn="just"/>
            <a:r>
              <a:rPr lang="en-US" sz="2500" dirty="0">
                <a:solidFill>
                  <a:srgbClr val="222222"/>
                </a:solidFill>
                <a:latin typeface="Arial" panose="020B0604020202020204" pitchFamily="34" charset="0"/>
              </a:rPr>
              <a:t>For example, if a sub-task consists of navigating to the exit of a room, the policy is recursive-optimal when the agent only fixates on this sub-task. However, a hierarchical-optimal solution might also take a slight detour to pick up a key, or charge its battery. These diversions negatively impact the performance of the sub-task, but improve the performance of the overall task.</a:t>
            </a:r>
          </a:p>
          <a:p>
            <a:endParaRPr lang="en-IN" dirty="0"/>
          </a:p>
        </p:txBody>
      </p:sp>
    </p:spTree>
    <p:extLst>
      <p:ext uri="{BB962C8B-B14F-4D97-AF65-F5344CB8AC3E}">
        <p14:creationId xmlns:p14="http://schemas.microsoft.com/office/powerpoint/2010/main" val="3121625364"/>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B60285-8878-404C-83A7-9F790B55A110}">
  <ds:schemaRefs>
    <ds:schemaRef ds:uri="http://schemas.microsoft.com/sharepoint/v3/contenttype/forms"/>
  </ds:schemaRefs>
</ds:datastoreItem>
</file>

<file path=customXml/itemProps2.xml><?xml version="1.0" encoding="utf-8"?>
<ds:datastoreItem xmlns:ds="http://schemas.openxmlformats.org/officeDocument/2006/customXml" ds:itemID="{989BFC9A-99E4-4AB5-980E-755AB112944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33C96F2-20C2-4A56-A6FA-F18E08C4F1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7f7ae6-7a87-4d3a-a44f-b1b75ae19d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Crop</Template>
  <TotalTime>3837</TotalTime>
  <Words>1314</Words>
  <Application>Microsoft Office PowerPoint</Application>
  <PresentationFormat>Widescreen</PresentationFormat>
  <Paragraphs>76</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Crop</vt:lpstr>
      <vt:lpstr>PowerPoint Presentation</vt:lpstr>
      <vt:lpstr>Module No. 6 Hierarchical Reinforcement Learning 8 Hours</vt:lpstr>
      <vt:lpstr>Options</vt:lpstr>
      <vt:lpstr>Options</vt:lpstr>
      <vt:lpstr>Options</vt:lpstr>
      <vt:lpstr>Options</vt:lpstr>
      <vt:lpstr>Options</vt:lpstr>
      <vt:lpstr>Options – Architecture</vt:lpstr>
      <vt:lpstr>Options</vt:lpstr>
      <vt:lpstr>Options - Framework</vt:lpstr>
      <vt:lpstr>Options - Framework</vt:lpstr>
      <vt:lpstr>Options - Framework</vt:lpstr>
      <vt:lpstr>Options - Initiation Set </vt:lpstr>
      <vt:lpstr>Options - Termination Condition </vt:lpstr>
      <vt:lpstr>Options - Intra-Option Policy </vt:lpstr>
      <vt:lpstr>Options - Policy-over-Options </vt:lpstr>
      <vt:lpstr>Options - Policy-over-Options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45</cp:revision>
  <dcterms:created xsi:type="dcterms:W3CDTF">2023-01-04T16:33:49Z</dcterms:created>
  <dcterms:modified xsi:type="dcterms:W3CDTF">2026-04-28T06:37:47Z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